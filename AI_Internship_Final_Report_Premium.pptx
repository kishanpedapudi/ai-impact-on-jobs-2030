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2D3EE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bubble3D val="0"/>
            <c:spPr>
              <a:solidFill>
                <a:srgbClr val="8B5CF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Numeric (8)</c:v>
                </c:pt>
                <c:pt idx="1">
                  <c:v>Categorical (10)</c:v>
                </c:pt>
                <c:pt idx="2">
                  <c:v>ID/Text (2)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8</c:v>
                </c:pt>
                <c:pt idx="1">
                  <c:v>10</c:v>
                </c:pt>
                <c:pt idx="2">
                  <c:v>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E2E8F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Salary ($)</c:v>
                </c:pt>
              </c:strCache>
            </c:strRef>
          </c:tx>
          <c:spPr>
            <a:solidFill>
              <a:srgbClr val="06B6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B6D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2D3E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F8C4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43F5E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P10</c:v>
                  </c:pt>
                  <c:pt idx="1">
                    <c:v>P25</c:v>
                  </c:pt>
                  <c:pt idx="2">
                    <c:v>P50
Median</c:v>
                  </c:pt>
                  <c:pt idx="3">
                    <c:v>P75</c:v>
                  </c:pt>
                  <c:pt idx="4">
                    <c:v>P90</c:v>
                  </c:pt>
                  <c:pt idx="5">
                    <c:v>P95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49306</c:v>
                </c:pt>
                <c:pt idx="1">
                  <c:v>77262</c:v>
                </c:pt>
                <c:pt idx="2">
                  <c:v>127660</c:v>
                </c:pt>
                <c:pt idx="3">
                  <c:v>174811</c:v>
                </c:pt>
                <c:pt idx="4">
                  <c:v>202639</c:v>
                </c:pt>
                <c:pt idx="5">
                  <c:v>211786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Risk</c:v>
                </c:pt>
              </c:strCache>
            </c:strRef>
          </c:tx>
          <c:spPr>
            <a:solidFill>
              <a:srgbClr val="8B5CF6"/>
            </a:solidFill>
            <a:ln w="31750" cap="flat">
              <a:solidFill>
                <a:srgbClr val="8B5CF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8B5CF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B5CF6"/>
              </a:solidFill>
              <a:ln w="9525" cap="flat">
                <a:solidFill>
                  <a:srgbClr val="8B5CF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0–5 yrs</c:v>
                  </c:pt>
                  <c:pt idx="1">
                    <c:v>5–10 yrs</c:v>
                  </c:pt>
                  <c:pt idx="2">
                    <c:v>10–15 yrs</c:v>
                  </c:pt>
                  <c:pt idx="3">
                    <c:v>15–20 yrs</c:v>
                  </c:pt>
                  <c:pt idx="4">
                    <c:v>20–25 yrs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0.502</c:v>
                </c:pt>
                <c:pt idx="1">
                  <c:v>0.51</c:v>
                </c:pt>
                <c:pt idx="2">
                  <c:v>0.529</c:v>
                </c:pt>
                <c:pt idx="3">
                  <c:v>0.477</c:v>
                </c:pt>
                <c:pt idx="4">
                  <c:v>0.489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8B5CF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6"/>
          <c:min val="0.45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Skewness</c:v>
                </c:pt>
              </c:strCache>
            </c:strRef>
          </c:tx>
          <c:spPr>
            <a:solidFill>
              <a:srgbClr val="F43F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43F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43F5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43F5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43F5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43F5E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AI Risk</c:v>
                  </c:pt>
                  <c:pt idx="1">
                    <c:v>Salary</c:v>
                  </c:pt>
                  <c:pt idx="2">
                    <c:v>Growth</c:v>
                  </c:pt>
                  <c:pt idx="3">
                    <c:v>Demand</c:v>
                  </c:pt>
                  <c:pt idx="4">
                    <c:v>Perf</c:v>
                  </c:pt>
                  <c:pt idx="5">
                    <c:v>Hours</c:v>
                  </c:pt>
                  <c:pt idx="6">
                    <c:v>Satisf</c:v>
                  </c:pt>
                  <c:pt idx="7">
                    <c:v>Exp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-0.021</c:v>
                </c:pt>
                <c:pt idx="1">
                  <c:v>-0.033</c:v>
                </c:pt>
                <c:pt idx="2">
                  <c:v>0.035</c:v>
                </c:pt>
                <c:pt idx="3">
                  <c:v>-0.034</c:v>
                </c:pt>
                <c:pt idx="4">
                  <c:v>-0.045</c:v>
                </c:pt>
                <c:pt idx="5">
                  <c:v>0.02</c:v>
                </c:pt>
                <c:pt idx="6">
                  <c:v>-0.024</c:v>
                </c:pt>
                <c:pt idx="7">
                  <c:v>0.007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7"/>
          <c:min val="-0.07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Hiring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bubble3D val="0"/>
            <c:spPr>
              <a:solidFill>
                <a:srgbClr val="F43F5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Growing</c:v>
                </c:pt>
                <c:pt idx="1">
                  <c:v>Stable</c:v>
                </c:pt>
                <c:pt idx="2">
                  <c:v>Declining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1010</c:v>
                </c:pt>
                <c:pt idx="1">
                  <c:v>1010</c:v>
                </c:pt>
                <c:pt idx="2">
                  <c:v>980</c:v>
                </c:pt>
              </c:numCache>
            </c:numRef>
          </c:val>
        </c:ser>
        <c:firstSliceAng val="0"/>
        <c:holeSize val="5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E2E8F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Auto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bubble3D val="0"/>
            <c:spPr>
              <a:solidFill>
                <a:srgbClr val="F43F5E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Low 34.6%</c:v>
                </c:pt>
                <c:pt idx="1">
                  <c:v>Medium 33.7%</c:v>
                </c:pt>
                <c:pt idx="2">
                  <c:v>High 31.7%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1037</c:v>
                </c:pt>
                <c:pt idx="1">
                  <c:v>1011</c:v>
                </c:pt>
                <c:pt idx="2">
                  <c:v>952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E2E8F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Growth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Finance</c:v>
                  </c:pt>
                  <c:pt idx="1">
                    <c:v>Govt</c:v>
                  </c:pt>
                  <c:pt idx="2">
                    <c:v>Tech</c:v>
                  </c:pt>
                  <c:pt idx="3">
                    <c:v>Edu</c:v>
                  </c:pt>
                  <c:pt idx="4">
                    <c:v>Media</c:v>
                  </c:pt>
                  <c:pt idx="5">
                    <c:v>Energy</c:v>
                  </c:pt>
                  <c:pt idx="6">
                    <c:v>Retail</c:v>
                  </c:pt>
                  <c:pt idx="7">
                    <c:v>Mfg</c:v>
                  </c:pt>
                  <c:pt idx="8">
                    <c:v>Health</c:v>
                  </c:pt>
                  <c:pt idx="9">
                    <c:v>Trans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18.6</c:v>
                </c:pt>
                <c:pt idx="1">
                  <c:v>18.3</c:v>
                </c:pt>
                <c:pt idx="2">
                  <c:v>18</c:v>
                </c:pt>
                <c:pt idx="3">
                  <c:v>17.9</c:v>
                </c:pt>
                <c:pt idx="4">
                  <c:v>17.6</c:v>
                </c:pt>
                <c:pt idx="5">
                  <c:v>17.1</c:v>
                </c:pt>
                <c:pt idx="6">
                  <c:v>16.5</c:v>
                </c:pt>
                <c:pt idx="7">
                  <c:v>16.4</c:v>
                </c:pt>
                <c:pt idx="8">
                  <c:v>15.9</c:v>
                </c:pt>
                <c:pt idx="9">
                  <c:v>15.9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14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Salary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Finance</c:v>
                  </c:pt>
                  <c:pt idx="1">
                    <c:v>Media</c:v>
                  </c:pt>
                  <c:pt idx="2">
                    <c:v>Trans</c:v>
                  </c:pt>
                  <c:pt idx="3">
                    <c:v>Mfg</c:v>
                  </c:pt>
                  <c:pt idx="4">
                    <c:v>Tech</c:v>
                  </c:pt>
                  <c:pt idx="5">
                    <c:v>Energy</c:v>
                  </c:pt>
                  <c:pt idx="6">
                    <c:v>Health</c:v>
                  </c:pt>
                  <c:pt idx="7">
                    <c:v>Edu</c:v>
                  </c:pt>
                  <c:pt idx="8">
                    <c:v>Retail</c:v>
                  </c:pt>
                  <c:pt idx="9">
                    <c:v>Govt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132017</c:v>
                </c:pt>
                <c:pt idx="1">
                  <c:v>129685</c:v>
                </c:pt>
                <c:pt idx="2">
                  <c:v>129411</c:v>
                </c:pt>
                <c:pt idx="3">
                  <c:v>128614</c:v>
                </c:pt>
                <c:pt idx="4">
                  <c:v>127689</c:v>
                </c:pt>
                <c:pt idx="5">
                  <c:v>127261</c:v>
                </c:pt>
                <c:pt idx="6">
                  <c:v>125682</c:v>
                </c:pt>
                <c:pt idx="7">
                  <c:v>124410</c:v>
                </c:pt>
                <c:pt idx="8">
                  <c:v>121075</c:v>
                </c:pt>
                <c:pt idx="9">
                  <c:v>120626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65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115000"/>
        </c:scaling>
        <c:delete val="0"/>
        <c:axPos val="b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Salary by Education</c:v>
                </c:pt>
              </c:strCache>
            </c:strRef>
          </c:tx>
          <c:spPr>
            <a:solidFill>
              <a:srgbClr val="8B5C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333E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D28D9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High School</c:v>
                  </c:pt>
                  <c:pt idx="1">
                    <c:v>Bachelor</c:v>
                  </c:pt>
                  <c:pt idx="2">
                    <c:v>PhD</c:v>
                  </c:pt>
                  <c:pt idx="3">
                    <c:v>Master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128510</c:v>
                </c:pt>
                <c:pt idx="1">
                  <c:v>128002</c:v>
                </c:pt>
                <c:pt idx="2">
                  <c:v>125193</c:v>
                </c:pt>
                <c:pt idx="3">
                  <c:v>124825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120000"/>
        </c:scaling>
        <c:delete val="0"/>
        <c:axPos val="b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Perf: Upskill vs None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No Upskilling</c:v>
                  </c:pt>
                  <c:pt idx="1">
                    <c:v>Needs Upskilling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3.493</c:v>
                </c:pt>
                <c:pt idx="1">
                  <c:v>3.536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.65"/>
          <c:min val="3.3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Satisfaction by AI Tool</c:v>
                </c:pt>
              </c:strCache>
            </c:strRef>
          </c:tx>
          <c:spPr>
            <a:solidFill>
              <a:srgbClr val="F43F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43F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Low</c:v>
                  </c:pt>
                  <c:pt idx="1">
                    <c:v>Moderate</c:v>
                  </c:pt>
                  <c:pt idx="2">
                    <c:v>High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3.016</c:v>
                </c:pt>
                <c:pt idx="1">
                  <c:v>3.03</c:v>
                </c:pt>
                <c:pt idx="2">
                  <c:v>3.033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.1"/>
          <c:min val="2.95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Remote Work Split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2D3EE"/>
              </a:solidFill>
              <a:effectLst/>
            </c:spPr>
          </c:dPt>
          <c:dPt>
            <c:idx val="1"/>
            <c:bubble3D val="0"/>
            <c:spPr>
              <a:solidFill>
                <a:srgbClr val="10B981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Hybrid</c:v>
                </c:pt>
                <c:pt idx="1">
                  <c:v>Remote</c:v>
                </c:pt>
                <c:pt idx="2">
                  <c:v>On-Site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1011</c:v>
                </c:pt>
                <c:pt idx="1">
                  <c:v>1003</c:v>
                </c:pt>
                <c:pt idx="2">
                  <c:v>986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solidFill>
                <a:srgbClr val="E2E8F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Upskilling Need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bubble3D val="0"/>
            <c:spPr>
              <a:solidFill>
                <a:srgbClr val="F43F5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Not Needed</c:v>
                </c:pt>
                <c:pt idx="1">
                  <c:v>Needs Upskill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1511</c:v>
                </c:pt>
                <c:pt idx="1">
                  <c:v>1489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solidFill>
                <a:srgbClr val="E2E8F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1" Type="http://schemas.openxmlformats.org/officeDocument/2006/relationships/image" Target="../media/image-5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chart" Target="/ppt/charts/chart5.xml"/><Relationship Id="rId8" Type="http://schemas.openxmlformats.org/officeDocument/2006/relationships/chart" Target="/ppt/charts/chart6.xml"/><Relationship Id="rId9" Type="http://schemas.openxmlformats.org/officeDocument/2006/relationships/chart" Target="/ppt/charts/chart7.xml"/><Relationship Id="rId10" Type="http://schemas.openxmlformats.org/officeDocument/2006/relationships/chart" Target="/ppt/charts/chart8.xm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9.xml"/><Relationship Id="rId3" Type="http://schemas.openxmlformats.org/officeDocument/2006/relationships/chart" Target="/ppt/charts/chart10.xml"/><Relationship Id="rId4" Type="http://schemas.openxmlformats.org/officeDocument/2006/relationships/chart" Target="/ppt/charts/chart11.xml"/><Relationship Id="rId5" Type="http://schemas.openxmlformats.org/officeDocument/2006/relationships/chart" Target="/ppt/charts/chart12.xml"/><Relationship Id="rId6" Type="http://schemas.openxmlformats.org/officeDocument/2006/relationships/chart" Target="/ppt/charts/chart13.xml"/><Relationship Id="rId1" Type="http://schemas.openxmlformats.org/officeDocument/2006/relationships/image" Target="../media/image-8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0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20040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" y="320040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08760" y="320040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57400" y="320040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06040" y="320040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54680" y="320040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03320" y="320040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51960" y="320040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320040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1014984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" y="1014984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08760" y="1014984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57400" y="1014984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06040" y="1014984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54680" y="1014984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03320" y="1014984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51960" y="1014984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1014984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1709928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0120" y="1709928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08760" y="1709928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57400" y="1709928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06040" y="1709928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54680" y="1709928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03320" y="1709928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51960" y="1709928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00600" y="1709928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" y="2404872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60120" y="2404872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508760" y="2404872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57400" y="2404872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06040" y="2404872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154680" y="2404872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703320" y="2404872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51960" y="2404872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00600" y="2404872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11480" y="3099816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0120" y="3099816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508760" y="3099816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057400" y="3099816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606040" y="3099816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154680" y="3099816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703320" y="3099816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251960" y="3099816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800600" y="3099816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11480" y="3794760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60120" y="3794760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508760" y="3794760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057400" y="3794760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606040" y="3794760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154680" y="3794760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703320" y="3794760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251960" y="3794760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800600" y="3794760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11480" y="4489704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60120" y="4489704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508760" y="4489704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057400" y="4489704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606040" y="4489704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154680" y="4489704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703320" y="4489704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251960" y="4489704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800600" y="4489704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11480" y="5184648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60120" y="5184648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508760" y="5184648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057400" y="5184648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606040" y="5184648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154680" y="5184648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703320" y="5184648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251960" y="5184648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800600" y="5184648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11480" y="5879592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60120" y="5879592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508760" y="5879592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057400" y="5879592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606040" y="5879592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154680" y="5879592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703320" y="5879592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251960" y="5879592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800600" y="5879592"/>
            <a:ext cx="45720" cy="45720"/>
          </a:xfrm>
          <a:prstGeom prst="ellipse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pic>
        <p:nvPicPr>
          <p:cNvPr id="84" name="Image 0" descr="preencoded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1463040" y="502920"/>
            <a:ext cx="2743200" cy="2743200"/>
          </a:xfrm>
          <a:prstGeom prst="rect">
            <a:avLst/>
          </a:prstGeom>
        </p:spPr>
      </p:pic>
      <p:sp>
        <p:nvSpPr>
          <p:cNvPr id="85" name="Text 82"/>
          <p:cNvSpPr/>
          <p:nvPr/>
        </p:nvSpPr>
        <p:spPr>
          <a:xfrm>
            <a:off x="457200" y="3401568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IMPACT ON</a:t>
            </a:r>
            <a:endParaRPr lang="en-US" sz="3000" dirty="0"/>
          </a:p>
        </p:txBody>
      </p:sp>
      <p:sp>
        <p:nvSpPr>
          <p:cNvPr id="86" name="Text 83"/>
          <p:cNvSpPr/>
          <p:nvPr/>
        </p:nvSpPr>
        <p:spPr>
          <a:xfrm>
            <a:off x="457200" y="3913632"/>
            <a:ext cx="4846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5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2030</a:t>
            </a:r>
            <a:endParaRPr lang="en-US" sz="5200" dirty="0"/>
          </a:p>
        </p:txBody>
      </p:sp>
      <p:sp>
        <p:nvSpPr>
          <p:cNvPr id="87" name="Text 84"/>
          <p:cNvSpPr/>
          <p:nvPr/>
        </p:nvSpPr>
        <p:spPr>
          <a:xfrm>
            <a:off x="457200" y="477316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FINAL REPORT</a:t>
            </a:r>
            <a:endParaRPr lang="en-US" sz="1050" dirty="0"/>
          </a:p>
        </p:txBody>
      </p:sp>
      <p:sp>
        <p:nvSpPr>
          <p:cNvPr id="88" name="Text 85"/>
          <p:cNvSpPr/>
          <p:nvPr/>
        </p:nvSpPr>
        <p:spPr>
          <a:xfrm>
            <a:off x="457200" y="5120640"/>
            <a:ext cx="4846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 ·  Statistical Analysis  ·  Visualizations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Dashboards  ·  Key Insights  ·  Strategic Roadmap</a:t>
            </a:r>
            <a:endParaRPr lang="en-US" sz="950" dirty="0"/>
          </a:p>
        </p:txBody>
      </p:sp>
      <p:sp>
        <p:nvSpPr>
          <p:cNvPr id="89" name="Text 86"/>
          <p:cNvSpPr/>
          <p:nvPr/>
        </p:nvSpPr>
        <p:spPr>
          <a:xfrm>
            <a:off x="457200" y="658368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Submitted: June 2026  ·  Dataset: 3,000 Records  ·  Python · Power BI · Excel</a:t>
            </a:r>
            <a:endParaRPr lang="en-US" sz="750" dirty="0"/>
          </a:p>
        </p:txBody>
      </p:sp>
      <p:sp>
        <p:nvSpPr>
          <p:cNvPr id="90" name="Text 87"/>
          <p:cNvSpPr/>
          <p:nvPr/>
        </p:nvSpPr>
        <p:spPr>
          <a:xfrm>
            <a:off x="59436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900" dirty="0"/>
          </a:p>
        </p:txBody>
      </p:sp>
      <p:sp>
        <p:nvSpPr>
          <p:cNvPr id="91" name="Shape 88"/>
          <p:cNvSpPr/>
          <p:nvPr/>
        </p:nvSpPr>
        <p:spPr>
          <a:xfrm>
            <a:off x="5943600" y="621792"/>
            <a:ext cx="6016752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 w="9525">
            <a:solidFill>
              <a:srgbClr val="F43F5E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sp>
        <p:nvSpPr>
          <p:cNvPr id="92" name="Shape 89"/>
          <p:cNvSpPr/>
          <p:nvPr/>
        </p:nvSpPr>
        <p:spPr>
          <a:xfrm>
            <a:off x="5943600" y="621792"/>
            <a:ext cx="566928" cy="502920"/>
          </a:xfrm>
          <a:prstGeom prst="roundRect">
            <a:avLst>
              <a:gd name="adj" fmla="val 14545"/>
            </a:avLst>
          </a:prstGeom>
          <a:solidFill>
            <a:srgbClr val="F43F5E">
              <a:alpha val="10000"/>
            </a:srgbClr>
          </a:solidFill>
          <a:ln w="9525">
            <a:solidFill>
              <a:srgbClr val="F43F5E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5943600" y="621792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4" name="Text 91"/>
          <p:cNvSpPr/>
          <p:nvPr/>
        </p:nvSpPr>
        <p:spPr>
          <a:xfrm>
            <a:off x="6583680" y="7315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000" dirty="0"/>
          </a:p>
        </p:txBody>
      </p:sp>
      <p:sp>
        <p:nvSpPr>
          <p:cNvPr id="95" name="Shape 92"/>
          <p:cNvSpPr/>
          <p:nvPr/>
        </p:nvSpPr>
        <p:spPr>
          <a:xfrm>
            <a:off x="5943600" y="1234440"/>
            <a:ext cx="6016752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 w="9525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sp>
        <p:nvSpPr>
          <p:cNvPr id="96" name="Shape 93"/>
          <p:cNvSpPr/>
          <p:nvPr/>
        </p:nvSpPr>
        <p:spPr>
          <a:xfrm>
            <a:off x="5943600" y="1234440"/>
            <a:ext cx="566928" cy="502920"/>
          </a:xfrm>
          <a:prstGeom prst="roundRect">
            <a:avLst>
              <a:gd name="adj" fmla="val 14545"/>
            </a:avLst>
          </a:prstGeom>
          <a:solidFill>
            <a:srgbClr val="F59E0B">
              <a:alpha val="10000"/>
            </a:srgbClr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5943600" y="123444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98" name="Text 95"/>
          <p:cNvSpPr/>
          <p:nvPr/>
        </p:nvSpPr>
        <p:spPr>
          <a:xfrm>
            <a:off x="6583680" y="134416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000" dirty="0"/>
          </a:p>
        </p:txBody>
      </p:sp>
      <p:sp>
        <p:nvSpPr>
          <p:cNvPr id="99" name="Shape 96"/>
          <p:cNvSpPr/>
          <p:nvPr/>
        </p:nvSpPr>
        <p:spPr>
          <a:xfrm>
            <a:off x="5943600" y="1847088"/>
            <a:ext cx="6016752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 w="9525">
            <a:solidFill>
              <a:srgbClr val="22D3EE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sp>
        <p:nvSpPr>
          <p:cNvPr id="100" name="Shape 97"/>
          <p:cNvSpPr/>
          <p:nvPr/>
        </p:nvSpPr>
        <p:spPr>
          <a:xfrm>
            <a:off x="5943600" y="1847088"/>
            <a:ext cx="566928" cy="502920"/>
          </a:xfrm>
          <a:prstGeom prst="roundRect">
            <a:avLst>
              <a:gd name="adj" fmla="val 14545"/>
            </a:avLst>
          </a:prstGeom>
          <a:solidFill>
            <a:srgbClr val="22D3EE">
              <a:alpha val="10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101" name="Text 98"/>
          <p:cNvSpPr/>
          <p:nvPr/>
        </p:nvSpPr>
        <p:spPr>
          <a:xfrm>
            <a:off x="5943600" y="1847088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02" name="Text 99"/>
          <p:cNvSpPr/>
          <p:nvPr/>
        </p:nvSpPr>
        <p:spPr>
          <a:xfrm>
            <a:off x="6583680" y="195681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Methods</a:t>
            </a:r>
            <a:endParaRPr lang="en-US" sz="1000" dirty="0"/>
          </a:p>
        </p:txBody>
      </p:sp>
      <p:sp>
        <p:nvSpPr>
          <p:cNvPr id="103" name="Shape 100"/>
          <p:cNvSpPr/>
          <p:nvPr/>
        </p:nvSpPr>
        <p:spPr>
          <a:xfrm>
            <a:off x="5943600" y="2459736"/>
            <a:ext cx="6016752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 w="9525">
            <a:solidFill>
              <a:srgbClr val="8B5CF6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sp>
        <p:nvSpPr>
          <p:cNvPr id="104" name="Shape 101"/>
          <p:cNvSpPr/>
          <p:nvPr/>
        </p:nvSpPr>
        <p:spPr>
          <a:xfrm>
            <a:off x="5943600" y="2459736"/>
            <a:ext cx="566928" cy="502920"/>
          </a:xfrm>
          <a:prstGeom prst="roundRect">
            <a:avLst>
              <a:gd name="adj" fmla="val 14545"/>
            </a:avLst>
          </a:prstGeom>
          <a:solidFill>
            <a:srgbClr val="8B5CF6">
              <a:alpha val="10000"/>
            </a:srgbClr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105" name="Text 102"/>
          <p:cNvSpPr/>
          <p:nvPr/>
        </p:nvSpPr>
        <p:spPr>
          <a:xfrm>
            <a:off x="5943600" y="2459736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06" name="Text 103"/>
          <p:cNvSpPr/>
          <p:nvPr/>
        </p:nvSpPr>
        <p:spPr>
          <a:xfrm>
            <a:off x="6583680" y="256946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Concepts</a:t>
            </a:r>
            <a:endParaRPr lang="en-US" sz="1000" dirty="0"/>
          </a:p>
        </p:txBody>
      </p:sp>
      <p:sp>
        <p:nvSpPr>
          <p:cNvPr id="107" name="Shape 104"/>
          <p:cNvSpPr/>
          <p:nvPr/>
        </p:nvSpPr>
        <p:spPr>
          <a:xfrm>
            <a:off x="5943600" y="3072384"/>
            <a:ext cx="6016752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 w="9525">
            <a:solidFill>
              <a:srgbClr val="06B6D4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sp>
        <p:nvSpPr>
          <p:cNvPr id="108" name="Shape 105"/>
          <p:cNvSpPr/>
          <p:nvPr/>
        </p:nvSpPr>
        <p:spPr>
          <a:xfrm>
            <a:off x="5943600" y="3072384"/>
            <a:ext cx="566928" cy="502920"/>
          </a:xfrm>
          <a:prstGeom prst="roundRect">
            <a:avLst>
              <a:gd name="adj" fmla="val 14545"/>
            </a:avLst>
          </a:prstGeom>
          <a:solidFill>
            <a:srgbClr val="06B6D4">
              <a:alpha val="10000"/>
            </a:srgbClr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5943600" y="3072384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110" name="Text 107"/>
          <p:cNvSpPr/>
          <p:nvPr/>
        </p:nvSpPr>
        <p:spPr>
          <a:xfrm>
            <a:off x="6583680" y="318211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Techniques</a:t>
            </a:r>
            <a:endParaRPr lang="en-US" sz="1000" dirty="0"/>
          </a:p>
        </p:txBody>
      </p:sp>
      <p:sp>
        <p:nvSpPr>
          <p:cNvPr id="111" name="Shape 108"/>
          <p:cNvSpPr/>
          <p:nvPr/>
        </p:nvSpPr>
        <p:spPr>
          <a:xfrm>
            <a:off x="5943600" y="3685032"/>
            <a:ext cx="6016752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 w="9525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sp>
        <p:nvSpPr>
          <p:cNvPr id="112" name="Shape 109"/>
          <p:cNvSpPr/>
          <p:nvPr/>
        </p:nvSpPr>
        <p:spPr>
          <a:xfrm>
            <a:off x="5943600" y="3685032"/>
            <a:ext cx="566928" cy="502920"/>
          </a:xfrm>
          <a:prstGeom prst="roundRect">
            <a:avLst>
              <a:gd name="adj" fmla="val 14545"/>
            </a:avLst>
          </a:prstGeom>
          <a:solidFill>
            <a:srgbClr val="10B981">
              <a:alpha val="10000"/>
            </a:srgbClr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13" name="Text 110"/>
          <p:cNvSpPr/>
          <p:nvPr/>
        </p:nvSpPr>
        <p:spPr>
          <a:xfrm>
            <a:off x="5943600" y="3685032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114" name="Text 111"/>
          <p:cNvSpPr/>
          <p:nvPr/>
        </p:nvSpPr>
        <p:spPr>
          <a:xfrm>
            <a:off x="6583680" y="37947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1 — Executive Overview</a:t>
            </a:r>
            <a:endParaRPr lang="en-US" sz="1000" dirty="0"/>
          </a:p>
        </p:txBody>
      </p:sp>
      <p:sp>
        <p:nvSpPr>
          <p:cNvPr id="115" name="Shape 112"/>
          <p:cNvSpPr/>
          <p:nvPr/>
        </p:nvSpPr>
        <p:spPr>
          <a:xfrm>
            <a:off x="5943600" y="4297680"/>
            <a:ext cx="6016752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 w="9525">
            <a:solidFill>
              <a:srgbClr val="3B82F6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sp>
        <p:nvSpPr>
          <p:cNvPr id="116" name="Shape 113"/>
          <p:cNvSpPr/>
          <p:nvPr/>
        </p:nvSpPr>
        <p:spPr>
          <a:xfrm>
            <a:off x="5943600" y="4297680"/>
            <a:ext cx="566928" cy="502920"/>
          </a:xfrm>
          <a:prstGeom prst="roundRect">
            <a:avLst>
              <a:gd name="adj" fmla="val 14545"/>
            </a:avLst>
          </a:prstGeom>
          <a:solidFill>
            <a:srgbClr val="3B82F6">
              <a:alpha val="10000"/>
            </a:srgbClr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117" name="Text 114"/>
          <p:cNvSpPr/>
          <p:nvPr/>
        </p:nvSpPr>
        <p:spPr>
          <a:xfrm>
            <a:off x="5943600" y="429768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118" name="Text 115"/>
          <p:cNvSpPr/>
          <p:nvPr/>
        </p:nvSpPr>
        <p:spPr>
          <a:xfrm>
            <a:off x="6583680" y="440740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2 — Deep Dive Analytics</a:t>
            </a:r>
            <a:endParaRPr lang="en-US" sz="1000" dirty="0"/>
          </a:p>
        </p:txBody>
      </p:sp>
      <p:sp>
        <p:nvSpPr>
          <p:cNvPr id="119" name="Shape 116"/>
          <p:cNvSpPr/>
          <p:nvPr/>
        </p:nvSpPr>
        <p:spPr>
          <a:xfrm>
            <a:off x="5943600" y="4910328"/>
            <a:ext cx="6016752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 w="9525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sp>
        <p:nvSpPr>
          <p:cNvPr id="120" name="Shape 117"/>
          <p:cNvSpPr/>
          <p:nvPr/>
        </p:nvSpPr>
        <p:spPr>
          <a:xfrm>
            <a:off x="5943600" y="4910328"/>
            <a:ext cx="566928" cy="502920"/>
          </a:xfrm>
          <a:prstGeom prst="roundRect">
            <a:avLst>
              <a:gd name="adj" fmla="val 14545"/>
            </a:avLst>
          </a:prstGeom>
          <a:solidFill>
            <a:srgbClr val="F59E0B">
              <a:alpha val="10000"/>
            </a:srgbClr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21" name="Text 118"/>
          <p:cNvSpPr/>
          <p:nvPr/>
        </p:nvSpPr>
        <p:spPr>
          <a:xfrm>
            <a:off x="5943600" y="4910328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122" name="Text 119"/>
          <p:cNvSpPr/>
          <p:nvPr/>
        </p:nvSpPr>
        <p:spPr>
          <a:xfrm>
            <a:off x="6583680" y="502005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Findings</a:t>
            </a:r>
            <a:endParaRPr lang="en-US" sz="1000" dirty="0"/>
          </a:p>
        </p:txBody>
      </p:sp>
      <p:sp>
        <p:nvSpPr>
          <p:cNvPr id="123" name="Shape 120"/>
          <p:cNvSpPr/>
          <p:nvPr/>
        </p:nvSpPr>
        <p:spPr>
          <a:xfrm>
            <a:off x="5943600" y="5522976"/>
            <a:ext cx="6016752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 w="9525">
            <a:solidFill>
              <a:srgbClr val="F43F5E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sp>
        <p:nvSpPr>
          <p:cNvPr id="124" name="Shape 121"/>
          <p:cNvSpPr/>
          <p:nvPr/>
        </p:nvSpPr>
        <p:spPr>
          <a:xfrm>
            <a:off x="5943600" y="5522976"/>
            <a:ext cx="566928" cy="502920"/>
          </a:xfrm>
          <a:prstGeom prst="roundRect">
            <a:avLst>
              <a:gd name="adj" fmla="val 14545"/>
            </a:avLst>
          </a:prstGeom>
          <a:solidFill>
            <a:srgbClr val="F43F5E">
              <a:alpha val="10000"/>
            </a:srgbClr>
          </a:solidFill>
          <a:ln w="9525">
            <a:solidFill>
              <a:srgbClr val="F43F5E"/>
            </a:solidFill>
            <a:prstDash val="solid"/>
          </a:ln>
        </p:spPr>
      </p:sp>
      <p:sp>
        <p:nvSpPr>
          <p:cNvPr id="125" name="Text 122"/>
          <p:cNvSpPr/>
          <p:nvPr/>
        </p:nvSpPr>
        <p:spPr>
          <a:xfrm>
            <a:off x="5943600" y="5522976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126" name="Text 123"/>
          <p:cNvSpPr/>
          <p:nvPr/>
        </p:nvSpPr>
        <p:spPr>
          <a:xfrm>
            <a:off x="6583680" y="563270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Reskilling Priority Matrix</a:t>
            </a:r>
            <a:endParaRPr lang="en-US" sz="1000" dirty="0"/>
          </a:p>
        </p:txBody>
      </p:sp>
      <p:sp>
        <p:nvSpPr>
          <p:cNvPr id="127" name="Shape 124"/>
          <p:cNvSpPr/>
          <p:nvPr/>
        </p:nvSpPr>
        <p:spPr>
          <a:xfrm>
            <a:off x="5943600" y="6135624"/>
            <a:ext cx="6016752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 w="9525">
            <a:solidFill>
              <a:srgbClr val="22D3EE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sp>
        <p:nvSpPr>
          <p:cNvPr id="128" name="Shape 125"/>
          <p:cNvSpPr/>
          <p:nvPr/>
        </p:nvSpPr>
        <p:spPr>
          <a:xfrm>
            <a:off x="5943600" y="6135624"/>
            <a:ext cx="566928" cy="502920"/>
          </a:xfrm>
          <a:prstGeom prst="roundRect">
            <a:avLst>
              <a:gd name="adj" fmla="val 14545"/>
            </a:avLst>
          </a:prstGeom>
          <a:solidFill>
            <a:srgbClr val="22D3EE">
              <a:alpha val="10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129" name="Text 126"/>
          <p:cNvSpPr/>
          <p:nvPr/>
        </p:nvSpPr>
        <p:spPr>
          <a:xfrm>
            <a:off x="5943600" y="6135624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130" name="Text 127"/>
          <p:cNvSpPr/>
          <p:nvPr/>
        </p:nvSpPr>
        <p:spPr>
          <a:xfrm>
            <a:off x="6583680" y="624535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Roadmap &amp; Conclusion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12161520" cy="0"/>
          </a:xfrm>
          <a:prstGeom prst="line">
            <a:avLst/>
          </a:prstGeom>
          <a:noFill/>
          <a:ln w="19050">
            <a:solidFill>
              <a:srgbClr val="F43F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91440"/>
            <a:ext cx="457200" cy="457200"/>
          </a:xfrm>
          <a:prstGeom prst="ellipse">
            <a:avLst/>
          </a:prstGeom>
          <a:solidFill>
            <a:srgbClr val="F43F5E">
              <a:alpha val="20000"/>
            </a:srgbClr>
          </a:solidFill>
          <a:ln w="12700">
            <a:solidFill>
              <a:srgbClr val="F43F5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459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8096" y="64008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68096" y="393192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· Objectives · Research Questions · Scope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11338560" y="128016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F43F5E">
              <a:alpha val="20000"/>
            </a:srgbClr>
          </a:solidFill>
          <a:ln w="9525">
            <a:solidFill>
              <a:srgbClr val="F43F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338560" y="12801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164592" y="749808"/>
            <a:ext cx="11832336" cy="1078992"/>
          </a:xfrm>
          <a:prstGeom prst="roundRect">
            <a:avLst>
              <a:gd name="adj" fmla="val 10169"/>
            </a:avLst>
          </a:prstGeom>
          <a:solidFill>
            <a:srgbClr val="0F172A"/>
          </a:solidFill>
          <a:ln w="9525">
            <a:solidFill>
              <a:srgbClr val="F43F5E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47472" y="804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CHALLENGE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347472" y="1060704"/>
            <a:ext cx="11612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is automating tasks across all industries, yet organizations lack data-driven evidence to identify WHICH roles face displacement, WHICH regions pay premiums for AI-resilient skills, and HOW to prioritize reskilling before 2030. This internship project bridges that gap using a 3,000-record global workforce dataset.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164592" y="1956816"/>
            <a:ext cx="3840480" cy="4773168"/>
          </a:xfrm>
          <a:prstGeom prst="roundRect">
            <a:avLst>
              <a:gd name="adj" fmla="val 2857"/>
            </a:avLst>
          </a:prstGeom>
          <a:solidFill>
            <a:srgbClr val="111827"/>
          </a:solidFill>
          <a:ln w="9525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2103120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9808" y="21031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BACKGROUND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310896" y="2523744"/>
            <a:ext cx="3529584" cy="0"/>
          </a:xfrm>
          <a:prstGeom prst="line">
            <a:avLst/>
          </a:prstGeom>
          <a:noFill/>
          <a:ln w="7620">
            <a:solidFill>
              <a:srgbClr val="F59E0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84048" y="271576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66928" y="2633472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AI investment surpassed $200B+ in 2024, reshaping every major sector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384048" y="348386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66928" y="340156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WEF estimates 85M jobs displaced and 97M new roles created by 2025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384048" y="425196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66928" y="4169664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54% of employees require significant reskilling within 2 years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384048" y="502005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66928" y="493776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dataset linked role-level risk to salary, country &amp; growth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384048" y="5788152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66928" y="5705856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 fills that gap with 3,000 records across 10 industries &amp; 10 countries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4160520" y="1956816"/>
            <a:ext cx="3840480" cy="4773168"/>
          </a:xfrm>
          <a:prstGeom prst="roundRect">
            <a:avLst>
              <a:gd name="adj" fmla="val 2857"/>
            </a:avLst>
          </a:prstGeom>
          <a:solidFill>
            <a:srgbClr val="111827"/>
          </a:solidFill>
          <a:ln w="9525">
            <a:solidFill>
              <a:srgbClr val="22D3EE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112" y="2103120"/>
            <a:ext cx="347472" cy="347472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4745736" y="21031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4306824" y="2523744"/>
            <a:ext cx="3529584" cy="0"/>
          </a:xfrm>
          <a:prstGeom prst="line">
            <a:avLst/>
          </a:prstGeom>
          <a:noFill/>
          <a:ln w="7620">
            <a:solidFill>
              <a:srgbClr val="22D3EE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4379976" y="2715768"/>
            <a:ext cx="109728" cy="10972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4562856" y="2633472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AI replacement risk by job title, industry, and country</a:t>
            </a:r>
            <a:endParaRPr lang="en-US" sz="850" dirty="0"/>
          </a:p>
        </p:txBody>
      </p:sp>
      <p:sp>
        <p:nvSpPr>
          <p:cNvPr id="33" name="Shape 28"/>
          <p:cNvSpPr/>
          <p:nvPr/>
        </p:nvSpPr>
        <p:spPr>
          <a:xfrm>
            <a:off x="4379976" y="3483864"/>
            <a:ext cx="109728" cy="10972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4562856" y="340156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salary dynamics vs automation level and AI tool adoption</a:t>
            </a:r>
            <a:endParaRPr lang="en-US" sz="850" dirty="0"/>
          </a:p>
        </p:txBody>
      </p:sp>
      <p:sp>
        <p:nvSpPr>
          <p:cNvPr id="35" name="Shape 30"/>
          <p:cNvSpPr/>
          <p:nvPr/>
        </p:nvSpPr>
        <p:spPr>
          <a:xfrm>
            <a:off x="4379976" y="4251960"/>
            <a:ext cx="109728" cy="10972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4562856" y="4169664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AI-safe vs AI-threatened roles by 2030</a:t>
            </a:r>
            <a:endParaRPr lang="en-US" sz="850" dirty="0"/>
          </a:p>
        </p:txBody>
      </p:sp>
      <p:sp>
        <p:nvSpPr>
          <p:cNvPr id="37" name="Shape 32"/>
          <p:cNvSpPr/>
          <p:nvPr/>
        </p:nvSpPr>
        <p:spPr>
          <a:xfrm>
            <a:off x="4379976" y="5020056"/>
            <a:ext cx="109728" cy="10972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4562856" y="493776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interactive Power BI dashboards for executive decisions</a:t>
            </a:r>
            <a:endParaRPr lang="en-US" sz="850" dirty="0"/>
          </a:p>
        </p:txBody>
      </p:sp>
      <p:sp>
        <p:nvSpPr>
          <p:cNvPr id="39" name="Shape 34"/>
          <p:cNvSpPr/>
          <p:nvPr/>
        </p:nvSpPr>
        <p:spPr>
          <a:xfrm>
            <a:off x="4379976" y="5788152"/>
            <a:ext cx="109728" cy="10972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4562856" y="5705856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data-backed reskilling recommendations</a:t>
            </a:r>
            <a:endParaRPr lang="en-US" sz="850" dirty="0"/>
          </a:p>
        </p:txBody>
      </p:sp>
      <p:sp>
        <p:nvSpPr>
          <p:cNvPr id="41" name="Shape 36"/>
          <p:cNvSpPr/>
          <p:nvPr/>
        </p:nvSpPr>
        <p:spPr>
          <a:xfrm>
            <a:off x="8156448" y="1956816"/>
            <a:ext cx="3840480" cy="4773168"/>
          </a:xfrm>
          <a:prstGeom prst="roundRect">
            <a:avLst>
              <a:gd name="adj" fmla="val 2857"/>
            </a:avLst>
          </a:prstGeom>
          <a:solidFill>
            <a:srgbClr val="111827"/>
          </a:solidFill>
          <a:ln w="9525">
            <a:solidFill>
              <a:srgbClr val="8B5CF6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2103120"/>
            <a:ext cx="347472" cy="347472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8741664" y="21031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RESEARCH QUESTIONS</a:t>
            </a:r>
            <a:endParaRPr lang="en-US" sz="900" dirty="0"/>
          </a:p>
        </p:txBody>
      </p:sp>
      <p:sp>
        <p:nvSpPr>
          <p:cNvPr id="44" name="Shape 38"/>
          <p:cNvSpPr/>
          <p:nvPr/>
        </p:nvSpPr>
        <p:spPr>
          <a:xfrm>
            <a:off x="8302752" y="2523744"/>
            <a:ext cx="3529584" cy="0"/>
          </a:xfrm>
          <a:prstGeom prst="line">
            <a:avLst/>
          </a:prstGeom>
          <a:noFill/>
          <a:ln w="7620">
            <a:solidFill>
              <a:srgbClr val="8B5CF6"/>
            </a:solidFill>
            <a:prstDash val="solid"/>
          </a:ln>
        </p:spPr>
      </p:sp>
      <p:sp>
        <p:nvSpPr>
          <p:cNvPr id="45" name="Shape 39"/>
          <p:cNvSpPr/>
          <p:nvPr/>
        </p:nvSpPr>
        <p:spPr>
          <a:xfrm>
            <a:off x="8375904" y="2715768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8558784" y="2633472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industries carry the highest AI displacement risk in 2030?</a:t>
            </a:r>
            <a:endParaRPr lang="en-US" sz="850" dirty="0"/>
          </a:p>
        </p:txBody>
      </p:sp>
      <p:sp>
        <p:nvSpPr>
          <p:cNvPr id="47" name="Shape 41"/>
          <p:cNvSpPr/>
          <p:nvPr/>
        </p:nvSpPr>
        <p:spPr>
          <a:xfrm>
            <a:off x="8375904" y="3483864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8558784" y="340156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higher salaries correlate with lower AI replacement vulnerability?</a:t>
            </a:r>
            <a:endParaRPr lang="en-US" sz="850" dirty="0"/>
          </a:p>
        </p:txBody>
      </p:sp>
      <p:sp>
        <p:nvSpPr>
          <p:cNvPr id="49" name="Shape 43"/>
          <p:cNvSpPr/>
          <p:nvPr/>
        </p:nvSpPr>
        <p:spPr>
          <a:xfrm>
            <a:off x="8375904" y="4251960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0" name="Text 44"/>
          <p:cNvSpPr/>
          <p:nvPr/>
        </p:nvSpPr>
        <p:spPr>
          <a:xfrm>
            <a:off x="8558784" y="4169664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roles are most or least resilient to automation?</a:t>
            </a:r>
            <a:endParaRPr lang="en-US" sz="850" dirty="0"/>
          </a:p>
        </p:txBody>
      </p:sp>
      <p:sp>
        <p:nvSpPr>
          <p:cNvPr id="51" name="Shape 45"/>
          <p:cNvSpPr/>
          <p:nvPr/>
        </p:nvSpPr>
        <p:spPr>
          <a:xfrm>
            <a:off x="8375904" y="5020056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2" name="Text 46"/>
          <p:cNvSpPr/>
          <p:nvPr/>
        </p:nvSpPr>
        <p:spPr>
          <a:xfrm>
            <a:off x="8558784" y="493776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education level influence salary in an AI economy?</a:t>
            </a:r>
            <a:endParaRPr lang="en-US" sz="850" dirty="0"/>
          </a:p>
        </p:txBody>
      </p:sp>
      <p:sp>
        <p:nvSpPr>
          <p:cNvPr id="53" name="Shape 47"/>
          <p:cNvSpPr/>
          <p:nvPr/>
        </p:nvSpPr>
        <p:spPr>
          <a:xfrm>
            <a:off x="8375904" y="5788152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4" name="Text 48"/>
          <p:cNvSpPr/>
          <p:nvPr/>
        </p:nvSpPr>
        <p:spPr>
          <a:xfrm>
            <a:off x="8558784" y="5705856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reskilling investments yield the highest ROI?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1216152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91440"/>
            <a:ext cx="457200" cy="457200"/>
          </a:xfrm>
          <a:prstGeom prst="ellipse">
            <a:avLst/>
          </a:prstGeom>
          <a:solidFill>
            <a:srgbClr val="22D3EE">
              <a:alpha val="20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459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8096" y="64008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68096" y="393192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· 20 Features · Variable Types · Coverage · Tools Used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11338560" y="128016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22D3EE">
              <a:alpha val="20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338560" y="12801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164592" y="768096"/>
            <a:ext cx="2231136" cy="877824"/>
          </a:xfrm>
          <a:prstGeom prst="roundRect">
            <a:avLst>
              <a:gd name="adj" fmla="val 10417"/>
            </a:avLst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56032" y="804672"/>
            <a:ext cx="2048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256032" y="1243584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542032" y="768096"/>
            <a:ext cx="2231136" cy="877824"/>
          </a:xfrm>
          <a:prstGeom prst="roundRect">
            <a:avLst>
              <a:gd name="adj" fmla="val 10417"/>
            </a:avLst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633472" y="804672"/>
            <a:ext cx="2048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2633472" y="1243584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Columns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919472" y="768096"/>
            <a:ext cx="2231136" cy="877824"/>
          </a:xfrm>
          <a:prstGeom prst="roundRect">
            <a:avLst>
              <a:gd name="adj" fmla="val 10417"/>
            </a:avLst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010912" y="804672"/>
            <a:ext cx="2048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5010912" y="1243584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296912" y="768096"/>
            <a:ext cx="2231136" cy="877824"/>
          </a:xfrm>
          <a:prstGeom prst="roundRect">
            <a:avLst>
              <a:gd name="adj" fmla="val 10417"/>
            </a:avLst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388352" y="804672"/>
            <a:ext cx="2048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7388352" y="1243584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9674352" y="768096"/>
            <a:ext cx="2231136" cy="877824"/>
          </a:xfrm>
          <a:prstGeom prst="roundRect">
            <a:avLst>
              <a:gd name="adj" fmla="val 10417"/>
            </a:avLst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9765792" y="804672"/>
            <a:ext cx="2048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9765792" y="1243584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164592" y="1792224"/>
            <a:ext cx="6126480" cy="4937760"/>
          </a:xfrm>
          <a:prstGeom prst="roundRect">
            <a:avLst>
              <a:gd name="adj" fmla="val 2222"/>
            </a:avLst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347472" y="1865376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Feature Catalogue — All 20 Variables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292608" y="2157984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Name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2304288" y="21579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3456432" y="2157984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4462272" y="2157984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/ Values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5468112" y="2157984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</a:t>
            </a:r>
            <a:endParaRPr lang="en-US" sz="700" dirty="0"/>
          </a:p>
        </p:txBody>
      </p:sp>
      <p:sp>
        <p:nvSpPr>
          <p:cNvPr id="32" name="Shape 29"/>
          <p:cNvSpPr/>
          <p:nvPr/>
        </p:nvSpPr>
        <p:spPr>
          <a:xfrm>
            <a:off x="237744" y="2359152"/>
            <a:ext cx="5998464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37744" y="2395728"/>
            <a:ext cx="5998464" cy="274320"/>
          </a:xfrm>
          <a:prstGeom prst="roundRect">
            <a:avLst>
              <a:gd name="adj" fmla="val 10000"/>
            </a:avLst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92608" y="2432304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AI_Replacement_Risk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2304288" y="243230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float64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3456432" y="2432304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4462272" y="2432304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0.05–0.95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5468112" y="2432304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292608" y="2724912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Average_Salary_USD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2304288" y="272491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int64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3456432" y="2724912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4462272" y="2724912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$30K–$220K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5468112" y="2724912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700" dirty="0"/>
          </a:p>
        </p:txBody>
      </p:sp>
      <p:sp>
        <p:nvSpPr>
          <p:cNvPr id="44" name="Shape 41"/>
          <p:cNvSpPr/>
          <p:nvPr/>
        </p:nvSpPr>
        <p:spPr>
          <a:xfrm>
            <a:off x="237744" y="2980944"/>
            <a:ext cx="5998464" cy="274320"/>
          </a:xfrm>
          <a:prstGeom prst="roundRect">
            <a:avLst>
              <a:gd name="adj" fmla="val 10000"/>
            </a:avLst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292608" y="3017520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2304288" y="30175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3456432" y="3017520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4462272" y="3017520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sectors</a:t>
            </a:r>
            <a:endParaRPr lang="en-US" sz="700" dirty="0"/>
          </a:p>
        </p:txBody>
      </p:sp>
      <p:sp>
        <p:nvSpPr>
          <p:cNvPr id="49" name="Text 46"/>
          <p:cNvSpPr/>
          <p:nvPr/>
        </p:nvSpPr>
        <p:spPr>
          <a:xfrm>
            <a:off x="5468112" y="3017520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700" dirty="0"/>
          </a:p>
        </p:txBody>
      </p:sp>
      <p:sp>
        <p:nvSpPr>
          <p:cNvPr id="50" name="Text 47"/>
          <p:cNvSpPr/>
          <p:nvPr/>
        </p:nvSpPr>
        <p:spPr>
          <a:xfrm>
            <a:off x="292608" y="3310128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Job_Title</a:t>
            </a:r>
            <a:endParaRPr lang="en-US" sz="750" dirty="0"/>
          </a:p>
        </p:txBody>
      </p:sp>
      <p:sp>
        <p:nvSpPr>
          <p:cNvPr id="51" name="Text 48"/>
          <p:cNvSpPr/>
          <p:nvPr/>
        </p:nvSpPr>
        <p:spPr>
          <a:xfrm>
            <a:off x="2304288" y="331012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3456432" y="3310128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4462272" y="3310128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titles</a:t>
            </a:r>
            <a:endParaRPr lang="en-US" sz="700" dirty="0"/>
          </a:p>
        </p:txBody>
      </p:sp>
      <p:sp>
        <p:nvSpPr>
          <p:cNvPr id="54" name="Text 51"/>
          <p:cNvSpPr/>
          <p:nvPr/>
        </p:nvSpPr>
        <p:spPr>
          <a:xfrm>
            <a:off x="5468112" y="3310128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700" dirty="0"/>
          </a:p>
        </p:txBody>
      </p:sp>
      <p:sp>
        <p:nvSpPr>
          <p:cNvPr id="55" name="Shape 52"/>
          <p:cNvSpPr/>
          <p:nvPr/>
        </p:nvSpPr>
        <p:spPr>
          <a:xfrm>
            <a:off x="237744" y="3566160"/>
            <a:ext cx="5998464" cy="274320"/>
          </a:xfrm>
          <a:prstGeom prst="roundRect">
            <a:avLst>
              <a:gd name="adj" fmla="val 10000"/>
            </a:avLst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292608" y="3602736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Job_Growth_2030</a:t>
            </a:r>
            <a:endParaRPr lang="en-US" sz="750" dirty="0"/>
          </a:p>
        </p:txBody>
      </p:sp>
      <p:sp>
        <p:nvSpPr>
          <p:cNvPr id="57" name="Text 54"/>
          <p:cNvSpPr/>
          <p:nvPr/>
        </p:nvSpPr>
        <p:spPr>
          <a:xfrm>
            <a:off x="2304288" y="360273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int64</a:t>
            </a:r>
            <a:endParaRPr lang="en-US" sz="700" dirty="0"/>
          </a:p>
        </p:txBody>
      </p:sp>
      <p:sp>
        <p:nvSpPr>
          <p:cNvPr id="58" name="Text 55"/>
          <p:cNvSpPr/>
          <p:nvPr/>
        </p:nvSpPr>
        <p:spPr>
          <a:xfrm>
            <a:off x="3456432" y="3602736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</a:t>
            </a:r>
            <a:endParaRPr lang="en-US" sz="700" dirty="0"/>
          </a:p>
        </p:txBody>
      </p:sp>
      <p:sp>
        <p:nvSpPr>
          <p:cNvPr id="59" name="Text 56"/>
          <p:cNvSpPr/>
          <p:nvPr/>
        </p:nvSpPr>
        <p:spPr>
          <a:xfrm>
            <a:off x="4462272" y="3602736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-10% to 45%</a:t>
            </a:r>
            <a:endParaRPr lang="en-US" sz="700" dirty="0"/>
          </a:p>
        </p:txBody>
      </p:sp>
      <p:sp>
        <p:nvSpPr>
          <p:cNvPr id="60" name="Text 57"/>
          <p:cNvSpPr/>
          <p:nvPr/>
        </p:nvSpPr>
        <p:spPr>
          <a:xfrm>
            <a:off x="5468112" y="3602736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★★★★☆</a:t>
            </a:r>
            <a:endParaRPr lang="en-US" sz="700" dirty="0"/>
          </a:p>
        </p:txBody>
      </p:sp>
      <p:sp>
        <p:nvSpPr>
          <p:cNvPr id="61" name="Text 58"/>
          <p:cNvSpPr/>
          <p:nvPr/>
        </p:nvSpPr>
        <p:spPr>
          <a:xfrm>
            <a:off x="292608" y="3895344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Future_Demand_Score</a:t>
            </a:r>
            <a:endParaRPr lang="en-US" sz="750" dirty="0"/>
          </a:p>
        </p:txBody>
      </p:sp>
      <p:sp>
        <p:nvSpPr>
          <p:cNvPr id="62" name="Text 59"/>
          <p:cNvSpPr/>
          <p:nvPr/>
        </p:nvSpPr>
        <p:spPr>
          <a:xfrm>
            <a:off x="2304288" y="389534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float64</a:t>
            </a:r>
            <a:endParaRPr lang="en-US" sz="700" dirty="0"/>
          </a:p>
        </p:txBody>
      </p:sp>
      <p:sp>
        <p:nvSpPr>
          <p:cNvPr id="63" name="Text 60"/>
          <p:cNvSpPr/>
          <p:nvPr/>
        </p:nvSpPr>
        <p:spPr>
          <a:xfrm>
            <a:off x="3456432" y="3895344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700" dirty="0"/>
          </a:p>
        </p:txBody>
      </p:sp>
      <p:sp>
        <p:nvSpPr>
          <p:cNvPr id="64" name="Text 61"/>
          <p:cNvSpPr/>
          <p:nvPr/>
        </p:nvSpPr>
        <p:spPr>
          <a:xfrm>
            <a:off x="4462272" y="3895344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0.20–0.99</a:t>
            </a:r>
            <a:endParaRPr lang="en-US" sz="700" dirty="0"/>
          </a:p>
        </p:txBody>
      </p:sp>
      <p:sp>
        <p:nvSpPr>
          <p:cNvPr id="65" name="Text 62"/>
          <p:cNvSpPr/>
          <p:nvPr/>
        </p:nvSpPr>
        <p:spPr>
          <a:xfrm>
            <a:off x="5468112" y="3895344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★★★★☆</a:t>
            </a:r>
            <a:endParaRPr lang="en-US" sz="700" dirty="0"/>
          </a:p>
        </p:txBody>
      </p:sp>
      <p:sp>
        <p:nvSpPr>
          <p:cNvPr id="66" name="Shape 63"/>
          <p:cNvSpPr/>
          <p:nvPr/>
        </p:nvSpPr>
        <p:spPr>
          <a:xfrm>
            <a:off x="237744" y="4151376"/>
            <a:ext cx="5998464" cy="274320"/>
          </a:xfrm>
          <a:prstGeom prst="roundRect">
            <a:avLst>
              <a:gd name="adj" fmla="val 10000"/>
            </a:avLst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292608" y="4187952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750" dirty="0"/>
          </a:p>
        </p:txBody>
      </p:sp>
      <p:sp>
        <p:nvSpPr>
          <p:cNvPr id="68" name="Text 65"/>
          <p:cNvSpPr/>
          <p:nvPr/>
        </p:nvSpPr>
        <p:spPr>
          <a:xfrm>
            <a:off x="2304288" y="41879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700" dirty="0"/>
          </a:p>
        </p:txBody>
      </p:sp>
      <p:sp>
        <p:nvSpPr>
          <p:cNvPr id="69" name="Text 66"/>
          <p:cNvSpPr/>
          <p:nvPr/>
        </p:nvSpPr>
        <p:spPr>
          <a:xfrm>
            <a:off x="3456432" y="4187952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</a:t>
            </a:r>
            <a:endParaRPr lang="en-US" sz="700" dirty="0"/>
          </a:p>
        </p:txBody>
      </p:sp>
      <p:sp>
        <p:nvSpPr>
          <p:cNvPr id="70" name="Text 67"/>
          <p:cNvSpPr/>
          <p:nvPr/>
        </p:nvSpPr>
        <p:spPr>
          <a:xfrm>
            <a:off x="4462272" y="4187952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nations</a:t>
            </a:r>
            <a:endParaRPr lang="en-US" sz="700" dirty="0"/>
          </a:p>
        </p:txBody>
      </p:sp>
      <p:sp>
        <p:nvSpPr>
          <p:cNvPr id="71" name="Text 68"/>
          <p:cNvSpPr/>
          <p:nvPr/>
        </p:nvSpPr>
        <p:spPr>
          <a:xfrm>
            <a:off x="5468112" y="4187952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★★★★☆</a:t>
            </a:r>
            <a:endParaRPr lang="en-US" sz="700" dirty="0"/>
          </a:p>
        </p:txBody>
      </p:sp>
      <p:sp>
        <p:nvSpPr>
          <p:cNvPr id="72" name="Text 69"/>
          <p:cNvSpPr/>
          <p:nvPr/>
        </p:nvSpPr>
        <p:spPr>
          <a:xfrm>
            <a:off x="292608" y="4480560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Automation_Level</a:t>
            </a:r>
            <a:endParaRPr lang="en-US" sz="750" dirty="0"/>
          </a:p>
        </p:txBody>
      </p:sp>
      <p:sp>
        <p:nvSpPr>
          <p:cNvPr id="73" name="Text 70"/>
          <p:cNvSpPr/>
          <p:nvPr/>
        </p:nvSpPr>
        <p:spPr>
          <a:xfrm>
            <a:off x="2304288" y="44805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700" dirty="0"/>
          </a:p>
        </p:txBody>
      </p:sp>
      <p:sp>
        <p:nvSpPr>
          <p:cNvPr id="74" name="Text 71"/>
          <p:cNvSpPr/>
          <p:nvPr/>
        </p:nvSpPr>
        <p:spPr>
          <a:xfrm>
            <a:off x="3456432" y="4480560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</a:t>
            </a:r>
            <a:endParaRPr lang="en-US" sz="700" dirty="0"/>
          </a:p>
        </p:txBody>
      </p:sp>
      <p:sp>
        <p:nvSpPr>
          <p:cNvPr id="75" name="Text 72"/>
          <p:cNvSpPr/>
          <p:nvPr/>
        </p:nvSpPr>
        <p:spPr>
          <a:xfrm>
            <a:off x="4462272" y="4480560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L/M/H</a:t>
            </a:r>
            <a:endParaRPr lang="en-US" sz="700" dirty="0"/>
          </a:p>
        </p:txBody>
      </p:sp>
      <p:sp>
        <p:nvSpPr>
          <p:cNvPr id="76" name="Text 73"/>
          <p:cNvSpPr/>
          <p:nvPr/>
        </p:nvSpPr>
        <p:spPr>
          <a:xfrm>
            <a:off x="5468112" y="4480560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★★★★☆</a:t>
            </a:r>
            <a:endParaRPr lang="en-US" sz="700" dirty="0"/>
          </a:p>
        </p:txBody>
      </p:sp>
      <p:sp>
        <p:nvSpPr>
          <p:cNvPr id="77" name="Shape 74"/>
          <p:cNvSpPr/>
          <p:nvPr/>
        </p:nvSpPr>
        <p:spPr>
          <a:xfrm>
            <a:off x="237744" y="4736592"/>
            <a:ext cx="5998464" cy="274320"/>
          </a:xfrm>
          <a:prstGeom prst="roundRect">
            <a:avLst>
              <a:gd name="adj" fmla="val 10000"/>
            </a:avLst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292608" y="4773168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Years_Experience</a:t>
            </a:r>
            <a:endParaRPr lang="en-US" sz="750" dirty="0"/>
          </a:p>
        </p:txBody>
      </p:sp>
      <p:sp>
        <p:nvSpPr>
          <p:cNvPr id="79" name="Text 76"/>
          <p:cNvSpPr/>
          <p:nvPr/>
        </p:nvSpPr>
        <p:spPr>
          <a:xfrm>
            <a:off x="2304288" y="47731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int64</a:t>
            </a:r>
            <a:endParaRPr lang="en-US" sz="700" dirty="0"/>
          </a:p>
        </p:txBody>
      </p:sp>
      <p:sp>
        <p:nvSpPr>
          <p:cNvPr id="80" name="Text 77"/>
          <p:cNvSpPr/>
          <p:nvPr/>
        </p:nvSpPr>
        <p:spPr>
          <a:xfrm>
            <a:off x="3456432" y="4773168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700" dirty="0"/>
          </a:p>
        </p:txBody>
      </p:sp>
      <p:sp>
        <p:nvSpPr>
          <p:cNvPr id="81" name="Text 78"/>
          <p:cNvSpPr/>
          <p:nvPr/>
        </p:nvSpPr>
        <p:spPr>
          <a:xfrm>
            <a:off x="4462272" y="4773168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0–25 yrs</a:t>
            </a:r>
            <a:endParaRPr lang="en-US" sz="700" dirty="0"/>
          </a:p>
        </p:txBody>
      </p:sp>
      <p:sp>
        <p:nvSpPr>
          <p:cNvPr id="82" name="Text 79"/>
          <p:cNvSpPr/>
          <p:nvPr/>
        </p:nvSpPr>
        <p:spPr>
          <a:xfrm>
            <a:off x="5468112" y="4773168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★★★☆☆</a:t>
            </a:r>
            <a:endParaRPr lang="en-US" sz="700" dirty="0"/>
          </a:p>
        </p:txBody>
      </p:sp>
      <p:sp>
        <p:nvSpPr>
          <p:cNvPr id="83" name="Text 80"/>
          <p:cNvSpPr/>
          <p:nvPr/>
        </p:nvSpPr>
        <p:spPr>
          <a:xfrm>
            <a:off x="292608" y="5065776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Education_Level</a:t>
            </a:r>
            <a:endParaRPr lang="en-US" sz="750" dirty="0"/>
          </a:p>
        </p:txBody>
      </p:sp>
      <p:sp>
        <p:nvSpPr>
          <p:cNvPr id="84" name="Text 81"/>
          <p:cNvSpPr/>
          <p:nvPr/>
        </p:nvSpPr>
        <p:spPr>
          <a:xfrm>
            <a:off x="2304288" y="506577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700" dirty="0"/>
          </a:p>
        </p:txBody>
      </p:sp>
      <p:sp>
        <p:nvSpPr>
          <p:cNvPr id="85" name="Text 82"/>
          <p:cNvSpPr/>
          <p:nvPr/>
        </p:nvSpPr>
        <p:spPr>
          <a:xfrm>
            <a:off x="3456432" y="5065776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</a:t>
            </a:r>
            <a:endParaRPr lang="en-US" sz="700" dirty="0"/>
          </a:p>
        </p:txBody>
      </p:sp>
      <p:sp>
        <p:nvSpPr>
          <p:cNvPr id="86" name="Text 83"/>
          <p:cNvSpPr/>
          <p:nvPr/>
        </p:nvSpPr>
        <p:spPr>
          <a:xfrm>
            <a:off x="4462272" y="5065776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levels</a:t>
            </a:r>
            <a:endParaRPr lang="en-US" sz="700" dirty="0"/>
          </a:p>
        </p:txBody>
      </p:sp>
      <p:sp>
        <p:nvSpPr>
          <p:cNvPr id="87" name="Text 84"/>
          <p:cNvSpPr/>
          <p:nvPr/>
        </p:nvSpPr>
        <p:spPr>
          <a:xfrm>
            <a:off x="5468112" y="5065776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★★★☆☆</a:t>
            </a:r>
            <a:endParaRPr lang="en-US" sz="700" dirty="0"/>
          </a:p>
        </p:txBody>
      </p:sp>
      <p:sp>
        <p:nvSpPr>
          <p:cNvPr id="88" name="Shape 85"/>
          <p:cNvSpPr/>
          <p:nvPr/>
        </p:nvSpPr>
        <p:spPr>
          <a:xfrm>
            <a:off x="237744" y="5321808"/>
            <a:ext cx="5998464" cy="274320"/>
          </a:xfrm>
          <a:prstGeom prst="roundRect">
            <a:avLst>
              <a:gd name="adj" fmla="val 10000"/>
            </a:avLst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292608" y="5358384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Performance_Score</a:t>
            </a:r>
            <a:endParaRPr lang="en-US" sz="750" dirty="0"/>
          </a:p>
        </p:txBody>
      </p:sp>
      <p:sp>
        <p:nvSpPr>
          <p:cNvPr id="90" name="Text 87"/>
          <p:cNvSpPr/>
          <p:nvPr/>
        </p:nvSpPr>
        <p:spPr>
          <a:xfrm>
            <a:off x="2304288" y="53583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float64</a:t>
            </a:r>
            <a:endParaRPr lang="en-US" sz="700" dirty="0"/>
          </a:p>
        </p:txBody>
      </p:sp>
      <p:sp>
        <p:nvSpPr>
          <p:cNvPr id="91" name="Text 88"/>
          <p:cNvSpPr/>
          <p:nvPr/>
        </p:nvSpPr>
        <p:spPr>
          <a:xfrm>
            <a:off x="3456432" y="5358384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700" dirty="0"/>
          </a:p>
        </p:txBody>
      </p:sp>
      <p:sp>
        <p:nvSpPr>
          <p:cNvPr id="92" name="Text 89"/>
          <p:cNvSpPr/>
          <p:nvPr/>
        </p:nvSpPr>
        <p:spPr>
          <a:xfrm>
            <a:off x="4462272" y="5358384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2.0–5.0</a:t>
            </a:r>
            <a:endParaRPr lang="en-US" sz="700" dirty="0"/>
          </a:p>
        </p:txBody>
      </p:sp>
      <p:sp>
        <p:nvSpPr>
          <p:cNvPr id="93" name="Text 90"/>
          <p:cNvSpPr/>
          <p:nvPr/>
        </p:nvSpPr>
        <p:spPr>
          <a:xfrm>
            <a:off x="5468112" y="5358384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★★★☆☆</a:t>
            </a:r>
            <a:endParaRPr lang="en-US" sz="700" dirty="0"/>
          </a:p>
        </p:txBody>
      </p:sp>
      <p:sp>
        <p:nvSpPr>
          <p:cNvPr id="94" name="Text 91"/>
          <p:cNvSpPr/>
          <p:nvPr/>
        </p:nvSpPr>
        <p:spPr>
          <a:xfrm>
            <a:off x="292608" y="5650992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Job_Satisfaction</a:t>
            </a:r>
            <a:endParaRPr lang="en-US" sz="750" dirty="0"/>
          </a:p>
        </p:txBody>
      </p:sp>
      <p:sp>
        <p:nvSpPr>
          <p:cNvPr id="95" name="Text 92"/>
          <p:cNvSpPr/>
          <p:nvPr/>
        </p:nvSpPr>
        <p:spPr>
          <a:xfrm>
            <a:off x="2304288" y="56509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float64</a:t>
            </a:r>
            <a:endParaRPr lang="en-US" sz="700" dirty="0"/>
          </a:p>
        </p:txBody>
      </p:sp>
      <p:sp>
        <p:nvSpPr>
          <p:cNvPr id="96" name="Text 93"/>
          <p:cNvSpPr/>
          <p:nvPr/>
        </p:nvSpPr>
        <p:spPr>
          <a:xfrm>
            <a:off x="3456432" y="5650992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700" dirty="0"/>
          </a:p>
        </p:txBody>
      </p:sp>
      <p:sp>
        <p:nvSpPr>
          <p:cNvPr id="97" name="Text 94"/>
          <p:cNvSpPr/>
          <p:nvPr/>
        </p:nvSpPr>
        <p:spPr>
          <a:xfrm>
            <a:off x="4462272" y="5650992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1.0–5.0</a:t>
            </a:r>
            <a:endParaRPr lang="en-US" sz="700" dirty="0"/>
          </a:p>
        </p:txBody>
      </p:sp>
      <p:sp>
        <p:nvSpPr>
          <p:cNvPr id="98" name="Text 95"/>
          <p:cNvSpPr/>
          <p:nvPr/>
        </p:nvSpPr>
        <p:spPr>
          <a:xfrm>
            <a:off x="5468112" y="5650992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★★★☆☆</a:t>
            </a:r>
            <a:endParaRPr lang="en-US" sz="700" dirty="0"/>
          </a:p>
        </p:txBody>
      </p:sp>
      <p:sp>
        <p:nvSpPr>
          <p:cNvPr id="99" name="Shape 96"/>
          <p:cNvSpPr/>
          <p:nvPr/>
        </p:nvSpPr>
        <p:spPr>
          <a:xfrm>
            <a:off x="237744" y="5907024"/>
            <a:ext cx="5998464" cy="274320"/>
          </a:xfrm>
          <a:prstGeom prst="roundRect">
            <a:avLst>
              <a:gd name="adj" fmla="val 10000"/>
            </a:avLst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100" name="Text 97"/>
          <p:cNvSpPr/>
          <p:nvPr/>
        </p:nvSpPr>
        <p:spPr>
          <a:xfrm>
            <a:off x="292608" y="5943600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AI_Tool_Usage</a:t>
            </a:r>
            <a:endParaRPr lang="en-US" sz="750" dirty="0"/>
          </a:p>
        </p:txBody>
      </p:sp>
      <p:sp>
        <p:nvSpPr>
          <p:cNvPr id="101" name="Text 98"/>
          <p:cNvSpPr/>
          <p:nvPr/>
        </p:nvSpPr>
        <p:spPr>
          <a:xfrm>
            <a:off x="2304288" y="5943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700" dirty="0"/>
          </a:p>
        </p:txBody>
      </p:sp>
      <p:sp>
        <p:nvSpPr>
          <p:cNvPr id="102" name="Text 99"/>
          <p:cNvSpPr/>
          <p:nvPr/>
        </p:nvSpPr>
        <p:spPr>
          <a:xfrm>
            <a:off x="3456432" y="5943600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</a:t>
            </a:r>
            <a:endParaRPr lang="en-US" sz="700" dirty="0"/>
          </a:p>
        </p:txBody>
      </p:sp>
      <p:sp>
        <p:nvSpPr>
          <p:cNvPr id="103" name="Text 100"/>
          <p:cNvSpPr/>
          <p:nvPr/>
        </p:nvSpPr>
        <p:spPr>
          <a:xfrm>
            <a:off x="4462272" y="5943600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L/M/H</a:t>
            </a:r>
            <a:endParaRPr lang="en-US" sz="700" dirty="0"/>
          </a:p>
        </p:txBody>
      </p:sp>
      <p:sp>
        <p:nvSpPr>
          <p:cNvPr id="104" name="Text 101"/>
          <p:cNvSpPr/>
          <p:nvPr/>
        </p:nvSpPr>
        <p:spPr>
          <a:xfrm>
            <a:off x="5468112" y="5943600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★★★☆☆</a:t>
            </a:r>
            <a:endParaRPr lang="en-US" sz="700" dirty="0"/>
          </a:p>
        </p:txBody>
      </p:sp>
      <p:sp>
        <p:nvSpPr>
          <p:cNvPr id="105" name="Text 102"/>
          <p:cNvSpPr/>
          <p:nvPr/>
        </p:nvSpPr>
        <p:spPr>
          <a:xfrm>
            <a:off x="292608" y="6236208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Upskilling_Needed</a:t>
            </a:r>
            <a:endParaRPr lang="en-US" sz="750" dirty="0"/>
          </a:p>
        </p:txBody>
      </p:sp>
      <p:sp>
        <p:nvSpPr>
          <p:cNvPr id="106" name="Text 103"/>
          <p:cNvSpPr/>
          <p:nvPr/>
        </p:nvSpPr>
        <p:spPr>
          <a:xfrm>
            <a:off x="2304288" y="62362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700" dirty="0"/>
          </a:p>
        </p:txBody>
      </p:sp>
      <p:sp>
        <p:nvSpPr>
          <p:cNvPr id="107" name="Text 104"/>
          <p:cNvSpPr/>
          <p:nvPr/>
        </p:nvSpPr>
        <p:spPr>
          <a:xfrm>
            <a:off x="3456432" y="6236208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</a:t>
            </a:r>
            <a:endParaRPr lang="en-US" sz="700" dirty="0"/>
          </a:p>
        </p:txBody>
      </p:sp>
      <p:sp>
        <p:nvSpPr>
          <p:cNvPr id="108" name="Text 105"/>
          <p:cNvSpPr/>
          <p:nvPr/>
        </p:nvSpPr>
        <p:spPr>
          <a:xfrm>
            <a:off x="4462272" y="6236208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Yes/No</a:t>
            </a:r>
            <a:endParaRPr lang="en-US" sz="700" dirty="0"/>
          </a:p>
        </p:txBody>
      </p:sp>
      <p:sp>
        <p:nvSpPr>
          <p:cNvPr id="109" name="Text 106"/>
          <p:cNvSpPr/>
          <p:nvPr/>
        </p:nvSpPr>
        <p:spPr>
          <a:xfrm>
            <a:off x="5468112" y="6236208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★★★☆☆</a:t>
            </a:r>
            <a:endParaRPr lang="en-US" sz="700" dirty="0"/>
          </a:p>
        </p:txBody>
      </p:sp>
      <p:sp>
        <p:nvSpPr>
          <p:cNvPr id="110" name="Shape 107"/>
          <p:cNvSpPr/>
          <p:nvPr/>
        </p:nvSpPr>
        <p:spPr>
          <a:xfrm>
            <a:off x="237744" y="6492240"/>
            <a:ext cx="5998464" cy="274320"/>
          </a:xfrm>
          <a:prstGeom prst="roundRect">
            <a:avLst>
              <a:gd name="adj" fmla="val 10000"/>
            </a:avLst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111" name="Text 108"/>
          <p:cNvSpPr/>
          <p:nvPr/>
        </p:nvSpPr>
        <p:spPr>
          <a:xfrm>
            <a:off x="292608" y="6528816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Hiring_Trend_2026</a:t>
            </a:r>
            <a:endParaRPr lang="en-US" sz="750" dirty="0"/>
          </a:p>
        </p:txBody>
      </p:sp>
      <p:sp>
        <p:nvSpPr>
          <p:cNvPr id="112" name="Text 109"/>
          <p:cNvSpPr/>
          <p:nvPr/>
        </p:nvSpPr>
        <p:spPr>
          <a:xfrm>
            <a:off x="2304288" y="652881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700" dirty="0"/>
          </a:p>
        </p:txBody>
      </p:sp>
      <p:sp>
        <p:nvSpPr>
          <p:cNvPr id="113" name="Text 110"/>
          <p:cNvSpPr/>
          <p:nvPr/>
        </p:nvSpPr>
        <p:spPr>
          <a:xfrm>
            <a:off x="3456432" y="6528816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</a:t>
            </a:r>
            <a:endParaRPr lang="en-US" sz="700" dirty="0"/>
          </a:p>
        </p:txBody>
      </p:sp>
      <p:sp>
        <p:nvSpPr>
          <p:cNvPr id="114" name="Text 111"/>
          <p:cNvSpPr/>
          <p:nvPr/>
        </p:nvSpPr>
        <p:spPr>
          <a:xfrm>
            <a:off x="4462272" y="6528816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G/S/D</a:t>
            </a:r>
            <a:endParaRPr lang="en-US" sz="700" dirty="0"/>
          </a:p>
        </p:txBody>
      </p:sp>
      <p:sp>
        <p:nvSpPr>
          <p:cNvPr id="115" name="Text 112"/>
          <p:cNvSpPr/>
          <p:nvPr/>
        </p:nvSpPr>
        <p:spPr>
          <a:xfrm>
            <a:off x="5468112" y="6528816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★★★☆☆</a:t>
            </a:r>
            <a:endParaRPr lang="en-US" sz="700" dirty="0"/>
          </a:p>
        </p:txBody>
      </p:sp>
      <p:sp>
        <p:nvSpPr>
          <p:cNvPr id="116" name="Text 113"/>
          <p:cNvSpPr/>
          <p:nvPr/>
        </p:nvSpPr>
        <p:spPr>
          <a:xfrm>
            <a:off x="292608" y="6821424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Work_Hours_Per_Week</a:t>
            </a:r>
            <a:endParaRPr lang="en-US" sz="750" dirty="0"/>
          </a:p>
        </p:txBody>
      </p:sp>
      <p:sp>
        <p:nvSpPr>
          <p:cNvPr id="117" name="Text 114"/>
          <p:cNvSpPr/>
          <p:nvPr/>
        </p:nvSpPr>
        <p:spPr>
          <a:xfrm>
            <a:off x="2304288" y="682142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int64</a:t>
            </a:r>
            <a:endParaRPr lang="en-US" sz="700" dirty="0"/>
          </a:p>
        </p:txBody>
      </p:sp>
      <p:sp>
        <p:nvSpPr>
          <p:cNvPr id="118" name="Text 115"/>
          <p:cNvSpPr/>
          <p:nvPr/>
        </p:nvSpPr>
        <p:spPr>
          <a:xfrm>
            <a:off x="3456432" y="6821424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</a:t>
            </a:r>
            <a:endParaRPr lang="en-US" sz="700" dirty="0"/>
          </a:p>
        </p:txBody>
      </p:sp>
      <p:sp>
        <p:nvSpPr>
          <p:cNvPr id="119" name="Text 116"/>
          <p:cNvSpPr/>
          <p:nvPr/>
        </p:nvSpPr>
        <p:spPr>
          <a:xfrm>
            <a:off x="4462272" y="6821424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30–60h</a:t>
            </a:r>
            <a:endParaRPr lang="en-US" sz="700" dirty="0"/>
          </a:p>
        </p:txBody>
      </p:sp>
      <p:sp>
        <p:nvSpPr>
          <p:cNvPr id="120" name="Text 117"/>
          <p:cNvSpPr/>
          <p:nvPr/>
        </p:nvSpPr>
        <p:spPr>
          <a:xfrm>
            <a:off x="5468112" y="6821424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★★☆☆☆</a:t>
            </a:r>
            <a:endParaRPr lang="en-US" sz="700" dirty="0"/>
          </a:p>
        </p:txBody>
      </p:sp>
      <p:sp>
        <p:nvSpPr>
          <p:cNvPr id="121" name="Shape 118"/>
          <p:cNvSpPr/>
          <p:nvPr/>
        </p:nvSpPr>
        <p:spPr>
          <a:xfrm>
            <a:off x="237744" y="7077456"/>
            <a:ext cx="5998464" cy="274320"/>
          </a:xfrm>
          <a:prstGeom prst="roundRect">
            <a:avLst>
              <a:gd name="adj" fmla="val 10000"/>
            </a:avLst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122" name="Text 119"/>
          <p:cNvSpPr/>
          <p:nvPr/>
        </p:nvSpPr>
        <p:spPr>
          <a:xfrm>
            <a:off x="292608" y="7114032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Remote_Work_Possibility</a:t>
            </a:r>
            <a:endParaRPr lang="en-US" sz="750" dirty="0"/>
          </a:p>
        </p:txBody>
      </p:sp>
      <p:sp>
        <p:nvSpPr>
          <p:cNvPr id="123" name="Text 120"/>
          <p:cNvSpPr/>
          <p:nvPr/>
        </p:nvSpPr>
        <p:spPr>
          <a:xfrm>
            <a:off x="2304288" y="71140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700" dirty="0"/>
          </a:p>
        </p:txBody>
      </p:sp>
      <p:sp>
        <p:nvSpPr>
          <p:cNvPr id="124" name="Text 121"/>
          <p:cNvSpPr/>
          <p:nvPr/>
        </p:nvSpPr>
        <p:spPr>
          <a:xfrm>
            <a:off x="3456432" y="7114032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</a:t>
            </a:r>
            <a:endParaRPr lang="en-US" sz="700" dirty="0"/>
          </a:p>
        </p:txBody>
      </p:sp>
      <p:sp>
        <p:nvSpPr>
          <p:cNvPr id="125" name="Text 122"/>
          <p:cNvSpPr/>
          <p:nvPr/>
        </p:nvSpPr>
        <p:spPr>
          <a:xfrm>
            <a:off x="4462272" y="7114032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Y/N/Hybrid</a:t>
            </a:r>
            <a:endParaRPr lang="en-US" sz="700" dirty="0"/>
          </a:p>
        </p:txBody>
      </p:sp>
      <p:sp>
        <p:nvSpPr>
          <p:cNvPr id="126" name="Text 123"/>
          <p:cNvSpPr/>
          <p:nvPr/>
        </p:nvSpPr>
        <p:spPr>
          <a:xfrm>
            <a:off x="5468112" y="7114032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★★☆☆☆</a:t>
            </a:r>
            <a:endParaRPr lang="en-US" sz="700" dirty="0"/>
          </a:p>
        </p:txBody>
      </p:sp>
      <p:sp>
        <p:nvSpPr>
          <p:cNvPr id="127" name="Text 124"/>
          <p:cNvSpPr/>
          <p:nvPr/>
        </p:nvSpPr>
        <p:spPr>
          <a:xfrm>
            <a:off x="292608" y="7406640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Company_Size</a:t>
            </a:r>
            <a:endParaRPr lang="en-US" sz="750" dirty="0"/>
          </a:p>
        </p:txBody>
      </p:sp>
      <p:sp>
        <p:nvSpPr>
          <p:cNvPr id="128" name="Text 125"/>
          <p:cNvSpPr/>
          <p:nvPr/>
        </p:nvSpPr>
        <p:spPr>
          <a:xfrm>
            <a:off x="2304288" y="74066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700" dirty="0"/>
          </a:p>
        </p:txBody>
      </p:sp>
      <p:sp>
        <p:nvSpPr>
          <p:cNvPr id="129" name="Text 126"/>
          <p:cNvSpPr/>
          <p:nvPr/>
        </p:nvSpPr>
        <p:spPr>
          <a:xfrm>
            <a:off x="3456432" y="7406640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</a:t>
            </a:r>
            <a:endParaRPr lang="en-US" sz="700" dirty="0"/>
          </a:p>
        </p:txBody>
      </p:sp>
      <p:sp>
        <p:nvSpPr>
          <p:cNvPr id="130" name="Text 127"/>
          <p:cNvSpPr/>
          <p:nvPr/>
        </p:nvSpPr>
        <p:spPr>
          <a:xfrm>
            <a:off x="4462272" y="7406640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S/M/E</a:t>
            </a:r>
            <a:endParaRPr lang="en-US" sz="700" dirty="0"/>
          </a:p>
        </p:txBody>
      </p:sp>
      <p:sp>
        <p:nvSpPr>
          <p:cNvPr id="131" name="Text 128"/>
          <p:cNvSpPr/>
          <p:nvPr/>
        </p:nvSpPr>
        <p:spPr>
          <a:xfrm>
            <a:off x="5468112" y="7406640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★★☆☆☆</a:t>
            </a:r>
            <a:endParaRPr lang="en-US" sz="700" dirty="0"/>
          </a:p>
        </p:txBody>
      </p:sp>
      <p:sp>
        <p:nvSpPr>
          <p:cNvPr id="132" name="Shape 129"/>
          <p:cNvSpPr/>
          <p:nvPr/>
        </p:nvSpPr>
        <p:spPr>
          <a:xfrm>
            <a:off x="237744" y="7662672"/>
            <a:ext cx="5998464" cy="274320"/>
          </a:xfrm>
          <a:prstGeom prst="roundRect">
            <a:avLst>
              <a:gd name="adj" fmla="val 10000"/>
            </a:avLst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133" name="Text 130"/>
          <p:cNvSpPr/>
          <p:nvPr/>
        </p:nvSpPr>
        <p:spPr>
          <a:xfrm>
            <a:off x="292608" y="7699248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Employee_ID</a:t>
            </a:r>
            <a:endParaRPr lang="en-US" sz="750" dirty="0"/>
          </a:p>
        </p:txBody>
      </p:sp>
      <p:sp>
        <p:nvSpPr>
          <p:cNvPr id="134" name="Text 131"/>
          <p:cNvSpPr/>
          <p:nvPr/>
        </p:nvSpPr>
        <p:spPr>
          <a:xfrm>
            <a:off x="2304288" y="76992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700" dirty="0"/>
          </a:p>
        </p:txBody>
      </p:sp>
      <p:sp>
        <p:nvSpPr>
          <p:cNvPr id="135" name="Text 132"/>
          <p:cNvSpPr/>
          <p:nvPr/>
        </p:nvSpPr>
        <p:spPr>
          <a:xfrm>
            <a:off x="3456432" y="7699248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700" dirty="0"/>
          </a:p>
        </p:txBody>
      </p:sp>
      <p:sp>
        <p:nvSpPr>
          <p:cNvPr id="136" name="Text 133"/>
          <p:cNvSpPr/>
          <p:nvPr/>
        </p:nvSpPr>
        <p:spPr>
          <a:xfrm>
            <a:off x="4462272" y="7699248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key</a:t>
            </a:r>
            <a:endParaRPr lang="en-US" sz="700" dirty="0"/>
          </a:p>
        </p:txBody>
      </p:sp>
      <p:sp>
        <p:nvSpPr>
          <p:cNvPr id="137" name="Text 134"/>
          <p:cNvSpPr/>
          <p:nvPr/>
        </p:nvSpPr>
        <p:spPr>
          <a:xfrm>
            <a:off x="5468112" y="7699248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★☆☆☆☆</a:t>
            </a:r>
            <a:endParaRPr lang="en-US" sz="700" dirty="0"/>
          </a:p>
        </p:txBody>
      </p:sp>
      <p:sp>
        <p:nvSpPr>
          <p:cNvPr id="138" name="Text 135"/>
          <p:cNvSpPr/>
          <p:nvPr/>
        </p:nvSpPr>
        <p:spPr>
          <a:xfrm>
            <a:off x="292608" y="7991856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Required_Skills</a:t>
            </a:r>
            <a:endParaRPr lang="en-US" sz="750" dirty="0"/>
          </a:p>
        </p:txBody>
      </p:sp>
      <p:sp>
        <p:nvSpPr>
          <p:cNvPr id="139" name="Text 136"/>
          <p:cNvSpPr/>
          <p:nvPr/>
        </p:nvSpPr>
        <p:spPr>
          <a:xfrm>
            <a:off x="2304288" y="799185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700" dirty="0"/>
          </a:p>
        </p:txBody>
      </p:sp>
      <p:sp>
        <p:nvSpPr>
          <p:cNvPr id="140" name="Text 137"/>
          <p:cNvSpPr/>
          <p:nvPr/>
        </p:nvSpPr>
        <p:spPr>
          <a:xfrm>
            <a:off x="3456432" y="7991856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700" dirty="0"/>
          </a:p>
        </p:txBody>
      </p:sp>
      <p:sp>
        <p:nvSpPr>
          <p:cNvPr id="141" name="Text 138"/>
          <p:cNvSpPr/>
          <p:nvPr/>
        </p:nvSpPr>
        <p:spPr>
          <a:xfrm>
            <a:off x="4462272" y="7991856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Multi-skill</a:t>
            </a:r>
            <a:endParaRPr lang="en-US" sz="700" dirty="0"/>
          </a:p>
        </p:txBody>
      </p:sp>
      <p:sp>
        <p:nvSpPr>
          <p:cNvPr id="142" name="Text 139"/>
          <p:cNvSpPr/>
          <p:nvPr/>
        </p:nvSpPr>
        <p:spPr>
          <a:xfrm>
            <a:off x="5468112" y="7991856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★★☆☆☆</a:t>
            </a:r>
            <a:endParaRPr lang="en-US" sz="700" dirty="0"/>
          </a:p>
        </p:txBody>
      </p:sp>
      <p:sp>
        <p:nvSpPr>
          <p:cNvPr id="143" name="Shape 140"/>
          <p:cNvSpPr/>
          <p:nvPr/>
        </p:nvSpPr>
        <p:spPr>
          <a:xfrm>
            <a:off x="6473952" y="1792224"/>
            <a:ext cx="5522976" cy="2212848"/>
          </a:xfrm>
          <a:prstGeom prst="roundRect">
            <a:avLst>
              <a:gd name="adj" fmla="val 4959"/>
            </a:avLst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sp>
        <p:nvSpPr>
          <p:cNvPr id="144" name="Text 141"/>
          <p:cNvSpPr/>
          <p:nvPr/>
        </p:nvSpPr>
        <p:spPr>
          <a:xfrm>
            <a:off x="6656832" y="1865376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Type Distribution</a:t>
            </a:r>
            <a:endParaRPr lang="en-US" sz="1000" dirty="0"/>
          </a:p>
        </p:txBody>
      </p:sp>
      <p:graphicFrame>
        <p:nvGraphicFramePr>
          <p:cNvPr id="145" name="Chart 0" descr=""/>
          <p:cNvGraphicFramePr/>
          <p:nvPr/>
        </p:nvGraphicFramePr>
        <p:xfrm>
          <a:off x="6473952" y="2103120"/>
          <a:ext cx="5522976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6" name="Shape 142"/>
          <p:cNvSpPr/>
          <p:nvPr/>
        </p:nvSpPr>
        <p:spPr>
          <a:xfrm>
            <a:off x="6473952" y="4151376"/>
            <a:ext cx="5522976" cy="2578608"/>
          </a:xfrm>
          <a:prstGeom prst="roundRect">
            <a:avLst>
              <a:gd name="adj" fmla="val 4255"/>
            </a:avLst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sp>
        <p:nvSpPr>
          <p:cNvPr id="147" name="Text 143"/>
          <p:cNvSpPr/>
          <p:nvPr/>
        </p:nvSpPr>
        <p:spPr>
          <a:xfrm>
            <a:off x="6656832" y="4224528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 Used</a:t>
            </a:r>
            <a:endParaRPr lang="en-US" sz="1000" dirty="0"/>
          </a:p>
        </p:txBody>
      </p:sp>
      <p:sp>
        <p:nvSpPr>
          <p:cNvPr id="148" name="Text 144"/>
          <p:cNvSpPr/>
          <p:nvPr/>
        </p:nvSpPr>
        <p:spPr>
          <a:xfrm>
            <a:off x="6601968" y="45902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(Pandas, NumPy) — Data cleaning, EDA, statistics</a:t>
            </a:r>
            <a:endParaRPr lang="en-US" sz="800" dirty="0"/>
          </a:p>
        </p:txBody>
      </p:sp>
      <p:sp>
        <p:nvSpPr>
          <p:cNvPr id="149" name="Shape 145"/>
          <p:cNvSpPr/>
          <p:nvPr/>
        </p:nvSpPr>
        <p:spPr>
          <a:xfrm>
            <a:off x="10515600" y="4636008"/>
            <a:ext cx="1280160" cy="182880"/>
          </a:xfrm>
          <a:prstGeom prst="roundRect">
            <a:avLst>
              <a:gd name="adj" fmla="val 20000"/>
            </a:avLst>
          </a:prstGeom>
          <a:solidFill>
            <a:srgbClr val="060E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0" name="Shape 146"/>
          <p:cNvSpPr/>
          <p:nvPr/>
        </p:nvSpPr>
        <p:spPr>
          <a:xfrm>
            <a:off x="10515600" y="4636008"/>
            <a:ext cx="1177747" cy="182880"/>
          </a:xfrm>
          <a:prstGeom prst="roundRect">
            <a:avLst>
              <a:gd name="adj" fmla="val 20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1" name="Text 147"/>
          <p:cNvSpPr/>
          <p:nvPr/>
        </p:nvSpPr>
        <p:spPr>
          <a:xfrm>
            <a:off x="11850624" y="4599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750" dirty="0"/>
          </a:p>
        </p:txBody>
      </p:sp>
      <p:sp>
        <p:nvSpPr>
          <p:cNvPr id="152" name="Text 148"/>
          <p:cNvSpPr/>
          <p:nvPr/>
        </p:nvSpPr>
        <p:spPr>
          <a:xfrm>
            <a:off x="6601968" y="49926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— Interactive dashboards, DAX</a:t>
            </a:r>
            <a:endParaRPr lang="en-US" sz="800" dirty="0"/>
          </a:p>
        </p:txBody>
      </p:sp>
      <p:sp>
        <p:nvSpPr>
          <p:cNvPr id="153" name="Shape 149"/>
          <p:cNvSpPr/>
          <p:nvPr/>
        </p:nvSpPr>
        <p:spPr>
          <a:xfrm>
            <a:off x="10515600" y="5038344"/>
            <a:ext cx="1280160" cy="182880"/>
          </a:xfrm>
          <a:prstGeom prst="roundRect">
            <a:avLst>
              <a:gd name="adj" fmla="val 20000"/>
            </a:avLst>
          </a:prstGeom>
          <a:solidFill>
            <a:srgbClr val="060E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4" name="Shape 150"/>
          <p:cNvSpPr/>
          <p:nvPr/>
        </p:nvSpPr>
        <p:spPr>
          <a:xfrm>
            <a:off x="10515600" y="5038344"/>
            <a:ext cx="1126541" cy="18288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5" name="Text 151"/>
          <p:cNvSpPr/>
          <p:nvPr/>
        </p:nvSpPr>
        <p:spPr>
          <a:xfrm>
            <a:off x="11850624" y="50017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750" dirty="0"/>
          </a:p>
        </p:txBody>
      </p:sp>
      <p:sp>
        <p:nvSpPr>
          <p:cNvPr id="156" name="Text 152"/>
          <p:cNvSpPr/>
          <p:nvPr/>
        </p:nvSpPr>
        <p:spPr>
          <a:xfrm>
            <a:off x="6601968" y="53949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/ Seaborn — Charts, heatmaps, histograms</a:t>
            </a:r>
            <a:endParaRPr lang="en-US" sz="800" dirty="0"/>
          </a:p>
        </p:txBody>
      </p:sp>
      <p:sp>
        <p:nvSpPr>
          <p:cNvPr id="157" name="Shape 153"/>
          <p:cNvSpPr/>
          <p:nvPr/>
        </p:nvSpPr>
        <p:spPr>
          <a:xfrm>
            <a:off x="10515600" y="5440680"/>
            <a:ext cx="1280160" cy="182880"/>
          </a:xfrm>
          <a:prstGeom prst="roundRect">
            <a:avLst>
              <a:gd name="adj" fmla="val 20000"/>
            </a:avLst>
          </a:prstGeom>
          <a:solidFill>
            <a:srgbClr val="060E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8" name="Shape 154"/>
          <p:cNvSpPr/>
          <p:nvPr/>
        </p:nvSpPr>
        <p:spPr>
          <a:xfrm>
            <a:off x="10515600" y="5440680"/>
            <a:ext cx="998525" cy="18288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9" name="Text 155"/>
          <p:cNvSpPr/>
          <p:nvPr/>
        </p:nvSpPr>
        <p:spPr>
          <a:xfrm>
            <a:off x="11850624" y="54041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750" dirty="0"/>
          </a:p>
        </p:txBody>
      </p:sp>
      <p:sp>
        <p:nvSpPr>
          <p:cNvPr id="160" name="Text 156"/>
          <p:cNvSpPr/>
          <p:nvPr/>
        </p:nvSpPr>
        <p:spPr>
          <a:xfrm>
            <a:off x="6601968" y="57972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— Pivot tables, validation</a:t>
            </a:r>
            <a:endParaRPr lang="en-US" sz="800" dirty="0"/>
          </a:p>
        </p:txBody>
      </p:sp>
      <p:sp>
        <p:nvSpPr>
          <p:cNvPr id="161" name="Shape 157"/>
          <p:cNvSpPr/>
          <p:nvPr/>
        </p:nvSpPr>
        <p:spPr>
          <a:xfrm>
            <a:off x="10515600" y="5843016"/>
            <a:ext cx="1280160" cy="182880"/>
          </a:xfrm>
          <a:prstGeom prst="roundRect">
            <a:avLst>
              <a:gd name="adj" fmla="val 20000"/>
            </a:avLst>
          </a:prstGeom>
          <a:solidFill>
            <a:srgbClr val="060E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2" name="Shape 158"/>
          <p:cNvSpPr/>
          <p:nvPr/>
        </p:nvSpPr>
        <p:spPr>
          <a:xfrm>
            <a:off x="10515600" y="5843016"/>
            <a:ext cx="921715" cy="182880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3" name="Text 159"/>
          <p:cNvSpPr/>
          <p:nvPr/>
        </p:nvSpPr>
        <p:spPr>
          <a:xfrm>
            <a:off x="11850624" y="5806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750" dirty="0"/>
          </a:p>
        </p:txBody>
      </p:sp>
      <p:sp>
        <p:nvSpPr>
          <p:cNvPr id="164" name="Text 160"/>
          <p:cNvSpPr/>
          <p:nvPr/>
        </p:nvSpPr>
        <p:spPr>
          <a:xfrm>
            <a:off x="6601968" y="61996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/ Jupyter — Development environment</a:t>
            </a:r>
            <a:endParaRPr lang="en-US" sz="800" dirty="0"/>
          </a:p>
        </p:txBody>
      </p:sp>
      <p:sp>
        <p:nvSpPr>
          <p:cNvPr id="165" name="Shape 161"/>
          <p:cNvSpPr/>
          <p:nvPr/>
        </p:nvSpPr>
        <p:spPr>
          <a:xfrm>
            <a:off x="10515600" y="6245352"/>
            <a:ext cx="1280160" cy="182880"/>
          </a:xfrm>
          <a:prstGeom prst="roundRect">
            <a:avLst>
              <a:gd name="adj" fmla="val 20000"/>
            </a:avLst>
          </a:prstGeom>
          <a:solidFill>
            <a:srgbClr val="060E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6" name="Shape 162"/>
          <p:cNvSpPr/>
          <p:nvPr/>
        </p:nvSpPr>
        <p:spPr>
          <a:xfrm>
            <a:off x="10515600" y="6245352"/>
            <a:ext cx="1088136" cy="182880"/>
          </a:xfrm>
          <a:prstGeom prst="roundRect">
            <a:avLst>
              <a:gd name="adj" fmla="val 2000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67" name="Text 163"/>
          <p:cNvSpPr/>
          <p:nvPr/>
        </p:nvSpPr>
        <p:spPr>
          <a:xfrm>
            <a:off x="11850624" y="62087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1216152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91440"/>
            <a:ext cx="457200" cy="457200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459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8096" y="64008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METHODS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68096" y="393192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6-Step Pipeline · Missing Values · Duplicates · Outliers · Encoding · Validation · Result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11338560" y="128016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10B981">
              <a:alpha val="20000"/>
            </a:srgbClr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338560" y="12801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164592" y="768096"/>
            <a:ext cx="3840480" cy="2798064"/>
          </a:xfrm>
          <a:prstGeom prst="roundRect">
            <a:avLst>
              <a:gd name="adj" fmla="val 3922"/>
            </a:avLst>
          </a:prstGeom>
          <a:solidFill>
            <a:srgbClr val="111827"/>
          </a:solidFill>
          <a:ln w="9525">
            <a:solidFill>
              <a:srgbClr val="22D3EE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92608" y="896112"/>
            <a:ext cx="493776" cy="493776"/>
          </a:xfrm>
          <a:prstGeom prst="roundRect">
            <a:avLst>
              <a:gd name="adj" fmla="val 14815"/>
            </a:avLst>
          </a:prstGeom>
          <a:solidFill>
            <a:srgbClr val="22D3EE">
              <a:alpha val="2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92608" y="8961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568" y="896112"/>
            <a:ext cx="420624" cy="4206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59536" y="896112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292608" y="1463040"/>
            <a:ext cx="3566160" cy="219456"/>
          </a:xfrm>
          <a:prstGeom prst="roundRect">
            <a:avLst>
              <a:gd name="adj" fmla="val 20833"/>
            </a:avLst>
          </a:prstGeom>
          <a:solidFill>
            <a:srgbClr val="22D3EE">
              <a:alpha val="20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65760" y="1463040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0 missing values detected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292608" y="1737360"/>
            <a:ext cx="35661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all 20 columns across 3,000 rows using Python df.isnull().sum(). Zero null values detected in any field. Confirmed complete dataset integrity — no imputation required. Data was pre-validated at source.</a:t>
            </a:r>
            <a:endParaRPr lang="en-US" sz="820" dirty="0"/>
          </a:p>
        </p:txBody>
      </p:sp>
      <p:sp>
        <p:nvSpPr>
          <p:cNvPr id="18" name="Text 14"/>
          <p:cNvSpPr/>
          <p:nvPr/>
        </p:nvSpPr>
        <p:spPr>
          <a:xfrm>
            <a:off x="292608" y="312724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df.isnull().sum() → all zeros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4160520" y="768096"/>
            <a:ext cx="3840480" cy="2798064"/>
          </a:xfrm>
          <a:prstGeom prst="roundRect">
            <a:avLst>
              <a:gd name="adj" fmla="val 3922"/>
            </a:avLst>
          </a:prstGeom>
          <a:solidFill>
            <a:srgbClr val="111827"/>
          </a:solidFill>
          <a:ln w="9525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288536" y="896112"/>
            <a:ext cx="493776" cy="493776"/>
          </a:xfrm>
          <a:prstGeom prst="roundRect">
            <a:avLst>
              <a:gd name="adj" fmla="val 14815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288536" y="8961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7496" y="896112"/>
            <a:ext cx="420624" cy="42062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855464" y="896112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Record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4288536" y="1463040"/>
            <a:ext cx="3566160" cy="219456"/>
          </a:xfrm>
          <a:prstGeom prst="roundRect">
            <a:avLst>
              <a:gd name="adj" fmla="val 20833"/>
            </a:avLst>
          </a:prstGeom>
          <a:solidFill>
            <a:srgbClr val="F59E0B">
              <a:alpha val="20000"/>
            </a:srgbClr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361688" y="1463040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0 duplicates found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4288536" y="1737360"/>
            <a:ext cx="35661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df.duplicated() check across all 3,000 rows. Employee_ID column confirmed as unique primary key (format: AIJ-XXXXXX). No duplicate entries present. Dataset is fully unique at the record level.</a:t>
            </a:r>
            <a:endParaRPr lang="en-US" sz="820" dirty="0"/>
          </a:p>
        </p:txBody>
      </p:sp>
      <p:sp>
        <p:nvSpPr>
          <p:cNvPr id="27" name="Text 22"/>
          <p:cNvSpPr/>
          <p:nvPr/>
        </p:nvSpPr>
        <p:spPr>
          <a:xfrm>
            <a:off x="4288536" y="312724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df.duplicated() → unique keys</a:t>
            </a:r>
            <a:endParaRPr lang="en-US" sz="750" dirty="0"/>
          </a:p>
        </p:txBody>
      </p:sp>
      <p:sp>
        <p:nvSpPr>
          <p:cNvPr id="28" name="Shape 23"/>
          <p:cNvSpPr/>
          <p:nvPr/>
        </p:nvSpPr>
        <p:spPr>
          <a:xfrm>
            <a:off x="8156448" y="768096"/>
            <a:ext cx="3840480" cy="2798064"/>
          </a:xfrm>
          <a:prstGeom prst="roundRect">
            <a:avLst>
              <a:gd name="adj" fmla="val 3922"/>
            </a:avLst>
          </a:prstGeom>
          <a:solidFill>
            <a:srgbClr val="111827"/>
          </a:solidFill>
          <a:ln w="9525">
            <a:solidFill>
              <a:srgbClr val="F43F5E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8284464" y="896112"/>
            <a:ext cx="493776" cy="493776"/>
          </a:xfrm>
          <a:prstGeom prst="roundRect">
            <a:avLst>
              <a:gd name="adj" fmla="val 14815"/>
            </a:avLst>
          </a:prstGeom>
          <a:solidFill>
            <a:srgbClr val="F43F5E">
              <a:alpha val="20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8284464" y="8961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93424" y="896112"/>
            <a:ext cx="420624" cy="42062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8851392" y="896112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Treatment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8284464" y="1463040"/>
            <a:ext cx="3566160" cy="219456"/>
          </a:xfrm>
          <a:prstGeom prst="roundRect">
            <a:avLst>
              <a:gd name="adj" fmla="val 20833"/>
            </a:avLst>
          </a:prstGeom>
          <a:solidFill>
            <a:srgbClr val="F43F5E">
              <a:alpha val="20000"/>
            </a:srgbClr>
          </a:solidFill>
          <a:ln w="9525">
            <a:solidFill>
              <a:srgbClr val="F43F5E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8357616" y="1463040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0 IQR outliers removed</a:t>
            </a:r>
            <a:endParaRPr lang="en-US" sz="800" dirty="0"/>
          </a:p>
        </p:txBody>
      </p:sp>
      <p:sp>
        <p:nvSpPr>
          <p:cNvPr id="35" name="Text 29"/>
          <p:cNvSpPr/>
          <p:nvPr/>
        </p:nvSpPr>
        <p:spPr>
          <a:xfrm>
            <a:off x="8284464" y="1737360"/>
            <a:ext cx="35661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IQR fence method on all numeric columns: Salary ($30K–$220K ✓), AI Risk (0.05–0.95 ✓), Job Growth (−10% to 45% ✓), Performance (2–5 ✓). All values within valid domain ranges. No outlier removal required.</a:t>
            </a:r>
            <a:endParaRPr lang="en-US" sz="820" dirty="0"/>
          </a:p>
        </p:txBody>
      </p:sp>
      <p:sp>
        <p:nvSpPr>
          <p:cNvPr id="36" name="Text 30"/>
          <p:cNvSpPr/>
          <p:nvPr/>
        </p:nvSpPr>
        <p:spPr>
          <a:xfrm>
            <a:off x="8284464" y="312724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method (Q1–1.5×IQR, Q3+1.5×IQR)</a:t>
            </a:r>
            <a:endParaRPr lang="en-US" sz="750" dirty="0"/>
          </a:p>
        </p:txBody>
      </p:sp>
      <p:sp>
        <p:nvSpPr>
          <p:cNvPr id="37" name="Shape 31"/>
          <p:cNvSpPr/>
          <p:nvPr/>
        </p:nvSpPr>
        <p:spPr>
          <a:xfrm>
            <a:off x="164592" y="3749040"/>
            <a:ext cx="3840480" cy="2798064"/>
          </a:xfrm>
          <a:prstGeom prst="roundRect">
            <a:avLst>
              <a:gd name="adj" fmla="val 3922"/>
            </a:avLst>
          </a:prstGeom>
          <a:solidFill>
            <a:srgbClr val="111827"/>
          </a:solidFill>
          <a:ln w="9525">
            <a:solidFill>
              <a:srgbClr val="8B5CF6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292608" y="3877056"/>
            <a:ext cx="493776" cy="493776"/>
          </a:xfrm>
          <a:prstGeom prst="roundRect">
            <a:avLst>
              <a:gd name="adj" fmla="val 14815"/>
            </a:avLst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292608" y="38770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1568" y="3877056"/>
            <a:ext cx="420624" cy="420624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859536" y="3877056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50" dirty="0"/>
          </a:p>
        </p:txBody>
      </p:sp>
      <p:sp>
        <p:nvSpPr>
          <p:cNvPr id="42" name="Shape 35"/>
          <p:cNvSpPr/>
          <p:nvPr/>
        </p:nvSpPr>
        <p:spPr>
          <a:xfrm>
            <a:off x="292608" y="4443984"/>
            <a:ext cx="3566160" cy="219456"/>
          </a:xfrm>
          <a:prstGeom prst="roundRect">
            <a:avLst>
              <a:gd name="adj" fmla="val 20833"/>
            </a:avLst>
          </a:prstGeom>
          <a:solidFill>
            <a:srgbClr val="8B5CF6">
              <a:alpha val="20000"/>
            </a:srgbClr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365760" y="4443984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8 numeric, 12 categorical</a:t>
            </a:r>
            <a:endParaRPr lang="en-US" sz="800" dirty="0"/>
          </a:p>
        </p:txBody>
      </p:sp>
      <p:sp>
        <p:nvSpPr>
          <p:cNvPr id="44" name="Text 37"/>
          <p:cNvSpPr/>
          <p:nvPr/>
        </p:nvSpPr>
        <p:spPr>
          <a:xfrm>
            <a:off x="292608" y="4718304"/>
            <a:ext cx="35661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Confirmed: float64 for Risk, Demand, Performance, Satisfaction; int64 for Salary, Experience, Hours, Growth; object for all categoricals. Data types align perfectly with domain expectations. No casting needed.</a:t>
            </a:r>
            <a:endParaRPr lang="en-US" sz="820" dirty="0"/>
          </a:p>
        </p:txBody>
      </p:sp>
      <p:sp>
        <p:nvSpPr>
          <p:cNvPr id="45" name="Text 38"/>
          <p:cNvSpPr/>
          <p:nvPr/>
        </p:nvSpPr>
        <p:spPr>
          <a:xfrm>
            <a:off x="292608" y="610819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df.dtypes → all verified</a:t>
            </a:r>
            <a:endParaRPr lang="en-US" sz="750" dirty="0"/>
          </a:p>
        </p:txBody>
      </p:sp>
      <p:sp>
        <p:nvSpPr>
          <p:cNvPr id="46" name="Shape 39"/>
          <p:cNvSpPr/>
          <p:nvPr/>
        </p:nvSpPr>
        <p:spPr>
          <a:xfrm>
            <a:off x="4160520" y="3749040"/>
            <a:ext cx="3840480" cy="2798064"/>
          </a:xfrm>
          <a:prstGeom prst="roundRect">
            <a:avLst>
              <a:gd name="adj" fmla="val 3922"/>
            </a:avLst>
          </a:prstGeom>
          <a:solidFill>
            <a:srgbClr val="111827"/>
          </a:solidFill>
          <a:ln w="9525">
            <a:solidFill>
              <a:srgbClr val="06B6D4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sp>
        <p:nvSpPr>
          <p:cNvPr id="47" name="Shape 40"/>
          <p:cNvSpPr/>
          <p:nvPr/>
        </p:nvSpPr>
        <p:spPr>
          <a:xfrm>
            <a:off x="4288536" y="3877056"/>
            <a:ext cx="493776" cy="493776"/>
          </a:xfrm>
          <a:prstGeom prst="roundRect">
            <a:avLst>
              <a:gd name="adj" fmla="val 14815"/>
            </a:avLst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4288536" y="38770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pic>
        <p:nvPicPr>
          <p:cNvPr id="4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7496" y="3877056"/>
            <a:ext cx="420624" cy="420624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4855464" y="3877056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050" dirty="0"/>
          </a:p>
        </p:txBody>
      </p:sp>
      <p:sp>
        <p:nvSpPr>
          <p:cNvPr id="51" name="Shape 43"/>
          <p:cNvSpPr/>
          <p:nvPr/>
        </p:nvSpPr>
        <p:spPr>
          <a:xfrm>
            <a:off x="4288536" y="4443984"/>
            <a:ext cx="3566160" cy="219456"/>
          </a:xfrm>
          <a:prstGeom prst="roundRect">
            <a:avLst>
              <a:gd name="adj" fmla="val 20833"/>
            </a:avLst>
          </a:prstGeom>
          <a:solidFill>
            <a:srgbClr val="06B6D4">
              <a:alpha val="20000"/>
            </a:srgbClr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52" name="Text 44"/>
          <p:cNvSpPr/>
          <p:nvPr/>
        </p:nvSpPr>
        <p:spPr>
          <a:xfrm>
            <a:off x="4361688" y="4443984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5 variables encoded</a:t>
            </a:r>
            <a:endParaRPr lang="en-US" sz="800" dirty="0"/>
          </a:p>
        </p:txBody>
      </p:sp>
      <p:sp>
        <p:nvSpPr>
          <p:cNvPr id="53" name="Text 45"/>
          <p:cNvSpPr/>
          <p:nvPr/>
        </p:nvSpPr>
        <p:spPr>
          <a:xfrm>
            <a:off x="4288536" y="4718304"/>
            <a:ext cx="35661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encoding: Automation_Level (Low=1, Medium=2, High=3), AI_Tool_Usage (Low=1, Moderate=2, High=3), Education_Level (HS=1, Bachelor=2, Master=3, PhD=4). Binary: Upskilling_Needed (Yes=1, No=0).</a:t>
            </a:r>
            <a:endParaRPr lang="en-US" sz="820" dirty="0"/>
          </a:p>
        </p:txBody>
      </p:sp>
      <p:sp>
        <p:nvSpPr>
          <p:cNvPr id="54" name="Text 46"/>
          <p:cNvSpPr/>
          <p:nvPr/>
        </p:nvSpPr>
        <p:spPr>
          <a:xfrm>
            <a:off x="4288536" y="610819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LabelEncoder + OrdinalEncoder</a:t>
            </a:r>
            <a:endParaRPr lang="en-US" sz="750" dirty="0"/>
          </a:p>
        </p:txBody>
      </p:sp>
      <p:sp>
        <p:nvSpPr>
          <p:cNvPr id="55" name="Shape 47"/>
          <p:cNvSpPr/>
          <p:nvPr/>
        </p:nvSpPr>
        <p:spPr>
          <a:xfrm>
            <a:off x="8156448" y="3749040"/>
            <a:ext cx="3840480" cy="2798064"/>
          </a:xfrm>
          <a:prstGeom prst="roundRect">
            <a:avLst>
              <a:gd name="adj" fmla="val 3922"/>
            </a:avLst>
          </a:prstGeom>
          <a:solidFill>
            <a:srgbClr val="111827"/>
          </a:solidFill>
          <a:ln w="9525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sp>
        <p:nvSpPr>
          <p:cNvPr id="56" name="Shape 48"/>
          <p:cNvSpPr/>
          <p:nvPr/>
        </p:nvSpPr>
        <p:spPr>
          <a:xfrm>
            <a:off x="8284464" y="3877056"/>
            <a:ext cx="493776" cy="493776"/>
          </a:xfrm>
          <a:prstGeom prst="roundRect">
            <a:avLst>
              <a:gd name="adj" fmla="val 14815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7" name="Text 49"/>
          <p:cNvSpPr/>
          <p:nvPr/>
        </p:nvSpPr>
        <p:spPr>
          <a:xfrm>
            <a:off x="8284464" y="38770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pic>
        <p:nvPicPr>
          <p:cNvPr id="5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93424" y="3877056"/>
            <a:ext cx="420624" cy="420624"/>
          </a:xfrm>
          <a:prstGeom prst="rect">
            <a:avLst/>
          </a:prstGeom>
        </p:spPr>
      </p:pic>
      <p:sp>
        <p:nvSpPr>
          <p:cNvPr id="59" name="Text 50"/>
          <p:cNvSpPr/>
          <p:nvPr/>
        </p:nvSpPr>
        <p:spPr>
          <a:xfrm>
            <a:off x="8851392" y="3877056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&amp; Feature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50" dirty="0"/>
          </a:p>
        </p:txBody>
      </p:sp>
      <p:sp>
        <p:nvSpPr>
          <p:cNvPr id="60" name="Shape 51"/>
          <p:cNvSpPr/>
          <p:nvPr/>
        </p:nvSpPr>
        <p:spPr>
          <a:xfrm>
            <a:off x="8284464" y="4443984"/>
            <a:ext cx="3566160" cy="219456"/>
          </a:xfrm>
          <a:prstGeom prst="roundRect">
            <a:avLst>
              <a:gd name="adj" fmla="val 20833"/>
            </a:avLst>
          </a:prstGeom>
          <a:solidFill>
            <a:srgbClr val="10B981">
              <a:alpha val="20000"/>
            </a:srgbClr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61" name="Text 52"/>
          <p:cNvSpPr/>
          <p:nvPr/>
        </p:nvSpPr>
        <p:spPr>
          <a:xfrm>
            <a:off x="8357616" y="4443984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20 features validated</a:t>
            </a:r>
            <a:endParaRPr lang="en-US" sz="800" dirty="0"/>
          </a:p>
        </p:txBody>
      </p:sp>
      <p:sp>
        <p:nvSpPr>
          <p:cNvPr id="62" name="Text 53"/>
          <p:cNvSpPr/>
          <p:nvPr/>
        </p:nvSpPr>
        <p:spPr>
          <a:xfrm>
            <a:off x="8284464" y="4718304"/>
            <a:ext cx="35661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valid ranges for all features. Risk scores 0.05–0.95 ✓, Demand 0.20–0.99 ✓, Salary $30K–$220K ✓, Growth −10% to 45% ✓, Hours 30–60h ✓. Dataset fully clean and ready for analysis.</a:t>
            </a:r>
            <a:endParaRPr lang="en-US" sz="820" dirty="0"/>
          </a:p>
        </p:txBody>
      </p:sp>
      <p:sp>
        <p:nvSpPr>
          <p:cNvPr id="63" name="Text 54"/>
          <p:cNvSpPr/>
          <p:nvPr/>
        </p:nvSpPr>
        <p:spPr>
          <a:xfrm>
            <a:off x="8284464" y="610819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df.describe() → all in bounds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12161520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91440"/>
            <a:ext cx="457200" cy="457200"/>
          </a:xfrm>
          <a:prstGeom prst="ellipse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459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8096" y="64008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 &amp; CONCEPTS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68096" y="393192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Stats · Distributions · Correlation Matrix · Skewness · Percentiles · Inferential Findings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11338560" y="128016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8B5CF6">
              <a:alpha val="20000"/>
            </a:srgbClr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338560" y="12801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164592" y="768096"/>
            <a:ext cx="6583680" cy="3255264"/>
          </a:xfrm>
          <a:prstGeom prst="roundRect">
            <a:avLst>
              <a:gd name="adj" fmla="val 3371"/>
            </a:avLst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47472" y="841248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 — 8 Key Numeric Variables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92608" y="1133856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2194560" y="113385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2889504" y="113385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3602736" y="113385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4315968" y="113385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5029200" y="113385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5760720" y="113385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237744" y="1335024"/>
            <a:ext cx="6455664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37744" y="1371600"/>
            <a:ext cx="6455664" cy="292608"/>
          </a:xfrm>
          <a:prstGeom prst="roundRect">
            <a:avLst>
              <a:gd name="adj" fmla="val 12500"/>
            </a:avLst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92608" y="1417320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AI_Replacement_Risk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2194560" y="14173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2889504" y="141732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0.503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3602736" y="141732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0.500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4315968" y="141732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0.950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5029200" y="141732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0.261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5760720" y="141732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-0.02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292608" y="1737360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Average_Salary_USD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2194560" y="17373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$30.2K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2889504" y="173736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$126.6K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3602736" y="173736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$127.7K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4315968" y="173736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$220K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5029200" y="173736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$55.4K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5760720" y="173736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-0.03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237744" y="2011680"/>
            <a:ext cx="6455664" cy="292608"/>
          </a:xfrm>
          <a:prstGeom prst="roundRect">
            <a:avLst>
              <a:gd name="adj" fmla="val 12500"/>
            </a:avLst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92608" y="2057400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Job_Growth_2030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2194560" y="205740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-10%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2889504" y="205740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17.2%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3602736" y="205740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4315968" y="205740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5029200" y="205740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16.2%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5760720" y="205740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+0.03</a:t>
            </a:r>
            <a:endParaRPr lang="en-US" sz="750" dirty="0"/>
          </a:p>
        </p:txBody>
      </p:sp>
      <p:sp>
        <p:nvSpPr>
          <p:cNvPr id="43" name="Text 40"/>
          <p:cNvSpPr/>
          <p:nvPr/>
        </p:nvSpPr>
        <p:spPr>
          <a:xfrm>
            <a:off x="292608" y="2377440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Future_Demand_Score</a:t>
            </a:r>
            <a:endParaRPr lang="en-US" sz="750" dirty="0"/>
          </a:p>
        </p:txBody>
      </p:sp>
      <p:sp>
        <p:nvSpPr>
          <p:cNvPr id="44" name="Text 41"/>
          <p:cNvSpPr/>
          <p:nvPr/>
        </p:nvSpPr>
        <p:spPr>
          <a:xfrm>
            <a:off x="2194560" y="237744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2889504" y="237744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0.601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3602736" y="237744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0.600</a:t>
            </a:r>
            <a:endParaRPr lang="en-US" sz="750" dirty="0"/>
          </a:p>
        </p:txBody>
      </p:sp>
      <p:sp>
        <p:nvSpPr>
          <p:cNvPr id="47" name="Text 44"/>
          <p:cNvSpPr/>
          <p:nvPr/>
        </p:nvSpPr>
        <p:spPr>
          <a:xfrm>
            <a:off x="4315968" y="237744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0.990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5029200" y="237744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0.227</a:t>
            </a:r>
            <a:endParaRPr lang="en-US" sz="750" dirty="0"/>
          </a:p>
        </p:txBody>
      </p:sp>
      <p:sp>
        <p:nvSpPr>
          <p:cNvPr id="49" name="Text 46"/>
          <p:cNvSpPr/>
          <p:nvPr/>
        </p:nvSpPr>
        <p:spPr>
          <a:xfrm>
            <a:off x="5760720" y="237744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-0.03</a:t>
            </a:r>
            <a:endParaRPr lang="en-US" sz="750" dirty="0"/>
          </a:p>
        </p:txBody>
      </p:sp>
      <p:sp>
        <p:nvSpPr>
          <p:cNvPr id="50" name="Shape 47"/>
          <p:cNvSpPr/>
          <p:nvPr/>
        </p:nvSpPr>
        <p:spPr>
          <a:xfrm>
            <a:off x="237744" y="2651760"/>
            <a:ext cx="6455664" cy="292608"/>
          </a:xfrm>
          <a:prstGeom prst="roundRect">
            <a:avLst>
              <a:gd name="adj" fmla="val 12500"/>
            </a:avLst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292608" y="2697480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Performance_Score</a:t>
            </a:r>
            <a:endParaRPr lang="en-US" sz="750" dirty="0"/>
          </a:p>
        </p:txBody>
      </p:sp>
      <p:sp>
        <p:nvSpPr>
          <p:cNvPr id="52" name="Text 49"/>
          <p:cNvSpPr/>
          <p:nvPr/>
        </p:nvSpPr>
        <p:spPr>
          <a:xfrm>
            <a:off x="2194560" y="26974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2.00</a:t>
            </a:r>
            <a:endParaRPr lang="en-US" sz="750" dirty="0"/>
          </a:p>
        </p:txBody>
      </p:sp>
      <p:sp>
        <p:nvSpPr>
          <p:cNvPr id="53" name="Text 50"/>
          <p:cNvSpPr/>
          <p:nvPr/>
        </p:nvSpPr>
        <p:spPr>
          <a:xfrm>
            <a:off x="2889504" y="269748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3.515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3602736" y="269748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3.540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4315968" y="269748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5.000</a:t>
            </a:r>
            <a:endParaRPr lang="en-US" sz="750" dirty="0"/>
          </a:p>
        </p:txBody>
      </p:sp>
      <p:sp>
        <p:nvSpPr>
          <p:cNvPr id="56" name="Text 53"/>
          <p:cNvSpPr/>
          <p:nvPr/>
        </p:nvSpPr>
        <p:spPr>
          <a:xfrm>
            <a:off x="5029200" y="269748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0.873</a:t>
            </a:r>
            <a:endParaRPr lang="en-US" sz="750" dirty="0"/>
          </a:p>
        </p:txBody>
      </p:sp>
      <p:sp>
        <p:nvSpPr>
          <p:cNvPr id="57" name="Text 54"/>
          <p:cNvSpPr/>
          <p:nvPr/>
        </p:nvSpPr>
        <p:spPr>
          <a:xfrm>
            <a:off x="5760720" y="269748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-0.04</a:t>
            </a:r>
            <a:endParaRPr lang="en-US" sz="750" dirty="0"/>
          </a:p>
        </p:txBody>
      </p:sp>
      <p:sp>
        <p:nvSpPr>
          <p:cNvPr id="58" name="Text 55"/>
          <p:cNvSpPr/>
          <p:nvPr/>
        </p:nvSpPr>
        <p:spPr>
          <a:xfrm>
            <a:off x="292608" y="3017520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Job_Satisfaction</a:t>
            </a:r>
            <a:endParaRPr lang="en-US" sz="750" dirty="0"/>
          </a:p>
        </p:txBody>
      </p:sp>
      <p:sp>
        <p:nvSpPr>
          <p:cNvPr id="59" name="Text 56"/>
          <p:cNvSpPr/>
          <p:nvPr/>
        </p:nvSpPr>
        <p:spPr>
          <a:xfrm>
            <a:off x="2194560" y="30175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750" dirty="0"/>
          </a:p>
        </p:txBody>
      </p:sp>
      <p:sp>
        <p:nvSpPr>
          <p:cNvPr id="60" name="Text 57"/>
          <p:cNvSpPr/>
          <p:nvPr/>
        </p:nvSpPr>
        <p:spPr>
          <a:xfrm>
            <a:off x="2889504" y="301752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3.026</a:t>
            </a:r>
            <a:endParaRPr lang="en-US" sz="750" dirty="0"/>
          </a:p>
        </p:txBody>
      </p:sp>
      <p:sp>
        <p:nvSpPr>
          <p:cNvPr id="61" name="Text 58"/>
          <p:cNvSpPr/>
          <p:nvPr/>
        </p:nvSpPr>
        <p:spPr>
          <a:xfrm>
            <a:off x="3602736" y="301752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3.025</a:t>
            </a:r>
            <a:endParaRPr lang="en-US" sz="750" dirty="0"/>
          </a:p>
        </p:txBody>
      </p:sp>
      <p:sp>
        <p:nvSpPr>
          <p:cNvPr id="62" name="Text 59"/>
          <p:cNvSpPr/>
          <p:nvPr/>
        </p:nvSpPr>
        <p:spPr>
          <a:xfrm>
            <a:off x="4315968" y="301752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5.000</a:t>
            </a:r>
            <a:endParaRPr lang="en-US" sz="750" dirty="0"/>
          </a:p>
        </p:txBody>
      </p:sp>
      <p:sp>
        <p:nvSpPr>
          <p:cNvPr id="63" name="Text 60"/>
          <p:cNvSpPr/>
          <p:nvPr/>
        </p:nvSpPr>
        <p:spPr>
          <a:xfrm>
            <a:off x="5029200" y="301752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1.146</a:t>
            </a:r>
            <a:endParaRPr lang="en-US" sz="750" dirty="0"/>
          </a:p>
        </p:txBody>
      </p:sp>
      <p:sp>
        <p:nvSpPr>
          <p:cNvPr id="64" name="Text 61"/>
          <p:cNvSpPr/>
          <p:nvPr/>
        </p:nvSpPr>
        <p:spPr>
          <a:xfrm>
            <a:off x="5760720" y="301752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-0.02</a:t>
            </a:r>
            <a:endParaRPr lang="en-US" sz="750" dirty="0"/>
          </a:p>
        </p:txBody>
      </p:sp>
      <p:sp>
        <p:nvSpPr>
          <p:cNvPr id="65" name="Shape 62"/>
          <p:cNvSpPr/>
          <p:nvPr/>
        </p:nvSpPr>
        <p:spPr>
          <a:xfrm>
            <a:off x="237744" y="3291840"/>
            <a:ext cx="6455664" cy="292608"/>
          </a:xfrm>
          <a:prstGeom prst="roundRect">
            <a:avLst>
              <a:gd name="adj" fmla="val 12500"/>
            </a:avLst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292608" y="3337560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Years_Experience</a:t>
            </a:r>
            <a:endParaRPr lang="en-US" sz="750" dirty="0"/>
          </a:p>
        </p:txBody>
      </p:sp>
      <p:sp>
        <p:nvSpPr>
          <p:cNvPr id="67" name="Text 64"/>
          <p:cNvSpPr/>
          <p:nvPr/>
        </p:nvSpPr>
        <p:spPr>
          <a:xfrm>
            <a:off x="2194560" y="33375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750" dirty="0"/>
          </a:p>
        </p:txBody>
      </p:sp>
      <p:sp>
        <p:nvSpPr>
          <p:cNvPr id="68" name="Text 65"/>
          <p:cNvSpPr/>
          <p:nvPr/>
        </p:nvSpPr>
        <p:spPr>
          <a:xfrm>
            <a:off x="2889504" y="333756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12.38</a:t>
            </a:r>
            <a:endParaRPr lang="en-US" sz="750" dirty="0"/>
          </a:p>
        </p:txBody>
      </p:sp>
      <p:sp>
        <p:nvSpPr>
          <p:cNvPr id="69" name="Text 66"/>
          <p:cNvSpPr/>
          <p:nvPr/>
        </p:nvSpPr>
        <p:spPr>
          <a:xfrm>
            <a:off x="3602736" y="333756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sp>
        <p:nvSpPr>
          <p:cNvPr id="70" name="Text 67"/>
          <p:cNvSpPr/>
          <p:nvPr/>
        </p:nvSpPr>
        <p:spPr>
          <a:xfrm>
            <a:off x="4315968" y="333756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750" dirty="0"/>
          </a:p>
        </p:txBody>
      </p:sp>
      <p:sp>
        <p:nvSpPr>
          <p:cNvPr id="71" name="Text 68"/>
          <p:cNvSpPr/>
          <p:nvPr/>
        </p:nvSpPr>
        <p:spPr>
          <a:xfrm>
            <a:off x="5029200" y="333756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7.529</a:t>
            </a:r>
            <a:endParaRPr lang="en-US" sz="750" dirty="0"/>
          </a:p>
        </p:txBody>
      </p:sp>
      <p:sp>
        <p:nvSpPr>
          <p:cNvPr id="72" name="Text 69"/>
          <p:cNvSpPr/>
          <p:nvPr/>
        </p:nvSpPr>
        <p:spPr>
          <a:xfrm>
            <a:off x="5760720" y="333756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+0.01</a:t>
            </a:r>
            <a:endParaRPr lang="en-US" sz="750" dirty="0"/>
          </a:p>
        </p:txBody>
      </p:sp>
      <p:sp>
        <p:nvSpPr>
          <p:cNvPr id="73" name="Text 70"/>
          <p:cNvSpPr/>
          <p:nvPr/>
        </p:nvSpPr>
        <p:spPr>
          <a:xfrm>
            <a:off x="292608" y="3657600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Work_Hours_Per_Week</a:t>
            </a:r>
            <a:endParaRPr lang="en-US" sz="750" dirty="0"/>
          </a:p>
        </p:txBody>
      </p:sp>
      <p:sp>
        <p:nvSpPr>
          <p:cNvPr id="74" name="Text 71"/>
          <p:cNvSpPr/>
          <p:nvPr/>
        </p:nvSpPr>
        <p:spPr>
          <a:xfrm>
            <a:off x="2194560" y="365760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30h</a:t>
            </a:r>
            <a:endParaRPr lang="en-US" sz="750" dirty="0"/>
          </a:p>
        </p:txBody>
      </p:sp>
      <p:sp>
        <p:nvSpPr>
          <p:cNvPr id="75" name="Text 72"/>
          <p:cNvSpPr/>
          <p:nvPr/>
        </p:nvSpPr>
        <p:spPr>
          <a:xfrm>
            <a:off x="2889504" y="365760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44.77h</a:t>
            </a:r>
            <a:endParaRPr lang="en-US" sz="750" dirty="0"/>
          </a:p>
        </p:txBody>
      </p:sp>
      <p:sp>
        <p:nvSpPr>
          <p:cNvPr id="76" name="Text 73"/>
          <p:cNvSpPr/>
          <p:nvPr/>
        </p:nvSpPr>
        <p:spPr>
          <a:xfrm>
            <a:off x="3602736" y="365760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45h</a:t>
            </a:r>
            <a:endParaRPr lang="en-US" sz="750" dirty="0"/>
          </a:p>
        </p:txBody>
      </p:sp>
      <p:sp>
        <p:nvSpPr>
          <p:cNvPr id="77" name="Text 74"/>
          <p:cNvSpPr/>
          <p:nvPr/>
        </p:nvSpPr>
        <p:spPr>
          <a:xfrm>
            <a:off x="4315968" y="365760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60h</a:t>
            </a:r>
            <a:endParaRPr lang="en-US" sz="750" dirty="0"/>
          </a:p>
        </p:txBody>
      </p:sp>
      <p:sp>
        <p:nvSpPr>
          <p:cNvPr id="78" name="Text 75"/>
          <p:cNvSpPr/>
          <p:nvPr/>
        </p:nvSpPr>
        <p:spPr>
          <a:xfrm>
            <a:off x="5029200" y="365760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8.93h</a:t>
            </a:r>
            <a:endParaRPr lang="en-US" sz="750" dirty="0"/>
          </a:p>
        </p:txBody>
      </p:sp>
      <p:sp>
        <p:nvSpPr>
          <p:cNvPr id="79" name="Text 76"/>
          <p:cNvSpPr/>
          <p:nvPr/>
        </p:nvSpPr>
        <p:spPr>
          <a:xfrm>
            <a:off x="5760720" y="365760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+0.02</a:t>
            </a:r>
            <a:endParaRPr lang="en-US" sz="750" dirty="0"/>
          </a:p>
        </p:txBody>
      </p:sp>
      <p:sp>
        <p:nvSpPr>
          <p:cNvPr id="80" name="Text 77"/>
          <p:cNvSpPr/>
          <p:nvPr/>
        </p:nvSpPr>
        <p:spPr>
          <a:xfrm>
            <a:off x="237744" y="3895344"/>
            <a:ext cx="6455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skewness values near 0 → approximately normal distributions — parametric tests applicable</a:t>
            </a:r>
            <a:endParaRPr lang="en-US" sz="750" dirty="0"/>
          </a:p>
        </p:txBody>
      </p:sp>
      <p:sp>
        <p:nvSpPr>
          <p:cNvPr id="81" name="Shape 78"/>
          <p:cNvSpPr/>
          <p:nvPr/>
        </p:nvSpPr>
        <p:spPr>
          <a:xfrm>
            <a:off x="6931152" y="768096"/>
            <a:ext cx="5065776" cy="3255264"/>
          </a:xfrm>
          <a:prstGeom prst="roundRect">
            <a:avLst>
              <a:gd name="adj" fmla="val 3371"/>
            </a:avLst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sp>
        <p:nvSpPr>
          <p:cNvPr id="82" name="Text 79"/>
          <p:cNvSpPr/>
          <p:nvPr/>
        </p:nvSpPr>
        <p:spPr>
          <a:xfrm>
            <a:off x="7114032" y="841248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 Matrix</a:t>
            </a:r>
            <a:endParaRPr lang="en-US" sz="1000" dirty="0"/>
          </a:p>
        </p:txBody>
      </p:sp>
      <p:sp>
        <p:nvSpPr>
          <p:cNvPr id="83" name="Text 80"/>
          <p:cNvSpPr/>
          <p:nvPr/>
        </p:nvSpPr>
        <p:spPr>
          <a:xfrm>
            <a:off x="7424928" y="115214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</a:t>
            </a:r>
            <a:endParaRPr lang="en-US" sz="600" dirty="0"/>
          </a:p>
        </p:txBody>
      </p:sp>
      <p:sp>
        <p:nvSpPr>
          <p:cNvPr id="84" name="Text 81"/>
          <p:cNvSpPr/>
          <p:nvPr/>
        </p:nvSpPr>
        <p:spPr>
          <a:xfrm>
            <a:off x="7900416" y="115214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600" dirty="0"/>
          </a:p>
        </p:txBody>
      </p:sp>
      <p:sp>
        <p:nvSpPr>
          <p:cNvPr id="85" name="Text 82"/>
          <p:cNvSpPr/>
          <p:nvPr/>
        </p:nvSpPr>
        <p:spPr>
          <a:xfrm>
            <a:off x="8375904" y="115214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</a:t>
            </a:r>
            <a:endParaRPr lang="en-US" sz="600" dirty="0"/>
          </a:p>
        </p:txBody>
      </p:sp>
      <p:sp>
        <p:nvSpPr>
          <p:cNvPr id="86" name="Text 83"/>
          <p:cNvSpPr/>
          <p:nvPr/>
        </p:nvSpPr>
        <p:spPr>
          <a:xfrm>
            <a:off x="8851392" y="115214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</a:t>
            </a:r>
            <a:endParaRPr lang="en-US" sz="600" dirty="0"/>
          </a:p>
        </p:txBody>
      </p:sp>
      <p:sp>
        <p:nvSpPr>
          <p:cNvPr id="87" name="Text 84"/>
          <p:cNvSpPr/>
          <p:nvPr/>
        </p:nvSpPr>
        <p:spPr>
          <a:xfrm>
            <a:off x="9326880" y="115214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600" dirty="0"/>
          </a:p>
        </p:txBody>
      </p:sp>
      <p:sp>
        <p:nvSpPr>
          <p:cNvPr id="88" name="Text 85"/>
          <p:cNvSpPr/>
          <p:nvPr/>
        </p:nvSpPr>
        <p:spPr>
          <a:xfrm>
            <a:off x="9802368" y="115214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</a:t>
            </a:r>
            <a:endParaRPr lang="en-US" sz="600" dirty="0"/>
          </a:p>
        </p:txBody>
      </p:sp>
      <p:sp>
        <p:nvSpPr>
          <p:cNvPr id="89" name="Text 86"/>
          <p:cNvSpPr/>
          <p:nvPr/>
        </p:nvSpPr>
        <p:spPr>
          <a:xfrm>
            <a:off x="10277856" y="115214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</a:t>
            </a:r>
            <a:endParaRPr lang="en-US" sz="600" dirty="0"/>
          </a:p>
        </p:txBody>
      </p:sp>
      <p:sp>
        <p:nvSpPr>
          <p:cNvPr id="90" name="Text 87"/>
          <p:cNvSpPr/>
          <p:nvPr/>
        </p:nvSpPr>
        <p:spPr>
          <a:xfrm>
            <a:off x="10753344" y="115214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600" dirty="0"/>
          </a:p>
        </p:txBody>
      </p:sp>
      <p:sp>
        <p:nvSpPr>
          <p:cNvPr id="91" name="Text 88"/>
          <p:cNvSpPr/>
          <p:nvPr/>
        </p:nvSpPr>
        <p:spPr>
          <a:xfrm>
            <a:off x="6894576" y="133502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</a:t>
            </a:r>
            <a:endParaRPr lang="en-US" sz="600" dirty="0"/>
          </a:p>
        </p:txBody>
      </p:sp>
      <p:sp>
        <p:nvSpPr>
          <p:cNvPr id="92" name="Shape 89"/>
          <p:cNvSpPr/>
          <p:nvPr/>
        </p:nvSpPr>
        <p:spPr>
          <a:xfrm>
            <a:off x="7424928" y="1335024"/>
            <a:ext cx="457200" cy="457200"/>
          </a:xfrm>
          <a:prstGeom prst="rect">
            <a:avLst/>
          </a:prstGeom>
          <a:solidFill>
            <a:srgbClr val="005C2B"/>
          </a:solidFill>
          <a:ln w="5080">
            <a:solidFill>
              <a:srgbClr val="0B1120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7424928" y="1335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550" dirty="0"/>
          </a:p>
        </p:txBody>
      </p:sp>
      <p:sp>
        <p:nvSpPr>
          <p:cNvPr id="94" name="Shape 91"/>
          <p:cNvSpPr/>
          <p:nvPr/>
        </p:nvSpPr>
        <p:spPr>
          <a:xfrm>
            <a:off x="7900416" y="1335024"/>
            <a:ext cx="457200" cy="457200"/>
          </a:xfrm>
          <a:prstGeom prst="rect">
            <a:avLst/>
          </a:prstGeom>
          <a:solidFill>
            <a:srgbClr val="1A0A2E"/>
          </a:solidFill>
          <a:ln w="5080">
            <a:solidFill>
              <a:srgbClr val="0B1120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7900416" y="1335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-0.03</a:t>
            </a:r>
            <a:endParaRPr lang="en-US" sz="550" dirty="0"/>
          </a:p>
        </p:txBody>
      </p:sp>
      <p:sp>
        <p:nvSpPr>
          <p:cNvPr id="96" name="Shape 93"/>
          <p:cNvSpPr/>
          <p:nvPr/>
        </p:nvSpPr>
        <p:spPr>
          <a:xfrm>
            <a:off x="8375904" y="1335024"/>
            <a:ext cx="457200" cy="457200"/>
          </a:xfrm>
          <a:prstGeom prst="rect">
            <a:avLst/>
          </a:prstGeom>
          <a:solidFill>
            <a:srgbClr val="1A0A2E"/>
          </a:solidFill>
          <a:ln w="5080">
            <a:solidFill>
              <a:srgbClr val="0B1120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8375904" y="1335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-0.05</a:t>
            </a:r>
            <a:endParaRPr lang="en-US" sz="550" dirty="0"/>
          </a:p>
        </p:txBody>
      </p:sp>
      <p:sp>
        <p:nvSpPr>
          <p:cNvPr id="98" name="Shape 95"/>
          <p:cNvSpPr/>
          <p:nvPr/>
        </p:nvSpPr>
        <p:spPr>
          <a:xfrm>
            <a:off x="8851392" y="1335024"/>
            <a:ext cx="457200" cy="457200"/>
          </a:xfrm>
          <a:prstGeom prst="rect">
            <a:avLst/>
          </a:prstGeom>
          <a:solidFill>
            <a:srgbClr val="111827"/>
          </a:solidFill>
          <a:ln w="5080">
            <a:solidFill>
              <a:srgbClr val="0B1120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8851392" y="1335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</a:t>
            </a:r>
            <a:endParaRPr lang="en-US" sz="550" dirty="0"/>
          </a:p>
        </p:txBody>
      </p:sp>
      <p:sp>
        <p:nvSpPr>
          <p:cNvPr id="100" name="Shape 97"/>
          <p:cNvSpPr/>
          <p:nvPr/>
        </p:nvSpPr>
        <p:spPr>
          <a:xfrm>
            <a:off x="9326880" y="1335024"/>
            <a:ext cx="457200" cy="457200"/>
          </a:xfrm>
          <a:prstGeom prst="rect">
            <a:avLst/>
          </a:prstGeom>
          <a:solidFill>
            <a:srgbClr val="1A0A2E"/>
          </a:solidFill>
          <a:ln w="5080">
            <a:solidFill>
              <a:srgbClr val="0B1120"/>
            </a:solidFill>
            <a:prstDash val="solid"/>
          </a:ln>
        </p:spPr>
      </p:sp>
      <p:sp>
        <p:nvSpPr>
          <p:cNvPr id="101" name="Text 98"/>
          <p:cNvSpPr/>
          <p:nvPr/>
        </p:nvSpPr>
        <p:spPr>
          <a:xfrm>
            <a:off x="9326880" y="1335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-0.02</a:t>
            </a:r>
            <a:endParaRPr lang="en-US" sz="550" dirty="0"/>
          </a:p>
        </p:txBody>
      </p:sp>
      <p:sp>
        <p:nvSpPr>
          <p:cNvPr id="102" name="Shape 99"/>
          <p:cNvSpPr/>
          <p:nvPr/>
        </p:nvSpPr>
        <p:spPr>
          <a:xfrm>
            <a:off x="9802368" y="1335024"/>
            <a:ext cx="457200" cy="457200"/>
          </a:xfrm>
          <a:prstGeom prst="rect">
            <a:avLst/>
          </a:prstGeom>
          <a:solidFill>
            <a:srgbClr val="1A0A2E"/>
          </a:solidFill>
          <a:ln w="5080">
            <a:solidFill>
              <a:srgbClr val="0B1120"/>
            </a:solidFill>
            <a:prstDash val="solid"/>
          </a:ln>
        </p:spPr>
      </p:sp>
      <p:sp>
        <p:nvSpPr>
          <p:cNvPr id="103" name="Text 100"/>
          <p:cNvSpPr/>
          <p:nvPr/>
        </p:nvSpPr>
        <p:spPr>
          <a:xfrm>
            <a:off x="9802368" y="1335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-0.01</a:t>
            </a:r>
            <a:endParaRPr lang="en-US" sz="550" dirty="0"/>
          </a:p>
        </p:txBody>
      </p:sp>
      <p:sp>
        <p:nvSpPr>
          <p:cNvPr id="104" name="Shape 101"/>
          <p:cNvSpPr/>
          <p:nvPr/>
        </p:nvSpPr>
        <p:spPr>
          <a:xfrm>
            <a:off x="10277856" y="1335024"/>
            <a:ext cx="457200" cy="457200"/>
          </a:xfrm>
          <a:prstGeom prst="rect">
            <a:avLst/>
          </a:prstGeom>
          <a:solidFill>
            <a:srgbClr val="111827"/>
          </a:solidFill>
          <a:ln w="5080">
            <a:solidFill>
              <a:srgbClr val="0B1120"/>
            </a:solidFill>
            <a:prstDash val="solid"/>
          </a:ln>
        </p:spPr>
      </p:sp>
      <p:sp>
        <p:nvSpPr>
          <p:cNvPr id="105" name="Text 102"/>
          <p:cNvSpPr/>
          <p:nvPr/>
        </p:nvSpPr>
        <p:spPr>
          <a:xfrm>
            <a:off x="10277856" y="1335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</a:t>
            </a:r>
            <a:endParaRPr lang="en-US" sz="550" dirty="0"/>
          </a:p>
        </p:txBody>
      </p:sp>
      <p:sp>
        <p:nvSpPr>
          <p:cNvPr id="106" name="Shape 103"/>
          <p:cNvSpPr/>
          <p:nvPr/>
        </p:nvSpPr>
        <p:spPr>
          <a:xfrm>
            <a:off x="10753344" y="1335024"/>
            <a:ext cx="457200" cy="457200"/>
          </a:xfrm>
          <a:prstGeom prst="rect">
            <a:avLst/>
          </a:prstGeom>
          <a:solidFill>
            <a:srgbClr val="111827"/>
          </a:solidFill>
          <a:ln w="5080">
            <a:solidFill>
              <a:srgbClr val="0B1120"/>
            </a:solidFill>
            <a:prstDash val="solid"/>
          </a:ln>
        </p:spPr>
      </p:sp>
      <p:sp>
        <p:nvSpPr>
          <p:cNvPr id="107" name="Text 104"/>
          <p:cNvSpPr/>
          <p:nvPr/>
        </p:nvSpPr>
        <p:spPr>
          <a:xfrm>
            <a:off x="10753344" y="1335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</a:t>
            </a:r>
            <a:endParaRPr lang="en-US" sz="550" dirty="0"/>
          </a:p>
        </p:txBody>
      </p:sp>
      <p:sp>
        <p:nvSpPr>
          <p:cNvPr id="108" name="Text 105"/>
          <p:cNvSpPr/>
          <p:nvPr/>
        </p:nvSpPr>
        <p:spPr>
          <a:xfrm>
            <a:off x="6894576" y="181051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600" dirty="0"/>
          </a:p>
        </p:txBody>
      </p:sp>
      <p:sp>
        <p:nvSpPr>
          <p:cNvPr id="109" name="Shape 106"/>
          <p:cNvSpPr/>
          <p:nvPr/>
        </p:nvSpPr>
        <p:spPr>
          <a:xfrm>
            <a:off x="7424928" y="1810512"/>
            <a:ext cx="457200" cy="457200"/>
          </a:xfrm>
          <a:prstGeom prst="rect">
            <a:avLst/>
          </a:prstGeom>
          <a:solidFill>
            <a:srgbClr val="1A0A2E"/>
          </a:solidFill>
          <a:ln w="5080">
            <a:solidFill>
              <a:srgbClr val="0B1120"/>
            </a:solidFill>
            <a:prstDash val="solid"/>
          </a:ln>
        </p:spPr>
      </p:sp>
      <p:sp>
        <p:nvSpPr>
          <p:cNvPr id="110" name="Text 107"/>
          <p:cNvSpPr/>
          <p:nvPr/>
        </p:nvSpPr>
        <p:spPr>
          <a:xfrm>
            <a:off x="7424928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-0.03</a:t>
            </a:r>
            <a:endParaRPr lang="en-US" sz="550" dirty="0"/>
          </a:p>
        </p:txBody>
      </p:sp>
      <p:sp>
        <p:nvSpPr>
          <p:cNvPr id="111" name="Shape 108"/>
          <p:cNvSpPr/>
          <p:nvPr/>
        </p:nvSpPr>
        <p:spPr>
          <a:xfrm>
            <a:off x="7900416" y="1810512"/>
            <a:ext cx="457200" cy="457200"/>
          </a:xfrm>
          <a:prstGeom prst="rect">
            <a:avLst/>
          </a:prstGeom>
          <a:solidFill>
            <a:srgbClr val="005C2B"/>
          </a:solidFill>
          <a:ln w="5080">
            <a:solidFill>
              <a:srgbClr val="0B1120"/>
            </a:solidFill>
            <a:prstDash val="solid"/>
          </a:ln>
        </p:spPr>
      </p:sp>
      <p:sp>
        <p:nvSpPr>
          <p:cNvPr id="112" name="Text 109"/>
          <p:cNvSpPr/>
          <p:nvPr/>
        </p:nvSpPr>
        <p:spPr>
          <a:xfrm>
            <a:off x="7900416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550" dirty="0"/>
          </a:p>
        </p:txBody>
      </p:sp>
      <p:sp>
        <p:nvSpPr>
          <p:cNvPr id="113" name="Shape 110"/>
          <p:cNvSpPr/>
          <p:nvPr/>
        </p:nvSpPr>
        <p:spPr>
          <a:xfrm>
            <a:off x="8375904" y="1810512"/>
            <a:ext cx="457200" cy="457200"/>
          </a:xfrm>
          <a:prstGeom prst="rect">
            <a:avLst/>
          </a:prstGeom>
          <a:solidFill>
            <a:srgbClr val="111827"/>
          </a:solidFill>
          <a:ln w="5080">
            <a:solidFill>
              <a:srgbClr val="0B1120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8375904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</a:t>
            </a:r>
            <a:endParaRPr lang="en-US" sz="550" dirty="0"/>
          </a:p>
        </p:txBody>
      </p:sp>
      <p:sp>
        <p:nvSpPr>
          <p:cNvPr id="115" name="Shape 112"/>
          <p:cNvSpPr/>
          <p:nvPr/>
        </p:nvSpPr>
        <p:spPr>
          <a:xfrm>
            <a:off x="8851392" y="1810512"/>
            <a:ext cx="457200" cy="457200"/>
          </a:xfrm>
          <a:prstGeom prst="rect">
            <a:avLst/>
          </a:prstGeom>
          <a:solidFill>
            <a:srgbClr val="1A0A2E"/>
          </a:solidFill>
          <a:ln w="5080">
            <a:solidFill>
              <a:srgbClr val="0B1120"/>
            </a:solidFill>
            <a:prstDash val="solid"/>
          </a:ln>
        </p:spPr>
      </p:sp>
      <p:sp>
        <p:nvSpPr>
          <p:cNvPr id="116" name="Text 113"/>
          <p:cNvSpPr/>
          <p:nvPr/>
        </p:nvSpPr>
        <p:spPr>
          <a:xfrm>
            <a:off x="8851392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-0.01</a:t>
            </a:r>
            <a:endParaRPr lang="en-US" sz="550" dirty="0"/>
          </a:p>
        </p:txBody>
      </p:sp>
      <p:sp>
        <p:nvSpPr>
          <p:cNvPr id="117" name="Shape 114"/>
          <p:cNvSpPr/>
          <p:nvPr/>
        </p:nvSpPr>
        <p:spPr>
          <a:xfrm>
            <a:off x="9326880" y="1810512"/>
            <a:ext cx="457200" cy="457200"/>
          </a:xfrm>
          <a:prstGeom prst="rect">
            <a:avLst/>
          </a:prstGeom>
          <a:solidFill>
            <a:srgbClr val="111827"/>
          </a:solidFill>
          <a:ln w="5080">
            <a:solidFill>
              <a:srgbClr val="0B1120"/>
            </a:solidFill>
            <a:prstDash val="solid"/>
          </a:ln>
        </p:spPr>
      </p:sp>
      <p:sp>
        <p:nvSpPr>
          <p:cNvPr id="118" name="Text 115"/>
          <p:cNvSpPr/>
          <p:nvPr/>
        </p:nvSpPr>
        <p:spPr>
          <a:xfrm>
            <a:off x="9326880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</a:t>
            </a:r>
            <a:endParaRPr lang="en-US" sz="550" dirty="0"/>
          </a:p>
        </p:txBody>
      </p:sp>
      <p:sp>
        <p:nvSpPr>
          <p:cNvPr id="119" name="Shape 116"/>
          <p:cNvSpPr/>
          <p:nvPr/>
        </p:nvSpPr>
        <p:spPr>
          <a:xfrm>
            <a:off x="9802368" y="1810512"/>
            <a:ext cx="457200" cy="457200"/>
          </a:xfrm>
          <a:prstGeom prst="rect">
            <a:avLst/>
          </a:prstGeom>
          <a:solidFill>
            <a:srgbClr val="111827"/>
          </a:solidFill>
          <a:ln w="5080">
            <a:solidFill>
              <a:srgbClr val="0B1120"/>
            </a:solidFill>
            <a:prstDash val="solid"/>
          </a:ln>
        </p:spPr>
      </p:sp>
      <p:sp>
        <p:nvSpPr>
          <p:cNvPr id="120" name="Text 117"/>
          <p:cNvSpPr/>
          <p:nvPr/>
        </p:nvSpPr>
        <p:spPr>
          <a:xfrm>
            <a:off x="9802368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550" dirty="0"/>
          </a:p>
        </p:txBody>
      </p:sp>
      <p:sp>
        <p:nvSpPr>
          <p:cNvPr id="121" name="Shape 118"/>
          <p:cNvSpPr/>
          <p:nvPr/>
        </p:nvSpPr>
        <p:spPr>
          <a:xfrm>
            <a:off x="10277856" y="1810512"/>
            <a:ext cx="457200" cy="457200"/>
          </a:xfrm>
          <a:prstGeom prst="rect">
            <a:avLst/>
          </a:prstGeom>
          <a:solidFill>
            <a:srgbClr val="1A0A2E"/>
          </a:solidFill>
          <a:ln w="5080">
            <a:solidFill>
              <a:srgbClr val="0B1120"/>
            </a:solidFill>
            <a:prstDash val="solid"/>
          </a:ln>
        </p:spPr>
      </p:sp>
      <p:sp>
        <p:nvSpPr>
          <p:cNvPr id="122" name="Text 119"/>
          <p:cNvSpPr/>
          <p:nvPr/>
        </p:nvSpPr>
        <p:spPr>
          <a:xfrm>
            <a:off x="10277856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-0.01</a:t>
            </a:r>
            <a:endParaRPr lang="en-US" sz="550" dirty="0"/>
          </a:p>
        </p:txBody>
      </p:sp>
      <p:sp>
        <p:nvSpPr>
          <p:cNvPr id="123" name="Shape 120"/>
          <p:cNvSpPr/>
          <p:nvPr/>
        </p:nvSpPr>
        <p:spPr>
          <a:xfrm>
            <a:off x="10753344" y="1810512"/>
            <a:ext cx="457200" cy="457200"/>
          </a:xfrm>
          <a:prstGeom prst="rect">
            <a:avLst/>
          </a:prstGeom>
          <a:solidFill>
            <a:srgbClr val="111827"/>
          </a:solidFill>
          <a:ln w="5080">
            <a:solidFill>
              <a:srgbClr val="0B1120"/>
            </a:solidFill>
            <a:prstDash val="solid"/>
          </a:ln>
        </p:spPr>
      </p:sp>
      <p:sp>
        <p:nvSpPr>
          <p:cNvPr id="124" name="Text 121"/>
          <p:cNvSpPr/>
          <p:nvPr/>
        </p:nvSpPr>
        <p:spPr>
          <a:xfrm>
            <a:off x="10753344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</a:t>
            </a:r>
            <a:endParaRPr lang="en-US" sz="550" dirty="0"/>
          </a:p>
        </p:txBody>
      </p:sp>
      <p:sp>
        <p:nvSpPr>
          <p:cNvPr id="125" name="Text 122"/>
          <p:cNvSpPr/>
          <p:nvPr/>
        </p:nvSpPr>
        <p:spPr>
          <a:xfrm>
            <a:off x="6894576" y="2286000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</a:t>
            </a:r>
            <a:endParaRPr lang="en-US" sz="600" dirty="0"/>
          </a:p>
        </p:txBody>
      </p:sp>
      <p:sp>
        <p:nvSpPr>
          <p:cNvPr id="126" name="Shape 123"/>
          <p:cNvSpPr/>
          <p:nvPr/>
        </p:nvSpPr>
        <p:spPr>
          <a:xfrm>
            <a:off x="7424928" y="2286000"/>
            <a:ext cx="457200" cy="457200"/>
          </a:xfrm>
          <a:prstGeom prst="rect">
            <a:avLst/>
          </a:prstGeom>
          <a:solidFill>
            <a:srgbClr val="1A0A2E"/>
          </a:solidFill>
          <a:ln w="5080">
            <a:solidFill>
              <a:srgbClr val="0B1120"/>
            </a:solidFill>
            <a:prstDash val="solid"/>
          </a:ln>
        </p:spPr>
      </p:sp>
      <p:sp>
        <p:nvSpPr>
          <p:cNvPr id="127" name="Text 124"/>
          <p:cNvSpPr/>
          <p:nvPr/>
        </p:nvSpPr>
        <p:spPr>
          <a:xfrm>
            <a:off x="7424928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-0.05</a:t>
            </a:r>
            <a:endParaRPr lang="en-US" sz="550" dirty="0"/>
          </a:p>
        </p:txBody>
      </p:sp>
      <p:sp>
        <p:nvSpPr>
          <p:cNvPr id="128" name="Shape 125"/>
          <p:cNvSpPr/>
          <p:nvPr/>
        </p:nvSpPr>
        <p:spPr>
          <a:xfrm>
            <a:off x="7900416" y="2286000"/>
            <a:ext cx="457200" cy="457200"/>
          </a:xfrm>
          <a:prstGeom prst="rect">
            <a:avLst/>
          </a:prstGeom>
          <a:solidFill>
            <a:srgbClr val="111827"/>
          </a:solidFill>
          <a:ln w="5080">
            <a:solidFill>
              <a:srgbClr val="0B1120"/>
            </a:solidFill>
            <a:prstDash val="solid"/>
          </a:ln>
        </p:spPr>
      </p:sp>
      <p:sp>
        <p:nvSpPr>
          <p:cNvPr id="129" name="Text 126"/>
          <p:cNvSpPr/>
          <p:nvPr/>
        </p:nvSpPr>
        <p:spPr>
          <a:xfrm>
            <a:off x="7900416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</a:t>
            </a:r>
            <a:endParaRPr lang="en-US" sz="550" dirty="0"/>
          </a:p>
        </p:txBody>
      </p:sp>
      <p:sp>
        <p:nvSpPr>
          <p:cNvPr id="130" name="Shape 127"/>
          <p:cNvSpPr/>
          <p:nvPr/>
        </p:nvSpPr>
        <p:spPr>
          <a:xfrm>
            <a:off x="8375904" y="2286000"/>
            <a:ext cx="457200" cy="457200"/>
          </a:xfrm>
          <a:prstGeom prst="rect">
            <a:avLst/>
          </a:prstGeom>
          <a:solidFill>
            <a:srgbClr val="005C2B"/>
          </a:solidFill>
          <a:ln w="5080">
            <a:solidFill>
              <a:srgbClr val="0B1120"/>
            </a:solidFill>
            <a:prstDash val="solid"/>
          </a:ln>
        </p:spPr>
      </p:sp>
      <p:sp>
        <p:nvSpPr>
          <p:cNvPr id="131" name="Text 128"/>
          <p:cNvSpPr/>
          <p:nvPr/>
        </p:nvSpPr>
        <p:spPr>
          <a:xfrm>
            <a:off x="8375904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550" dirty="0"/>
          </a:p>
        </p:txBody>
      </p:sp>
      <p:sp>
        <p:nvSpPr>
          <p:cNvPr id="132" name="Shape 129"/>
          <p:cNvSpPr/>
          <p:nvPr/>
        </p:nvSpPr>
        <p:spPr>
          <a:xfrm>
            <a:off x="8851392" y="2286000"/>
            <a:ext cx="457200" cy="457200"/>
          </a:xfrm>
          <a:prstGeom prst="rect">
            <a:avLst/>
          </a:prstGeom>
          <a:solidFill>
            <a:srgbClr val="111827"/>
          </a:solidFill>
          <a:ln w="5080">
            <a:solidFill>
              <a:srgbClr val="0B1120"/>
            </a:solidFill>
            <a:prstDash val="solid"/>
          </a:ln>
        </p:spPr>
      </p:sp>
      <p:sp>
        <p:nvSpPr>
          <p:cNvPr id="133" name="Text 130"/>
          <p:cNvSpPr/>
          <p:nvPr/>
        </p:nvSpPr>
        <p:spPr>
          <a:xfrm>
            <a:off x="8851392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</a:t>
            </a:r>
            <a:endParaRPr lang="en-US" sz="550" dirty="0"/>
          </a:p>
        </p:txBody>
      </p:sp>
      <p:sp>
        <p:nvSpPr>
          <p:cNvPr id="134" name="Shape 131"/>
          <p:cNvSpPr/>
          <p:nvPr/>
        </p:nvSpPr>
        <p:spPr>
          <a:xfrm>
            <a:off x="9326880" y="2286000"/>
            <a:ext cx="457200" cy="457200"/>
          </a:xfrm>
          <a:prstGeom prst="rect">
            <a:avLst/>
          </a:prstGeom>
          <a:solidFill>
            <a:srgbClr val="111827"/>
          </a:solidFill>
          <a:ln w="5080">
            <a:solidFill>
              <a:srgbClr val="0B1120"/>
            </a:solidFill>
            <a:prstDash val="solid"/>
          </a:ln>
        </p:spPr>
      </p:sp>
      <p:sp>
        <p:nvSpPr>
          <p:cNvPr id="135" name="Text 132"/>
          <p:cNvSpPr/>
          <p:nvPr/>
        </p:nvSpPr>
        <p:spPr>
          <a:xfrm>
            <a:off x="932688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550" dirty="0"/>
          </a:p>
        </p:txBody>
      </p:sp>
      <p:sp>
        <p:nvSpPr>
          <p:cNvPr id="136" name="Shape 133"/>
          <p:cNvSpPr/>
          <p:nvPr/>
        </p:nvSpPr>
        <p:spPr>
          <a:xfrm>
            <a:off x="9802368" y="2286000"/>
            <a:ext cx="457200" cy="457200"/>
          </a:xfrm>
          <a:prstGeom prst="rect">
            <a:avLst/>
          </a:prstGeom>
          <a:solidFill>
            <a:srgbClr val="1A0A2E"/>
          </a:solidFill>
          <a:ln w="5080">
            <a:solidFill>
              <a:srgbClr val="0B1120"/>
            </a:solidFill>
            <a:prstDash val="solid"/>
          </a:ln>
        </p:spPr>
      </p:sp>
      <p:sp>
        <p:nvSpPr>
          <p:cNvPr id="137" name="Text 134"/>
          <p:cNvSpPr/>
          <p:nvPr/>
        </p:nvSpPr>
        <p:spPr>
          <a:xfrm>
            <a:off x="9802368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-0.01</a:t>
            </a:r>
            <a:endParaRPr lang="en-US" sz="550" dirty="0"/>
          </a:p>
        </p:txBody>
      </p:sp>
      <p:sp>
        <p:nvSpPr>
          <p:cNvPr id="138" name="Shape 135"/>
          <p:cNvSpPr/>
          <p:nvPr/>
        </p:nvSpPr>
        <p:spPr>
          <a:xfrm>
            <a:off x="10277856" y="2286000"/>
            <a:ext cx="457200" cy="457200"/>
          </a:xfrm>
          <a:prstGeom prst="rect">
            <a:avLst/>
          </a:prstGeom>
          <a:solidFill>
            <a:srgbClr val="111827"/>
          </a:solidFill>
          <a:ln w="5080">
            <a:solidFill>
              <a:srgbClr val="0B1120"/>
            </a:solidFill>
            <a:prstDash val="solid"/>
          </a:ln>
        </p:spPr>
      </p:sp>
      <p:sp>
        <p:nvSpPr>
          <p:cNvPr id="139" name="Text 136"/>
          <p:cNvSpPr/>
          <p:nvPr/>
        </p:nvSpPr>
        <p:spPr>
          <a:xfrm>
            <a:off x="10277856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</a:t>
            </a:r>
            <a:endParaRPr lang="en-US" sz="550" dirty="0"/>
          </a:p>
        </p:txBody>
      </p:sp>
      <p:sp>
        <p:nvSpPr>
          <p:cNvPr id="140" name="Shape 137"/>
          <p:cNvSpPr/>
          <p:nvPr/>
        </p:nvSpPr>
        <p:spPr>
          <a:xfrm>
            <a:off x="10753344" y="2286000"/>
            <a:ext cx="457200" cy="457200"/>
          </a:xfrm>
          <a:prstGeom prst="rect">
            <a:avLst/>
          </a:prstGeom>
          <a:solidFill>
            <a:srgbClr val="111827"/>
          </a:solidFill>
          <a:ln w="5080">
            <a:solidFill>
              <a:srgbClr val="0B1120"/>
            </a:solidFill>
            <a:prstDash val="solid"/>
          </a:ln>
        </p:spPr>
      </p:sp>
      <p:sp>
        <p:nvSpPr>
          <p:cNvPr id="141" name="Text 138"/>
          <p:cNvSpPr/>
          <p:nvPr/>
        </p:nvSpPr>
        <p:spPr>
          <a:xfrm>
            <a:off x="10753344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</a:t>
            </a:r>
            <a:endParaRPr lang="en-US" sz="550" dirty="0"/>
          </a:p>
        </p:txBody>
      </p:sp>
      <p:sp>
        <p:nvSpPr>
          <p:cNvPr id="142" name="Text 139"/>
          <p:cNvSpPr/>
          <p:nvPr/>
        </p:nvSpPr>
        <p:spPr>
          <a:xfrm>
            <a:off x="6894576" y="2761488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</a:t>
            </a:r>
            <a:endParaRPr lang="en-US" sz="600" dirty="0"/>
          </a:p>
        </p:txBody>
      </p:sp>
      <p:sp>
        <p:nvSpPr>
          <p:cNvPr id="143" name="Shape 140"/>
          <p:cNvSpPr/>
          <p:nvPr/>
        </p:nvSpPr>
        <p:spPr>
          <a:xfrm>
            <a:off x="7424928" y="2761488"/>
            <a:ext cx="457200" cy="457200"/>
          </a:xfrm>
          <a:prstGeom prst="rect">
            <a:avLst/>
          </a:prstGeom>
          <a:solidFill>
            <a:srgbClr val="111827"/>
          </a:solidFill>
          <a:ln w="5080">
            <a:solidFill>
              <a:srgbClr val="0B1120"/>
            </a:solidFill>
            <a:prstDash val="solid"/>
          </a:ln>
        </p:spPr>
      </p:sp>
      <p:sp>
        <p:nvSpPr>
          <p:cNvPr id="144" name="Text 141"/>
          <p:cNvSpPr/>
          <p:nvPr/>
        </p:nvSpPr>
        <p:spPr>
          <a:xfrm>
            <a:off x="7424928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</a:t>
            </a:r>
            <a:endParaRPr lang="en-US" sz="550" dirty="0"/>
          </a:p>
        </p:txBody>
      </p:sp>
      <p:sp>
        <p:nvSpPr>
          <p:cNvPr id="145" name="Shape 142"/>
          <p:cNvSpPr/>
          <p:nvPr/>
        </p:nvSpPr>
        <p:spPr>
          <a:xfrm>
            <a:off x="7900416" y="2761488"/>
            <a:ext cx="457200" cy="457200"/>
          </a:xfrm>
          <a:prstGeom prst="rect">
            <a:avLst/>
          </a:prstGeom>
          <a:solidFill>
            <a:srgbClr val="1A0A2E"/>
          </a:solidFill>
          <a:ln w="5080">
            <a:solidFill>
              <a:srgbClr val="0B1120"/>
            </a:solidFill>
            <a:prstDash val="solid"/>
          </a:ln>
        </p:spPr>
      </p:sp>
      <p:sp>
        <p:nvSpPr>
          <p:cNvPr id="146" name="Text 143"/>
          <p:cNvSpPr/>
          <p:nvPr/>
        </p:nvSpPr>
        <p:spPr>
          <a:xfrm>
            <a:off x="7900416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-0.01</a:t>
            </a:r>
            <a:endParaRPr lang="en-US" sz="550" dirty="0"/>
          </a:p>
        </p:txBody>
      </p:sp>
      <p:sp>
        <p:nvSpPr>
          <p:cNvPr id="147" name="Shape 144"/>
          <p:cNvSpPr/>
          <p:nvPr/>
        </p:nvSpPr>
        <p:spPr>
          <a:xfrm>
            <a:off x="8375904" y="2761488"/>
            <a:ext cx="457200" cy="457200"/>
          </a:xfrm>
          <a:prstGeom prst="rect">
            <a:avLst/>
          </a:prstGeom>
          <a:solidFill>
            <a:srgbClr val="111827"/>
          </a:solidFill>
          <a:ln w="5080">
            <a:solidFill>
              <a:srgbClr val="0B1120"/>
            </a:solidFill>
            <a:prstDash val="solid"/>
          </a:ln>
        </p:spPr>
      </p:sp>
      <p:sp>
        <p:nvSpPr>
          <p:cNvPr id="148" name="Text 145"/>
          <p:cNvSpPr/>
          <p:nvPr/>
        </p:nvSpPr>
        <p:spPr>
          <a:xfrm>
            <a:off x="8375904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</a:t>
            </a:r>
            <a:endParaRPr lang="en-US" sz="550" dirty="0"/>
          </a:p>
        </p:txBody>
      </p:sp>
      <p:sp>
        <p:nvSpPr>
          <p:cNvPr id="149" name="Shape 146"/>
          <p:cNvSpPr/>
          <p:nvPr/>
        </p:nvSpPr>
        <p:spPr>
          <a:xfrm>
            <a:off x="8851392" y="2761488"/>
            <a:ext cx="457200" cy="457200"/>
          </a:xfrm>
          <a:prstGeom prst="rect">
            <a:avLst/>
          </a:prstGeom>
          <a:solidFill>
            <a:srgbClr val="005C2B"/>
          </a:solidFill>
          <a:ln w="5080">
            <a:solidFill>
              <a:srgbClr val="0B1120"/>
            </a:solidFill>
            <a:prstDash val="solid"/>
          </a:ln>
        </p:spPr>
      </p:sp>
      <p:sp>
        <p:nvSpPr>
          <p:cNvPr id="150" name="Text 147"/>
          <p:cNvSpPr/>
          <p:nvPr/>
        </p:nvSpPr>
        <p:spPr>
          <a:xfrm>
            <a:off x="8851392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550" dirty="0"/>
          </a:p>
        </p:txBody>
      </p:sp>
      <p:sp>
        <p:nvSpPr>
          <p:cNvPr id="151" name="Shape 148"/>
          <p:cNvSpPr/>
          <p:nvPr/>
        </p:nvSpPr>
        <p:spPr>
          <a:xfrm>
            <a:off x="9326880" y="2761488"/>
            <a:ext cx="457200" cy="457200"/>
          </a:xfrm>
          <a:prstGeom prst="rect">
            <a:avLst/>
          </a:prstGeom>
          <a:solidFill>
            <a:srgbClr val="1A0A2E"/>
          </a:solidFill>
          <a:ln w="5080">
            <a:solidFill>
              <a:srgbClr val="0B1120"/>
            </a:solidFill>
            <a:prstDash val="solid"/>
          </a:ln>
        </p:spPr>
      </p:sp>
      <p:sp>
        <p:nvSpPr>
          <p:cNvPr id="152" name="Text 149"/>
          <p:cNvSpPr/>
          <p:nvPr/>
        </p:nvSpPr>
        <p:spPr>
          <a:xfrm>
            <a:off x="9326880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-0.01</a:t>
            </a:r>
            <a:endParaRPr lang="en-US" sz="550" dirty="0"/>
          </a:p>
        </p:txBody>
      </p:sp>
      <p:sp>
        <p:nvSpPr>
          <p:cNvPr id="153" name="Shape 150"/>
          <p:cNvSpPr/>
          <p:nvPr/>
        </p:nvSpPr>
        <p:spPr>
          <a:xfrm>
            <a:off x="9802368" y="2761488"/>
            <a:ext cx="457200" cy="457200"/>
          </a:xfrm>
          <a:prstGeom prst="rect">
            <a:avLst/>
          </a:prstGeom>
          <a:solidFill>
            <a:srgbClr val="1A0A2E"/>
          </a:solidFill>
          <a:ln w="5080">
            <a:solidFill>
              <a:srgbClr val="0B1120"/>
            </a:solidFill>
            <a:prstDash val="solid"/>
          </a:ln>
        </p:spPr>
      </p:sp>
      <p:sp>
        <p:nvSpPr>
          <p:cNvPr id="154" name="Text 151"/>
          <p:cNvSpPr/>
          <p:nvPr/>
        </p:nvSpPr>
        <p:spPr>
          <a:xfrm>
            <a:off x="9802368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-0.01</a:t>
            </a:r>
            <a:endParaRPr lang="en-US" sz="550" dirty="0"/>
          </a:p>
        </p:txBody>
      </p:sp>
      <p:sp>
        <p:nvSpPr>
          <p:cNvPr id="155" name="Shape 152"/>
          <p:cNvSpPr/>
          <p:nvPr/>
        </p:nvSpPr>
        <p:spPr>
          <a:xfrm>
            <a:off x="10277856" y="2761488"/>
            <a:ext cx="457200" cy="457200"/>
          </a:xfrm>
          <a:prstGeom prst="rect">
            <a:avLst/>
          </a:prstGeom>
          <a:solidFill>
            <a:srgbClr val="1A0A2E"/>
          </a:solidFill>
          <a:ln w="5080">
            <a:solidFill>
              <a:srgbClr val="0B1120"/>
            </a:solidFill>
            <a:prstDash val="solid"/>
          </a:ln>
        </p:spPr>
      </p:sp>
      <p:sp>
        <p:nvSpPr>
          <p:cNvPr id="156" name="Text 153"/>
          <p:cNvSpPr/>
          <p:nvPr/>
        </p:nvSpPr>
        <p:spPr>
          <a:xfrm>
            <a:off x="10277856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-0.01</a:t>
            </a:r>
            <a:endParaRPr lang="en-US" sz="550" dirty="0"/>
          </a:p>
        </p:txBody>
      </p:sp>
      <p:sp>
        <p:nvSpPr>
          <p:cNvPr id="157" name="Shape 154"/>
          <p:cNvSpPr/>
          <p:nvPr/>
        </p:nvSpPr>
        <p:spPr>
          <a:xfrm>
            <a:off x="10753344" y="2761488"/>
            <a:ext cx="457200" cy="457200"/>
          </a:xfrm>
          <a:prstGeom prst="rect">
            <a:avLst/>
          </a:prstGeom>
          <a:solidFill>
            <a:srgbClr val="111827"/>
          </a:solidFill>
          <a:ln w="5080">
            <a:solidFill>
              <a:srgbClr val="0B1120"/>
            </a:solidFill>
            <a:prstDash val="solid"/>
          </a:ln>
        </p:spPr>
      </p:sp>
      <p:sp>
        <p:nvSpPr>
          <p:cNvPr id="158" name="Text 155"/>
          <p:cNvSpPr/>
          <p:nvPr/>
        </p:nvSpPr>
        <p:spPr>
          <a:xfrm>
            <a:off x="10753344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</a:t>
            </a:r>
            <a:endParaRPr lang="en-US" sz="550" dirty="0"/>
          </a:p>
        </p:txBody>
      </p:sp>
      <p:sp>
        <p:nvSpPr>
          <p:cNvPr id="159" name="Text 156"/>
          <p:cNvSpPr/>
          <p:nvPr/>
        </p:nvSpPr>
        <p:spPr>
          <a:xfrm>
            <a:off x="6894576" y="3236976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600" dirty="0"/>
          </a:p>
        </p:txBody>
      </p:sp>
      <p:sp>
        <p:nvSpPr>
          <p:cNvPr id="160" name="Shape 157"/>
          <p:cNvSpPr/>
          <p:nvPr/>
        </p:nvSpPr>
        <p:spPr>
          <a:xfrm>
            <a:off x="7424928" y="3236976"/>
            <a:ext cx="457200" cy="457200"/>
          </a:xfrm>
          <a:prstGeom prst="rect">
            <a:avLst/>
          </a:prstGeom>
          <a:solidFill>
            <a:srgbClr val="1A0A2E"/>
          </a:solidFill>
          <a:ln w="5080">
            <a:solidFill>
              <a:srgbClr val="0B1120"/>
            </a:solidFill>
            <a:prstDash val="solid"/>
          </a:ln>
        </p:spPr>
      </p:sp>
      <p:sp>
        <p:nvSpPr>
          <p:cNvPr id="161" name="Text 158"/>
          <p:cNvSpPr/>
          <p:nvPr/>
        </p:nvSpPr>
        <p:spPr>
          <a:xfrm>
            <a:off x="7424928" y="3236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-0.02</a:t>
            </a:r>
            <a:endParaRPr lang="en-US" sz="550" dirty="0"/>
          </a:p>
        </p:txBody>
      </p:sp>
      <p:sp>
        <p:nvSpPr>
          <p:cNvPr id="162" name="Shape 159"/>
          <p:cNvSpPr/>
          <p:nvPr/>
        </p:nvSpPr>
        <p:spPr>
          <a:xfrm>
            <a:off x="7900416" y="3236976"/>
            <a:ext cx="457200" cy="457200"/>
          </a:xfrm>
          <a:prstGeom prst="rect">
            <a:avLst/>
          </a:prstGeom>
          <a:solidFill>
            <a:srgbClr val="111827"/>
          </a:solidFill>
          <a:ln w="5080">
            <a:solidFill>
              <a:srgbClr val="0B1120"/>
            </a:solidFill>
            <a:prstDash val="solid"/>
          </a:ln>
        </p:spPr>
      </p:sp>
      <p:sp>
        <p:nvSpPr>
          <p:cNvPr id="163" name="Text 160"/>
          <p:cNvSpPr/>
          <p:nvPr/>
        </p:nvSpPr>
        <p:spPr>
          <a:xfrm>
            <a:off x="7900416" y="3236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</a:t>
            </a:r>
            <a:endParaRPr lang="en-US" sz="550" dirty="0"/>
          </a:p>
        </p:txBody>
      </p:sp>
      <p:sp>
        <p:nvSpPr>
          <p:cNvPr id="164" name="Shape 161"/>
          <p:cNvSpPr/>
          <p:nvPr/>
        </p:nvSpPr>
        <p:spPr>
          <a:xfrm>
            <a:off x="8375904" y="3236976"/>
            <a:ext cx="457200" cy="457200"/>
          </a:xfrm>
          <a:prstGeom prst="rect">
            <a:avLst/>
          </a:prstGeom>
          <a:solidFill>
            <a:srgbClr val="111827"/>
          </a:solidFill>
          <a:ln w="5080">
            <a:solidFill>
              <a:srgbClr val="0B1120"/>
            </a:solidFill>
            <a:prstDash val="solid"/>
          </a:ln>
        </p:spPr>
      </p:sp>
      <p:sp>
        <p:nvSpPr>
          <p:cNvPr id="165" name="Text 162"/>
          <p:cNvSpPr/>
          <p:nvPr/>
        </p:nvSpPr>
        <p:spPr>
          <a:xfrm>
            <a:off x="8375904" y="3236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550" dirty="0"/>
          </a:p>
        </p:txBody>
      </p:sp>
      <p:sp>
        <p:nvSpPr>
          <p:cNvPr id="166" name="Shape 163"/>
          <p:cNvSpPr/>
          <p:nvPr/>
        </p:nvSpPr>
        <p:spPr>
          <a:xfrm>
            <a:off x="8851392" y="3236976"/>
            <a:ext cx="457200" cy="457200"/>
          </a:xfrm>
          <a:prstGeom prst="rect">
            <a:avLst/>
          </a:prstGeom>
          <a:solidFill>
            <a:srgbClr val="1A0A2E"/>
          </a:solidFill>
          <a:ln w="5080">
            <a:solidFill>
              <a:srgbClr val="0B1120"/>
            </a:solidFill>
            <a:prstDash val="solid"/>
          </a:ln>
        </p:spPr>
      </p:sp>
      <p:sp>
        <p:nvSpPr>
          <p:cNvPr id="167" name="Text 164"/>
          <p:cNvSpPr/>
          <p:nvPr/>
        </p:nvSpPr>
        <p:spPr>
          <a:xfrm>
            <a:off x="8851392" y="3236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-0.01</a:t>
            </a:r>
            <a:endParaRPr lang="en-US" sz="550" dirty="0"/>
          </a:p>
        </p:txBody>
      </p:sp>
      <p:sp>
        <p:nvSpPr>
          <p:cNvPr id="168" name="Shape 165"/>
          <p:cNvSpPr/>
          <p:nvPr/>
        </p:nvSpPr>
        <p:spPr>
          <a:xfrm>
            <a:off x="9326880" y="3236976"/>
            <a:ext cx="457200" cy="457200"/>
          </a:xfrm>
          <a:prstGeom prst="rect">
            <a:avLst/>
          </a:prstGeom>
          <a:solidFill>
            <a:srgbClr val="005C2B"/>
          </a:solidFill>
          <a:ln w="5080">
            <a:solidFill>
              <a:srgbClr val="0B1120"/>
            </a:solidFill>
            <a:prstDash val="solid"/>
          </a:ln>
        </p:spPr>
      </p:sp>
      <p:sp>
        <p:nvSpPr>
          <p:cNvPr id="169" name="Text 166"/>
          <p:cNvSpPr/>
          <p:nvPr/>
        </p:nvSpPr>
        <p:spPr>
          <a:xfrm>
            <a:off x="9326880" y="3236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550" dirty="0"/>
          </a:p>
        </p:txBody>
      </p:sp>
      <p:sp>
        <p:nvSpPr>
          <p:cNvPr id="170" name="Shape 167"/>
          <p:cNvSpPr/>
          <p:nvPr/>
        </p:nvSpPr>
        <p:spPr>
          <a:xfrm>
            <a:off x="9802368" y="3236976"/>
            <a:ext cx="457200" cy="457200"/>
          </a:xfrm>
          <a:prstGeom prst="rect">
            <a:avLst/>
          </a:prstGeom>
          <a:solidFill>
            <a:srgbClr val="111827"/>
          </a:solidFill>
          <a:ln w="5080">
            <a:solidFill>
              <a:srgbClr val="0B1120"/>
            </a:solidFill>
            <a:prstDash val="solid"/>
          </a:ln>
        </p:spPr>
      </p:sp>
      <p:sp>
        <p:nvSpPr>
          <p:cNvPr id="171" name="Text 168"/>
          <p:cNvSpPr/>
          <p:nvPr/>
        </p:nvSpPr>
        <p:spPr>
          <a:xfrm>
            <a:off x="9802368" y="3236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550" dirty="0"/>
          </a:p>
        </p:txBody>
      </p:sp>
      <p:sp>
        <p:nvSpPr>
          <p:cNvPr id="172" name="Shape 169"/>
          <p:cNvSpPr/>
          <p:nvPr/>
        </p:nvSpPr>
        <p:spPr>
          <a:xfrm>
            <a:off x="10277856" y="3236976"/>
            <a:ext cx="457200" cy="457200"/>
          </a:xfrm>
          <a:prstGeom prst="rect">
            <a:avLst/>
          </a:prstGeom>
          <a:solidFill>
            <a:srgbClr val="1A0A2E"/>
          </a:solidFill>
          <a:ln w="5080">
            <a:solidFill>
              <a:srgbClr val="0B1120"/>
            </a:solidFill>
            <a:prstDash val="solid"/>
          </a:ln>
        </p:spPr>
      </p:sp>
      <p:sp>
        <p:nvSpPr>
          <p:cNvPr id="173" name="Text 170"/>
          <p:cNvSpPr/>
          <p:nvPr/>
        </p:nvSpPr>
        <p:spPr>
          <a:xfrm>
            <a:off x="10277856" y="3236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-0.01</a:t>
            </a:r>
            <a:endParaRPr lang="en-US" sz="550" dirty="0"/>
          </a:p>
        </p:txBody>
      </p:sp>
      <p:sp>
        <p:nvSpPr>
          <p:cNvPr id="174" name="Shape 171"/>
          <p:cNvSpPr/>
          <p:nvPr/>
        </p:nvSpPr>
        <p:spPr>
          <a:xfrm>
            <a:off x="10753344" y="3236976"/>
            <a:ext cx="457200" cy="457200"/>
          </a:xfrm>
          <a:prstGeom prst="rect">
            <a:avLst/>
          </a:prstGeom>
          <a:solidFill>
            <a:srgbClr val="111827"/>
          </a:solidFill>
          <a:ln w="5080">
            <a:solidFill>
              <a:srgbClr val="0B1120"/>
            </a:solidFill>
            <a:prstDash val="solid"/>
          </a:ln>
        </p:spPr>
      </p:sp>
      <p:sp>
        <p:nvSpPr>
          <p:cNvPr id="175" name="Text 172"/>
          <p:cNvSpPr/>
          <p:nvPr/>
        </p:nvSpPr>
        <p:spPr>
          <a:xfrm>
            <a:off x="10753344" y="3236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550" dirty="0"/>
          </a:p>
        </p:txBody>
      </p:sp>
      <p:sp>
        <p:nvSpPr>
          <p:cNvPr id="176" name="Text 173"/>
          <p:cNvSpPr/>
          <p:nvPr/>
        </p:nvSpPr>
        <p:spPr>
          <a:xfrm>
            <a:off x="6894576" y="37124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</a:t>
            </a:r>
            <a:endParaRPr lang="en-US" sz="600" dirty="0"/>
          </a:p>
        </p:txBody>
      </p:sp>
      <p:sp>
        <p:nvSpPr>
          <p:cNvPr id="177" name="Shape 174"/>
          <p:cNvSpPr/>
          <p:nvPr/>
        </p:nvSpPr>
        <p:spPr>
          <a:xfrm>
            <a:off x="7424928" y="3712464"/>
            <a:ext cx="457200" cy="457200"/>
          </a:xfrm>
          <a:prstGeom prst="rect">
            <a:avLst/>
          </a:prstGeom>
          <a:solidFill>
            <a:srgbClr val="1A0A2E"/>
          </a:solidFill>
          <a:ln w="5080">
            <a:solidFill>
              <a:srgbClr val="0B1120"/>
            </a:solidFill>
            <a:prstDash val="solid"/>
          </a:ln>
        </p:spPr>
      </p:sp>
      <p:sp>
        <p:nvSpPr>
          <p:cNvPr id="178" name="Text 175"/>
          <p:cNvSpPr/>
          <p:nvPr/>
        </p:nvSpPr>
        <p:spPr>
          <a:xfrm>
            <a:off x="7424928" y="3712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-0.01</a:t>
            </a:r>
            <a:endParaRPr lang="en-US" sz="550" dirty="0"/>
          </a:p>
        </p:txBody>
      </p:sp>
      <p:sp>
        <p:nvSpPr>
          <p:cNvPr id="179" name="Shape 176"/>
          <p:cNvSpPr/>
          <p:nvPr/>
        </p:nvSpPr>
        <p:spPr>
          <a:xfrm>
            <a:off x="7900416" y="3712464"/>
            <a:ext cx="457200" cy="457200"/>
          </a:xfrm>
          <a:prstGeom prst="rect">
            <a:avLst/>
          </a:prstGeom>
          <a:solidFill>
            <a:srgbClr val="111827"/>
          </a:solidFill>
          <a:ln w="5080">
            <a:solidFill>
              <a:srgbClr val="0B1120"/>
            </a:solidFill>
            <a:prstDash val="solid"/>
          </a:ln>
        </p:spPr>
      </p:sp>
      <p:sp>
        <p:nvSpPr>
          <p:cNvPr id="180" name="Text 177"/>
          <p:cNvSpPr/>
          <p:nvPr/>
        </p:nvSpPr>
        <p:spPr>
          <a:xfrm>
            <a:off x="7900416" y="3712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550" dirty="0"/>
          </a:p>
        </p:txBody>
      </p:sp>
      <p:sp>
        <p:nvSpPr>
          <p:cNvPr id="181" name="Shape 178"/>
          <p:cNvSpPr/>
          <p:nvPr/>
        </p:nvSpPr>
        <p:spPr>
          <a:xfrm>
            <a:off x="8375904" y="3712464"/>
            <a:ext cx="457200" cy="457200"/>
          </a:xfrm>
          <a:prstGeom prst="rect">
            <a:avLst/>
          </a:prstGeom>
          <a:solidFill>
            <a:srgbClr val="1A0A2E"/>
          </a:solidFill>
          <a:ln w="5080">
            <a:solidFill>
              <a:srgbClr val="0B1120"/>
            </a:solidFill>
            <a:prstDash val="solid"/>
          </a:ln>
        </p:spPr>
      </p:sp>
      <p:sp>
        <p:nvSpPr>
          <p:cNvPr id="182" name="Text 179"/>
          <p:cNvSpPr/>
          <p:nvPr/>
        </p:nvSpPr>
        <p:spPr>
          <a:xfrm>
            <a:off x="8375904" y="3712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-0.01</a:t>
            </a:r>
            <a:endParaRPr lang="en-US" sz="550" dirty="0"/>
          </a:p>
        </p:txBody>
      </p:sp>
      <p:sp>
        <p:nvSpPr>
          <p:cNvPr id="183" name="Shape 180"/>
          <p:cNvSpPr/>
          <p:nvPr/>
        </p:nvSpPr>
        <p:spPr>
          <a:xfrm>
            <a:off x="8851392" y="3712464"/>
            <a:ext cx="457200" cy="457200"/>
          </a:xfrm>
          <a:prstGeom prst="rect">
            <a:avLst/>
          </a:prstGeom>
          <a:solidFill>
            <a:srgbClr val="1A0A2E"/>
          </a:solidFill>
          <a:ln w="5080">
            <a:solidFill>
              <a:srgbClr val="0B1120"/>
            </a:solidFill>
            <a:prstDash val="solid"/>
          </a:ln>
        </p:spPr>
      </p:sp>
      <p:sp>
        <p:nvSpPr>
          <p:cNvPr id="184" name="Text 181"/>
          <p:cNvSpPr/>
          <p:nvPr/>
        </p:nvSpPr>
        <p:spPr>
          <a:xfrm>
            <a:off x="8851392" y="3712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-0.01</a:t>
            </a:r>
            <a:endParaRPr lang="en-US" sz="550" dirty="0"/>
          </a:p>
        </p:txBody>
      </p:sp>
      <p:sp>
        <p:nvSpPr>
          <p:cNvPr id="185" name="Shape 182"/>
          <p:cNvSpPr/>
          <p:nvPr/>
        </p:nvSpPr>
        <p:spPr>
          <a:xfrm>
            <a:off x="9326880" y="3712464"/>
            <a:ext cx="457200" cy="457200"/>
          </a:xfrm>
          <a:prstGeom prst="rect">
            <a:avLst/>
          </a:prstGeom>
          <a:solidFill>
            <a:srgbClr val="111827"/>
          </a:solidFill>
          <a:ln w="5080">
            <a:solidFill>
              <a:srgbClr val="0B1120"/>
            </a:solidFill>
            <a:prstDash val="solid"/>
          </a:ln>
        </p:spPr>
      </p:sp>
      <p:sp>
        <p:nvSpPr>
          <p:cNvPr id="186" name="Text 183"/>
          <p:cNvSpPr/>
          <p:nvPr/>
        </p:nvSpPr>
        <p:spPr>
          <a:xfrm>
            <a:off x="9326880" y="3712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550" dirty="0"/>
          </a:p>
        </p:txBody>
      </p:sp>
      <p:sp>
        <p:nvSpPr>
          <p:cNvPr id="187" name="Shape 184"/>
          <p:cNvSpPr/>
          <p:nvPr/>
        </p:nvSpPr>
        <p:spPr>
          <a:xfrm>
            <a:off x="9802368" y="3712464"/>
            <a:ext cx="457200" cy="457200"/>
          </a:xfrm>
          <a:prstGeom prst="rect">
            <a:avLst/>
          </a:prstGeom>
          <a:solidFill>
            <a:srgbClr val="005C2B"/>
          </a:solidFill>
          <a:ln w="5080">
            <a:solidFill>
              <a:srgbClr val="0B1120"/>
            </a:solidFill>
            <a:prstDash val="solid"/>
          </a:ln>
        </p:spPr>
      </p:sp>
      <p:sp>
        <p:nvSpPr>
          <p:cNvPr id="188" name="Text 185"/>
          <p:cNvSpPr/>
          <p:nvPr/>
        </p:nvSpPr>
        <p:spPr>
          <a:xfrm>
            <a:off x="9802368" y="3712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550" dirty="0"/>
          </a:p>
        </p:txBody>
      </p:sp>
      <p:sp>
        <p:nvSpPr>
          <p:cNvPr id="189" name="Shape 186"/>
          <p:cNvSpPr/>
          <p:nvPr/>
        </p:nvSpPr>
        <p:spPr>
          <a:xfrm>
            <a:off x="10277856" y="3712464"/>
            <a:ext cx="457200" cy="457200"/>
          </a:xfrm>
          <a:prstGeom prst="rect">
            <a:avLst/>
          </a:prstGeom>
          <a:solidFill>
            <a:srgbClr val="111827"/>
          </a:solidFill>
          <a:ln w="5080">
            <a:solidFill>
              <a:srgbClr val="0B1120"/>
            </a:solidFill>
            <a:prstDash val="solid"/>
          </a:ln>
        </p:spPr>
      </p:sp>
      <p:sp>
        <p:nvSpPr>
          <p:cNvPr id="190" name="Text 187"/>
          <p:cNvSpPr/>
          <p:nvPr/>
        </p:nvSpPr>
        <p:spPr>
          <a:xfrm>
            <a:off x="10277856" y="3712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</a:t>
            </a:r>
            <a:endParaRPr lang="en-US" sz="550" dirty="0"/>
          </a:p>
        </p:txBody>
      </p:sp>
      <p:sp>
        <p:nvSpPr>
          <p:cNvPr id="191" name="Shape 188"/>
          <p:cNvSpPr/>
          <p:nvPr/>
        </p:nvSpPr>
        <p:spPr>
          <a:xfrm>
            <a:off x="10753344" y="3712464"/>
            <a:ext cx="457200" cy="457200"/>
          </a:xfrm>
          <a:prstGeom prst="rect">
            <a:avLst/>
          </a:prstGeom>
          <a:solidFill>
            <a:srgbClr val="111827"/>
          </a:solidFill>
          <a:ln w="5080">
            <a:solidFill>
              <a:srgbClr val="0B1120"/>
            </a:solidFill>
            <a:prstDash val="solid"/>
          </a:ln>
        </p:spPr>
      </p:sp>
      <p:sp>
        <p:nvSpPr>
          <p:cNvPr id="192" name="Text 189"/>
          <p:cNvSpPr/>
          <p:nvPr/>
        </p:nvSpPr>
        <p:spPr>
          <a:xfrm>
            <a:off x="10753344" y="3712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</a:t>
            </a:r>
            <a:endParaRPr lang="en-US" sz="550" dirty="0"/>
          </a:p>
        </p:txBody>
      </p:sp>
      <p:sp>
        <p:nvSpPr>
          <p:cNvPr id="193" name="Text 190"/>
          <p:cNvSpPr/>
          <p:nvPr/>
        </p:nvSpPr>
        <p:spPr>
          <a:xfrm>
            <a:off x="6894576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</a:t>
            </a:r>
            <a:endParaRPr lang="en-US" sz="600" dirty="0"/>
          </a:p>
        </p:txBody>
      </p:sp>
      <p:sp>
        <p:nvSpPr>
          <p:cNvPr id="194" name="Shape 191"/>
          <p:cNvSpPr/>
          <p:nvPr/>
        </p:nvSpPr>
        <p:spPr>
          <a:xfrm>
            <a:off x="7424928" y="4187952"/>
            <a:ext cx="457200" cy="457200"/>
          </a:xfrm>
          <a:prstGeom prst="rect">
            <a:avLst/>
          </a:prstGeom>
          <a:solidFill>
            <a:srgbClr val="111827"/>
          </a:solidFill>
          <a:ln w="5080">
            <a:solidFill>
              <a:srgbClr val="0B1120"/>
            </a:solidFill>
            <a:prstDash val="solid"/>
          </a:ln>
        </p:spPr>
      </p:sp>
      <p:sp>
        <p:nvSpPr>
          <p:cNvPr id="195" name="Text 192"/>
          <p:cNvSpPr/>
          <p:nvPr/>
        </p:nvSpPr>
        <p:spPr>
          <a:xfrm>
            <a:off x="7424928" y="4187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</a:t>
            </a:r>
            <a:endParaRPr lang="en-US" sz="550" dirty="0"/>
          </a:p>
        </p:txBody>
      </p:sp>
      <p:sp>
        <p:nvSpPr>
          <p:cNvPr id="196" name="Shape 193"/>
          <p:cNvSpPr/>
          <p:nvPr/>
        </p:nvSpPr>
        <p:spPr>
          <a:xfrm>
            <a:off x="7900416" y="4187952"/>
            <a:ext cx="457200" cy="457200"/>
          </a:xfrm>
          <a:prstGeom prst="rect">
            <a:avLst/>
          </a:prstGeom>
          <a:solidFill>
            <a:srgbClr val="1A0A2E"/>
          </a:solidFill>
          <a:ln w="5080">
            <a:solidFill>
              <a:srgbClr val="0B1120"/>
            </a:solidFill>
            <a:prstDash val="solid"/>
          </a:ln>
        </p:spPr>
      </p:sp>
      <p:sp>
        <p:nvSpPr>
          <p:cNvPr id="197" name="Text 194"/>
          <p:cNvSpPr/>
          <p:nvPr/>
        </p:nvSpPr>
        <p:spPr>
          <a:xfrm>
            <a:off x="7900416" y="4187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-0.01</a:t>
            </a:r>
            <a:endParaRPr lang="en-US" sz="550" dirty="0"/>
          </a:p>
        </p:txBody>
      </p:sp>
      <p:sp>
        <p:nvSpPr>
          <p:cNvPr id="198" name="Shape 195"/>
          <p:cNvSpPr/>
          <p:nvPr/>
        </p:nvSpPr>
        <p:spPr>
          <a:xfrm>
            <a:off x="8375904" y="4187952"/>
            <a:ext cx="457200" cy="457200"/>
          </a:xfrm>
          <a:prstGeom prst="rect">
            <a:avLst/>
          </a:prstGeom>
          <a:solidFill>
            <a:srgbClr val="111827"/>
          </a:solidFill>
          <a:ln w="5080">
            <a:solidFill>
              <a:srgbClr val="0B1120"/>
            </a:solidFill>
            <a:prstDash val="solid"/>
          </a:ln>
        </p:spPr>
      </p:sp>
      <p:sp>
        <p:nvSpPr>
          <p:cNvPr id="199" name="Text 196"/>
          <p:cNvSpPr/>
          <p:nvPr/>
        </p:nvSpPr>
        <p:spPr>
          <a:xfrm>
            <a:off x="8375904" y="4187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</a:t>
            </a:r>
            <a:endParaRPr lang="en-US" sz="550" dirty="0"/>
          </a:p>
        </p:txBody>
      </p:sp>
      <p:sp>
        <p:nvSpPr>
          <p:cNvPr id="200" name="Shape 197"/>
          <p:cNvSpPr/>
          <p:nvPr/>
        </p:nvSpPr>
        <p:spPr>
          <a:xfrm>
            <a:off x="8851392" y="4187952"/>
            <a:ext cx="457200" cy="457200"/>
          </a:xfrm>
          <a:prstGeom prst="rect">
            <a:avLst/>
          </a:prstGeom>
          <a:solidFill>
            <a:srgbClr val="1A0A2E"/>
          </a:solidFill>
          <a:ln w="5080">
            <a:solidFill>
              <a:srgbClr val="0B1120"/>
            </a:solidFill>
            <a:prstDash val="solid"/>
          </a:ln>
        </p:spPr>
      </p:sp>
      <p:sp>
        <p:nvSpPr>
          <p:cNvPr id="201" name="Text 198"/>
          <p:cNvSpPr/>
          <p:nvPr/>
        </p:nvSpPr>
        <p:spPr>
          <a:xfrm>
            <a:off x="8851392" y="4187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-0.01</a:t>
            </a:r>
            <a:endParaRPr lang="en-US" sz="550" dirty="0"/>
          </a:p>
        </p:txBody>
      </p:sp>
      <p:sp>
        <p:nvSpPr>
          <p:cNvPr id="202" name="Shape 199"/>
          <p:cNvSpPr/>
          <p:nvPr/>
        </p:nvSpPr>
        <p:spPr>
          <a:xfrm>
            <a:off x="9326880" y="4187952"/>
            <a:ext cx="457200" cy="457200"/>
          </a:xfrm>
          <a:prstGeom prst="rect">
            <a:avLst/>
          </a:prstGeom>
          <a:solidFill>
            <a:srgbClr val="1A0A2E"/>
          </a:solidFill>
          <a:ln w="5080">
            <a:solidFill>
              <a:srgbClr val="0B1120"/>
            </a:solidFill>
            <a:prstDash val="solid"/>
          </a:ln>
        </p:spPr>
      </p:sp>
      <p:sp>
        <p:nvSpPr>
          <p:cNvPr id="203" name="Text 200"/>
          <p:cNvSpPr/>
          <p:nvPr/>
        </p:nvSpPr>
        <p:spPr>
          <a:xfrm>
            <a:off x="9326880" y="4187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-0.01</a:t>
            </a:r>
            <a:endParaRPr lang="en-US" sz="550" dirty="0"/>
          </a:p>
        </p:txBody>
      </p:sp>
      <p:sp>
        <p:nvSpPr>
          <p:cNvPr id="204" name="Shape 201"/>
          <p:cNvSpPr/>
          <p:nvPr/>
        </p:nvSpPr>
        <p:spPr>
          <a:xfrm>
            <a:off x="9802368" y="4187952"/>
            <a:ext cx="457200" cy="457200"/>
          </a:xfrm>
          <a:prstGeom prst="rect">
            <a:avLst/>
          </a:prstGeom>
          <a:solidFill>
            <a:srgbClr val="111827"/>
          </a:solidFill>
          <a:ln w="5080">
            <a:solidFill>
              <a:srgbClr val="0B1120"/>
            </a:solidFill>
            <a:prstDash val="solid"/>
          </a:ln>
        </p:spPr>
      </p:sp>
      <p:sp>
        <p:nvSpPr>
          <p:cNvPr id="205" name="Text 202"/>
          <p:cNvSpPr/>
          <p:nvPr/>
        </p:nvSpPr>
        <p:spPr>
          <a:xfrm>
            <a:off x="9802368" y="4187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</a:t>
            </a:r>
            <a:endParaRPr lang="en-US" sz="550" dirty="0"/>
          </a:p>
        </p:txBody>
      </p:sp>
      <p:sp>
        <p:nvSpPr>
          <p:cNvPr id="206" name="Shape 203"/>
          <p:cNvSpPr/>
          <p:nvPr/>
        </p:nvSpPr>
        <p:spPr>
          <a:xfrm>
            <a:off x="10277856" y="4187952"/>
            <a:ext cx="457200" cy="457200"/>
          </a:xfrm>
          <a:prstGeom prst="rect">
            <a:avLst/>
          </a:prstGeom>
          <a:solidFill>
            <a:srgbClr val="005C2B"/>
          </a:solidFill>
          <a:ln w="5080">
            <a:solidFill>
              <a:srgbClr val="0B1120"/>
            </a:solidFill>
            <a:prstDash val="solid"/>
          </a:ln>
        </p:spPr>
      </p:sp>
      <p:sp>
        <p:nvSpPr>
          <p:cNvPr id="207" name="Text 204"/>
          <p:cNvSpPr/>
          <p:nvPr/>
        </p:nvSpPr>
        <p:spPr>
          <a:xfrm>
            <a:off x="10277856" y="4187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550" dirty="0"/>
          </a:p>
        </p:txBody>
      </p:sp>
      <p:sp>
        <p:nvSpPr>
          <p:cNvPr id="208" name="Shape 205"/>
          <p:cNvSpPr/>
          <p:nvPr/>
        </p:nvSpPr>
        <p:spPr>
          <a:xfrm>
            <a:off x="10753344" y="4187952"/>
            <a:ext cx="457200" cy="457200"/>
          </a:xfrm>
          <a:prstGeom prst="rect">
            <a:avLst/>
          </a:prstGeom>
          <a:solidFill>
            <a:srgbClr val="1A0A2E"/>
          </a:solidFill>
          <a:ln w="5080">
            <a:solidFill>
              <a:srgbClr val="0B1120"/>
            </a:solidFill>
            <a:prstDash val="solid"/>
          </a:ln>
        </p:spPr>
      </p:sp>
      <p:sp>
        <p:nvSpPr>
          <p:cNvPr id="209" name="Text 206"/>
          <p:cNvSpPr/>
          <p:nvPr/>
        </p:nvSpPr>
        <p:spPr>
          <a:xfrm>
            <a:off x="10753344" y="4187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-0.01</a:t>
            </a:r>
            <a:endParaRPr lang="en-US" sz="550" dirty="0"/>
          </a:p>
        </p:txBody>
      </p:sp>
      <p:sp>
        <p:nvSpPr>
          <p:cNvPr id="210" name="Text 207"/>
          <p:cNvSpPr/>
          <p:nvPr/>
        </p:nvSpPr>
        <p:spPr>
          <a:xfrm>
            <a:off x="6894576" y="4663440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600" dirty="0"/>
          </a:p>
        </p:txBody>
      </p:sp>
      <p:sp>
        <p:nvSpPr>
          <p:cNvPr id="211" name="Shape 208"/>
          <p:cNvSpPr/>
          <p:nvPr/>
        </p:nvSpPr>
        <p:spPr>
          <a:xfrm>
            <a:off x="7424928" y="4663440"/>
            <a:ext cx="457200" cy="457200"/>
          </a:xfrm>
          <a:prstGeom prst="rect">
            <a:avLst/>
          </a:prstGeom>
          <a:solidFill>
            <a:srgbClr val="111827"/>
          </a:solidFill>
          <a:ln w="5080">
            <a:solidFill>
              <a:srgbClr val="0B1120"/>
            </a:solidFill>
            <a:prstDash val="solid"/>
          </a:ln>
        </p:spPr>
      </p:sp>
      <p:sp>
        <p:nvSpPr>
          <p:cNvPr id="212" name="Text 209"/>
          <p:cNvSpPr/>
          <p:nvPr/>
        </p:nvSpPr>
        <p:spPr>
          <a:xfrm>
            <a:off x="7424928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</a:t>
            </a:r>
            <a:endParaRPr lang="en-US" sz="550" dirty="0"/>
          </a:p>
        </p:txBody>
      </p:sp>
      <p:sp>
        <p:nvSpPr>
          <p:cNvPr id="213" name="Shape 210"/>
          <p:cNvSpPr/>
          <p:nvPr/>
        </p:nvSpPr>
        <p:spPr>
          <a:xfrm>
            <a:off x="7900416" y="4663440"/>
            <a:ext cx="457200" cy="457200"/>
          </a:xfrm>
          <a:prstGeom prst="rect">
            <a:avLst/>
          </a:prstGeom>
          <a:solidFill>
            <a:srgbClr val="111827"/>
          </a:solidFill>
          <a:ln w="5080">
            <a:solidFill>
              <a:srgbClr val="0B1120"/>
            </a:solidFill>
            <a:prstDash val="solid"/>
          </a:ln>
        </p:spPr>
      </p:sp>
      <p:sp>
        <p:nvSpPr>
          <p:cNvPr id="214" name="Text 211"/>
          <p:cNvSpPr/>
          <p:nvPr/>
        </p:nvSpPr>
        <p:spPr>
          <a:xfrm>
            <a:off x="7900416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</a:t>
            </a:r>
            <a:endParaRPr lang="en-US" sz="550" dirty="0"/>
          </a:p>
        </p:txBody>
      </p:sp>
      <p:sp>
        <p:nvSpPr>
          <p:cNvPr id="215" name="Shape 212"/>
          <p:cNvSpPr/>
          <p:nvPr/>
        </p:nvSpPr>
        <p:spPr>
          <a:xfrm>
            <a:off x="8375904" y="4663440"/>
            <a:ext cx="457200" cy="457200"/>
          </a:xfrm>
          <a:prstGeom prst="rect">
            <a:avLst/>
          </a:prstGeom>
          <a:solidFill>
            <a:srgbClr val="111827"/>
          </a:solidFill>
          <a:ln w="5080">
            <a:solidFill>
              <a:srgbClr val="0B1120"/>
            </a:solidFill>
            <a:prstDash val="solid"/>
          </a:ln>
        </p:spPr>
      </p:sp>
      <p:sp>
        <p:nvSpPr>
          <p:cNvPr id="216" name="Text 213"/>
          <p:cNvSpPr/>
          <p:nvPr/>
        </p:nvSpPr>
        <p:spPr>
          <a:xfrm>
            <a:off x="8375904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</a:t>
            </a:r>
            <a:endParaRPr lang="en-US" sz="550" dirty="0"/>
          </a:p>
        </p:txBody>
      </p:sp>
      <p:sp>
        <p:nvSpPr>
          <p:cNvPr id="217" name="Shape 214"/>
          <p:cNvSpPr/>
          <p:nvPr/>
        </p:nvSpPr>
        <p:spPr>
          <a:xfrm>
            <a:off x="8851392" y="4663440"/>
            <a:ext cx="457200" cy="457200"/>
          </a:xfrm>
          <a:prstGeom prst="rect">
            <a:avLst/>
          </a:prstGeom>
          <a:solidFill>
            <a:srgbClr val="111827"/>
          </a:solidFill>
          <a:ln w="5080">
            <a:solidFill>
              <a:srgbClr val="0B1120"/>
            </a:solidFill>
            <a:prstDash val="solid"/>
          </a:ln>
        </p:spPr>
      </p:sp>
      <p:sp>
        <p:nvSpPr>
          <p:cNvPr id="218" name="Text 215"/>
          <p:cNvSpPr/>
          <p:nvPr/>
        </p:nvSpPr>
        <p:spPr>
          <a:xfrm>
            <a:off x="8851392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</a:t>
            </a:r>
            <a:endParaRPr lang="en-US" sz="550" dirty="0"/>
          </a:p>
        </p:txBody>
      </p:sp>
      <p:sp>
        <p:nvSpPr>
          <p:cNvPr id="219" name="Shape 216"/>
          <p:cNvSpPr/>
          <p:nvPr/>
        </p:nvSpPr>
        <p:spPr>
          <a:xfrm>
            <a:off x="9326880" y="4663440"/>
            <a:ext cx="457200" cy="457200"/>
          </a:xfrm>
          <a:prstGeom prst="rect">
            <a:avLst/>
          </a:prstGeom>
          <a:solidFill>
            <a:srgbClr val="111827"/>
          </a:solidFill>
          <a:ln w="5080">
            <a:solidFill>
              <a:srgbClr val="0B1120"/>
            </a:solidFill>
            <a:prstDash val="solid"/>
          </a:ln>
        </p:spPr>
      </p:sp>
      <p:sp>
        <p:nvSpPr>
          <p:cNvPr id="220" name="Text 217"/>
          <p:cNvSpPr/>
          <p:nvPr/>
        </p:nvSpPr>
        <p:spPr>
          <a:xfrm>
            <a:off x="932688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550" dirty="0"/>
          </a:p>
        </p:txBody>
      </p:sp>
      <p:sp>
        <p:nvSpPr>
          <p:cNvPr id="221" name="Shape 218"/>
          <p:cNvSpPr/>
          <p:nvPr/>
        </p:nvSpPr>
        <p:spPr>
          <a:xfrm>
            <a:off x="9802368" y="4663440"/>
            <a:ext cx="457200" cy="457200"/>
          </a:xfrm>
          <a:prstGeom prst="rect">
            <a:avLst/>
          </a:prstGeom>
          <a:solidFill>
            <a:srgbClr val="111827"/>
          </a:solidFill>
          <a:ln w="5080">
            <a:solidFill>
              <a:srgbClr val="0B1120"/>
            </a:solidFill>
            <a:prstDash val="solid"/>
          </a:ln>
        </p:spPr>
      </p:sp>
      <p:sp>
        <p:nvSpPr>
          <p:cNvPr id="222" name="Text 219"/>
          <p:cNvSpPr/>
          <p:nvPr/>
        </p:nvSpPr>
        <p:spPr>
          <a:xfrm>
            <a:off x="9802368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</a:t>
            </a:r>
            <a:endParaRPr lang="en-US" sz="550" dirty="0"/>
          </a:p>
        </p:txBody>
      </p:sp>
      <p:sp>
        <p:nvSpPr>
          <p:cNvPr id="223" name="Shape 220"/>
          <p:cNvSpPr/>
          <p:nvPr/>
        </p:nvSpPr>
        <p:spPr>
          <a:xfrm>
            <a:off x="10277856" y="4663440"/>
            <a:ext cx="457200" cy="457200"/>
          </a:xfrm>
          <a:prstGeom prst="rect">
            <a:avLst/>
          </a:prstGeom>
          <a:solidFill>
            <a:srgbClr val="1A0A2E"/>
          </a:solidFill>
          <a:ln w="5080">
            <a:solidFill>
              <a:srgbClr val="0B1120"/>
            </a:solidFill>
            <a:prstDash val="solid"/>
          </a:ln>
        </p:spPr>
      </p:sp>
      <p:sp>
        <p:nvSpPr>
          <p:cNvPr id="224" name="Text 221"/>
          <p:cNvSpPr/>
          <p:nvPr/>
        </p:nvSpPr>
        <p:spPr>
          <a:xfrm>
            <a:off x="10277856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-0.01</a:t>
            </a:r>
            <a:endParaRPr lang="en-US" sz="550" dirty="0"/>
          </a:p>
        </p:txBody>
      </p:sp>
      <p:sp>
        <p:nvSpPr>
          <p:cNvPr id="225" name="Shape 222"/>
          <p:cNvSpPr/>
          <p:nvPr/>
        </p:nvSpPr>
        <p:spPr>
          <a:xfrm>
            <a:off x="10753344" y="4663440"/>
            <a:ext cx="457200" cy="457200"/>
          </a:xfrm>
          <a:prstGeom prst="rect">
            <a:avLst/>
          </a:prstGeom>
          <a:solidFill>
            <a:srgbClr val="005C2B"/>
          </a:solidFill>
          <a:ln w="5080">
            <a:solidFill>
              <a:srgbClr val="0B1120"/>
            </a:solidFill>
            <a:prstDash val="solid"/>
          </a:ln>
        </p:spPr>
      </p:sp>
      <p:sp>
        <p:nvSpPr>
          <p:cNvPr id="226" name="Text 223"/>
          <p:cNvSpPr/>
          <p:nvPr/>
        </p:nvSpPr>
        <p:spPr>
          <a:xfrm>
            <a:off x="10753344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550" dirty="0"/>
          </a:p>
        </p:txBody>
      </p:sp>
      <p:sp>
        <p:nvSpPr>
          <p:cNvPr id="227" name="Text 224"/>
          <p:cNvSpPr/>
          <p:nvPr/>
        </p:nvSpPr>
        <p:spPr>
          <a:xfrm>
            <a:off x="6967728" y="3895344"/>
            <a:ext cx="4956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Near-zero correlations — all variables are independent. No multicollinearity.</a:t>
            </a:r>
            <a:endParaRPr lang="en-US" sz="750" dirty="0"/>
          </a:p>
        </p:txBody>
      </p:sp>
      <p:sp>
        <p:nvSpPr>
          <p:cNvPr id="228" name="Shape 225"/>
          <p:cNvSpPr/>
          <p:nvPr/>
        </p:nvSpPr>
        <p:spPr>
          <a:xfrm>
            <a:off x="164592" y="4169664"/>
            <a:ext cx="3822192" cy="2578608"/>
          </a:xfrm>
          <a:prstGeom prst="roundRect">
            <a:avLst>
              <a:gd name="adj" fmla="val 4255"/>
            </a:avLst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sp>
        <p:nvSpPr>
          <p:cNvPr id="229" name="Text 226"/>
          <p:cNvSpPr/>
          <p:nvPr/>
        </p:nvSpPr>
        <p:spPr>
          <a:xfrm>
            <a:off x="347472" y="4242816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Percentile Distribution</a:t>
            </a:r>
            <a:endParaRPr lang="en-US" sz="950" dirty="0"/>
          </a:p>
        </p:txBody>
      </p:sp>
      <p:graphicFrame>
        <p:nvGraphicFramePr>
          <p:cNvPr id="230" name="Chart 0" descr=""/>
          <p:cNvGraphicFramePr/>
          <p:nvPr/>
        </p:nvGraphicFramePr>
        <p:xfrm>
          <a:off x="164592" y="4480560"/>
          <a:ext cx="3822192" cy="223113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31" name="Shape 227"/>
          <p:cNvSpPr/>
          <p:nvPr/>
        </p:nvSpPr>
        <p:spPr>
          <a:xfrm>
            <a:off x="4169664" y="4169664"/>
            <a:ext cx="3822192" cy="2578608"/>
          </a:xfrm>
          <a:prstGeom prst="roundRect">
            <a:avLst>
              <a:gd name="adj" fmla="val 4255"/>
            </a:avLst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sp>
        <p:nvSpPr>
          <p:cNvPr id="232" name="Text 228"/>
          <p:cNvSpPr/>
          <p:nvPr/>
        </p:nvSpPr>
        <p:spPr>
          <a:xfrm>
            <a:off x="4352544" y="4242816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Risk Score by Experience</a:t>
            </a:r>
            <a:endParaRPr lang="en-US" sz="950" dirty="0"/>
          </a:p>
        </p:txBody>
      </p:sp>
      <p:graphicFrame>
        <p:nvGraphicFramePr>
          <p:cNvPr id="233" name="Chart 1" descr=""/>
          <p:cNvGraphicFramePr/>
          <p:nvPr/>
        </p:nvGraphicFramePr>
        <p:xfrm>
          <a:off x="4169664" y="4480560"/>
          <a:ext cx="3822192" cy="223113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4" name="Shape 229"/>
          <p:cNvSpPr/>
          <p:nvPr/>
        </p:nvSpPr>
        <p:spPr>
          <a:xfrm>
            <a:off x="8174736" y="4169664"/>
            <a:ext cx="3822192" cy="2578608"/>
          </a:xfrm>
          <a:prstGeom prst="roundRect">
            <a:avLst>
              <a:gd name="adj" fmla="val 4255"/>
            </a:avLst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sp>
        <p:nvSpPr>
          <p:cNvPr id="235" name="Text 230"/>
          <p:cNvSpPr/>
          <p:nvPr/>
        </p:nvSpPr>
        <p:spPr>
          <a:xfrm>
            <a:off x="8357616" y="4242816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 Analysis — Near-Zero Distribution</a:t>
            </a:r>
            <a:endParaRPr lang="en-US" sz="950" dirty="0"/>
          </a:p>
        </p:txBody>
      </p:sp>
      <p:graphicFrame>
        <p:nvGraphicFramePr>
          <p:cNvPr id="236" name="Chart 2" descr=""/>
          <p:cNvGraphicFramePr/>
          <p:nvPr/>
        </p:nvGraphicFramePr>
        <p:xfrm>
          <a:off x="8174736" y="4480560"/>
          <a:ext cx="3822192" cy="223113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12161520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91440"/>
            <a:ext cx="457200" cy="45720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459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8096" y="64008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TECHNIQUES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68096" y="393192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Chart Types Used · Purpose · Best-Use Cases · Examples from This Project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11338560" y="128016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06B6D4">
              <a:alpha val="20000"/>
            </a:srgbClr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338560" y="12801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164592" y="768096"/>
            <a:ext cx="2834640" cy="2798064"/>
          </a:xfrm>
          <a:prstGeom prst="roundRect">
            <a:avLst>
              <a:gd name="adj" fmla="val 3922"/>
            </a:avLst>
          </a:prstGeom>
          <a:solidFill>
            <a:srgbClr val="111827"/>
          </a:solidFill>
          <a:ln w="9525">
            <a:solidFill>
              <a:srgbClr val="22D3EE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914400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86384" y="896112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292608" y="1408176"/>
            <a:ext cx="2578608" cy="0"/>
          </a:xfrm>
          <a:prstGeom prst="line">
            <a:avLst/>
          </a:prstGeom>
          <a:noFill/>
          <a:ln w="6350">
            <a:solidFill>
              <a:srgbClr val="22D3EE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10896" y="1463040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spc="3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600" dirty="0"/>
          </a:p>
        </p:txBody>
      </p:sp>
      <p:sp>
        <p:nvSpPr>
          <p:cNvPr id="15" name="Text 11"/>
          <p:cNvSpPr/>
          <p:nvPr/>
        </p:nvSpPr>
        <p:spPr>
          <a:xfrm>
            <a:off x="310896" y="164592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values across categories</a:t>
            </a:r>
            <a:endParaRPr lang="en-US" sz="820" dirty="0"/>
          </a:p>
        </p:txBody>
      </p:sp>
      <p:sp>
        <p:nvSpPr>
          <p:cNvPr id="16" name="Text 12"/>
          <p:cNvSpPr/>
          <p:nvPr/>
        </p:nvSpPr>
        <p:spPr>
          <a:xfrm>
            <a:off x="310896" y="2121408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spc="3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</a:t>
            </a:r>
            <a:endParaRPr lang="en-US" sz="600" dirty="0"/>
          </a:p>
        </p:txBody>
      </p:sp>
      <p:sp>
        <p:nvSpPr>
          <p:cNvPr id="17" name="Text 13"/>
          <p:cNvSpPr/>
          <p:nvPr/>
        </p:nvSpPr>
        <p:spPr>
          <a:xfrm>
            <a:off x="310896" y="230428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AI risk, country salaries</a:t>
            </a:r>
            <a:endParaRPr lang="en-US" sz="820" dirty="0"/>
          </a:p>
        </p:txBody>
      </p:sp>
      <p:sp>
        <p:nvSpPr>
          <p:cNvPr id="18" name="Text 14"/>
          <p:cNvSpPr/>
          <p:nvPr/>
        </p:nvSpPr>
        <p:spPr>
          <a:xfrm>
            <a:off x="310896" y="2779776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spc="3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</a:t>
            </a:r>
            <a:endParaRPr lang="en-US" sz="600" dirty="0"/>
          </a:p>
        </p:txBody>
      </p:sp>
      <p:sp>
        <p:nvSpPr>
          <p:cNvPr id="19" name="Text 15"/>
          <p:cNvSpPr/>
          <p:nvPr/>
        </p:nvSpPr>
        <p:spPr>
          <a:xfrm>
            <a:off x="310896" y="296265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 categories needing ranked comparison</a:t>
            </a:r>
            <a:endParaRPr lang="en-US" sz="820" dirty="0"/>
          </a:p>
        </p:txBody>
      </p:sp>
      <p:sp>
        <p:nvSpPr>
          <p:cNvPr id="20" name="Shape 16"/>
          <p:cNvSpPr/>
          <p:nvPr/>
        </p:nvSpPr>
        <p:spPr>
          <a:xfrm>
            <a:off x="3163824" y="768096"/>
            <a:ext cx="2834640" cy="2798064"/>
          </a:xfrm>
          <a:prstGeom prst="roundRect">
            <a:avLst>
              <a:gd name="adj" fmla="val 3922"/>
            </a:avLst>
          </a:prstGeom>
          <a:solidFill>
            <a:srgbClr val="111827"/>
          </a:solidFill>
          <a:ln w="9525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128" y="914400"/>
            <a:ext cx="402336" cy="40233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785616" y="896112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3291840" y="1408176"/>
            <a:ext cx="2578608" cy="0"/>
          </a:xfrm>
          <a:prstGeom prst="line">
            <a:avLst/>
          </a:prstGeom>
          <a:noFill/>
          <a:ln w="6350">
            <a:solidFill>
              <a:srgbClr val="F59E0B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3310128" y="1463040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spc="3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600" dirty="0"/>
          </a:p>
        </p:txBody>
      </p:sp>
      <p:sp>
        <p:nvSpPr>
          <p:cNvPr id="25" name="Text 20"/>
          <p:cNvSpPr/>
          <p:nvPr/>
        </p:nvSpPr>
        <p:spPr>
          <a:xfrm>
            <a:off x="3310128" y="164592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ordered data vertically</a:t>
            </a:r>
            <a:endParaRPr lang="en-US" sz="820" dirty="0"/>
          </a:p>
        </p:txBody>
      </p:sp>
      <p:sp>
        <p:nvSpPr>
          <p:cNvPr id="26" name="Text 21"/>
          <p:cNvSpPr/>
          <p:nvPr/>
        </p:nvSpPr>
        <p:spPr>
          <a:xfrm>
            <a:off x="3310128" y="2121408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spc="3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</a:t>
            </a:r>
            <a:endParaRPr lang="en-US" sz="600" dirty="0"/>
          </a:p>
        </p:txBody>
      </p:sp>
      <p:sp>
        <p:nvSpPr>
          <p:cNvPr id="27" name="Text 22"/>
          <p:cNvSpPr/>
          <p:nvPr/>
        </p:nvSpPr>
        <p:spPr>
          <a:xfrm>
            <a:off x="3310128" y="230428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growth by industry, salary by education</a:t>
            </a:r>
            <a:endParaRPr lang="en-US" sz="820" dirty="0"/>
          </a:p>
        </p:txBody>
      </p:sp>
      <p:sp>
        <p:nvSpPr>
          <p:cNvPr id="28" name="Text 23"/>
          <p:cNvSpPr/>
          <p:nvPr/>
        </p:nvSpPr>
        <p:spPr>
          <a:xfrm>
            <a:off x="3310128" y="2779776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spc="3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</a:t>
            </a:r>
            <a:endParaRPr lang="en-US" sz="600" dirty="0"/>
          </a:p>
        </p:txBody>
      </p:sp>
      <p:sp>
        <p:nvSpPr>
          <p:cNvPr id="29" name="Text 24"/>
          <p:cNvSpPr/>
          <p:nvPr/>
        </p:nvSpPr>
        <p:spPr>
          <a:xfrm>
            <a:off x="3310128" y="296265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and ordered rankings</a:t>
            </a:r>
            <a:endParaRPr lang="en-US" sz="820" dirty="0"/>
          </a:p>
        </p:txBody>
      </p:sp>
      <p:sp>
        <p:nvSpPr>
          <p:cNvPr id="30" name="Shape 25"/>
          <p:cNvSpPr/>
          <p:nvPr/>
        </p:nvSpPr>
        <p:spPr>
          <a:xfrm>
            <a:off x="6163056" y="768096"/>
            <a:ext cx="2834640" cy="2798064"/>
          </a:xfrm>
          <a:prstGeom prst="roundRect">
            <a:avLst>
              <a:gd name="adj" fmla="val 3922"/>
            </a:avLst>
          </a:prstGeom>
          <a:solidFill>
            <a:srgbClr val="111827"/>
          </a:solidFill>
          <a:ln w="9525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914400"/>
            <a:ext cx="402336" cy="402336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784848" y="896112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6291072" y="1408176"/>
            <a:ext cx="2578608" cy="0"/>
          </a:xfrm>
          <a:prstGeom prst="line">
            <a:avLst/>
          </a:prstGeom>
          <a:noFill/>
          <a:ln w="6350">
            <a:solidFill>
              <a:srgbClr val="10B981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6309360" y="1463040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spc="3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600" dirty="0"/>
          </a:p>
        </p:txBody>
      </p:sp>
      <p:sp>
        <p:nvSpPr>
          <p:cNvPr id="35" name="Text 29"/>
          <p:cNvSpPr/>
          <p:nvPr/>
        </p:nvSpPr>
        <p:spPr>
          <a:xfrm>
            <a:off x="6309360" y="164592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trends and continuity</a:t>
            </a:r>
            <a:endParaRPr lang="en-US" sz="820" dirty="0"/>
          </a:p>
        </p:txBody>
      </p:sp>
      <p:sp>
        <p:nvSpPr>
          <p:cNvPr id="36" name="Text 30"/>
          <p:cNvSpPr/>
          <p:nvPr/>
        </p:nvSpPr>
        <p:spPr>
          <a:xfrm>
            <a:off x="6309360" y="2121408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spc="3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</a:t>
            </a:r>
            <a:endParaRPr lang="en-US" sz="600" dirty="0"/>
          </a:p>
        </p:txBody>
      </p:sp>
      <p:sp>
        <p:nvSpPr>
          <p:cNvPr id="37" name="Text 31"/>
          <p:cNvSpPr/>
          <p:nvPr/>
        </p:nvSpPr>
        <p:spPr>
          <a:xfrm>
            <a:off x="6309360" y="230428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score trend, risk by experience</a:t>
            </a:r>
            <a:endParaRPr lang="en-US" sz="820" dirty="0"/>
          </a:p>
        </p:txBody>
      </p:sp>
      <p:sp>
        <p:nvSpPr>
          <p:cNvPr id="38" name="Text 32"/>
          <p:cNvSpPr/>
          <p:nvPr/>
        </p:nvSpPr>
        <p:spPr>
          <a:xfrm>
            <a:off x="6309360" y="2779776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spc="3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</a:t>
            </a:r>
            <a:endParaRPr lang="en-US" sz="600" dirty="0"/>
          </a:p>
        </p:txBody>
      </p:sp>
      <p:sp>
        <p:nvSpPr>
          <p:cNvPr id="39" name="Text 33"/>
          <p:cNvSpPr/>
          <p:nvPr/>
        </p:nvSpPr>
        <p:spPr>
          <a:xfrm>
            <a:off x="6309360" y="296265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data over a spectrum</a:t>
            </a:r>
            <a:endParaRPr lang="en-US" sz="820" dirty="0"/>
          </a:p>
        </p:txBody>
      </p:sp>
      <p:sp>
        <p:nvSpPr>
          <p:cNvPr id="40" name="Shape 34"/>
          <p:cNvSpPr/>
          <p:nvPr/>
        </p:nvSpPr>
        <p:spPr>
          <a:xfrm>
            <a:off x="9162288" y="768096"/>
            <a:ext cx="2834640" cy="2798064"/>
          </a:xfrm>
          <a:prstGeom prst="roundRect">
            <a:avLst>
              <a:gd name="adj" fmla="val 3922"/>
            </a:avLst>
          </a:prstGeom>
          <a:solidFill>
            <a:srgbClr val="111827"/>
          </a:solidFill>
          <a:ln w="9525">
            <a:solidFill>
              <a:srgbClr val="8B5CF6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8592" y="914400"/>
            <a:ext cx="402336" cy="402336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9784080" y="896112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</a:t>
            </a:r>
            <a:endParaRPr lang="en-US" sz="1050" dirty="0"/>
          </a:p>
        </p:txBody>
      </p:sp>
      <p:sp>
        <p:nvSpPr>
          <p:cNvPr id="43" name="Shape 36"/>
          <p:cNvSpPr/>
          <p:nvPr/>
        </p:nvSpPr>
        <p:spPr>
          <a:xfrm>
            <a:off x="9290304" y="1408176"/>
            <a:ext cx="2578608" cy="0"/>
          </a:xfrm>
          <a:prstGeom prst="line">
            <a:avLst/>
          </a:prstGeom>
          <a:noFill/>
          <a:ln w="6350">
            <a:solidFill>
              <a:srgbClr val="8B5CF6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9308592" y="1463040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spc="3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600" dirty="0"/>
          </a:p>
        </p:txBody>
      </p:sp>
      <p:sp>
        <p:nvSpPr>
          <p:cNvPr id="45" name="Text 38"/>
          <p:cNvSpPr/>
          <p:nvPr/>
        </p:nvSpPr>
        <p:spPr>
          <a:xfrm>
            <a:off x="9308592" y="164592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Part-to-whole proportions with focus</a:t>
            </a:r>
            <a:endParaRPr lang="en-US" sz="820" dirty="0"/>
          </a:p>
        </p:txBody>
      </p:sp>
      <p:sp>
        <p:nvSpPr>
          <p:cNvPr id="46" name="Text 39"/>
          <p:cNvSpPr/>
          <p:nvPr/>
        </p:nvSpPr>
        <p:spPr>
          <a:xfrm>
            <a:off x="9308592" y="2121408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spc="3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</a:t>
            </a:r>
            <a:endParaRPr lang="en-US" sz="600" dirty="0"/>
          </a:p>
        </p:txBody>
      </p:sp>
      <p:sp>
        <p:nvSpPr>
          <p:cNvPr id="47" name="Text 40"/>
          <p:cNvSpPr/>
          <p:nvPr/>
        </p:nvSpPr>
        <p:spPr>
          <a:xfrm>
            <a:off x="9308592" y="230428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trend, automation level mix</a:t>
            </a:r>
            <a:endParaRPr lang="en-US" sz="820" dirty="0"/>
          </a:p>
        </p:txBody>
      </p:sp>
      <p:sp>
        <p:nvSpPr>
          <p:cNvPr id="48" name="Text 41"/>
          <p:cNvSpPr/>
          <p:nvPr/>
        </p:nvSpPr>
        <p:spPr>
          <a:xfrm>
            <a:off x="9308592" y="2779776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spc="3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</a:t>
            </a:r>
            <a:endParaRPr lang="en-US" sz="600" dirty="0"/>
          </a:p>
        </p:txBody>
      </p:sp>
      <p:sp>
        <p:nvSpPr>
          <p:cNvPr id="49" name="Text 42"/>
          <p:cNvSpPr/>
          <p:nvPr/>
        </p:nvSpPr>
        <p:spPr>
          <a:xfrm>
            <a:off x="9308592" y="296265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categories, % compositions</a:t>
            </a:r>
            <a:endParaRPr lang="en-US" sz="820" dirty="0"/>
          </a:p>
        </p:txBody>
      </p:sp>
      <p:sp>
        <p:nvSpPr>
          <p:cNvPr id="50" name="Shape 43"/>
          <p:cNvSpPr/>
          <p:nvPr/>
        </p:nvSpPr>
        <p:spPr>
          <a:xfrm>
            <a:off x="164592" y="3749040"/>
            <a:ext cx="2834640" cy="2798064"/>
          </a:xfrm>
          <a:prstGeom prst="roundRect">
            <a:avLst>
              <a:gd name="adj" fmla="val 3922"/>
            </a:avLst>
          </a:prstGeom>
          <a:solidFill>
            <a:srgbClr val="111827"/>
          </a:solidFill>
          <a:ln w="9525">
            <a:solidFill>
              <a:srgbClr val="F43F5E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pic>
        <p:nvPicPr>
          <p:cNvPr id="5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896" y="3895344"/>
            <a:ext cx="402336" cy="402336"/>
          </a:xfrm>
          <a:prstGeom prst="rect">
            <a:avLst/>
          </a:prstGeom>
        </p:spPr>
      </p:pic>
      <p:sp>
        <p:nvSpPr>
          <p:cNvPr id="52" name="Text 44"/>
          <p:cNvSpPr/>
          <p:nvPr/>
        </p:nvSpPr>
        <p:spPr>
          <a:xfrm>
            <a:off x="786384" y="3877056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</a:t>
            </a:r>
            <a:endParaRPr lang="en-US" sz="1050" dirty="0"/>
          </a:p>
        </p:txBody>
      </p:sp>
      <p:sp>
        <p:nvSpPr>
          <p:cNvPr id="53" name="Shape 45"/>
          <p:cNvSpPr/>
          <p:nvPr/>
        </p:nvSpPr>
        <p:spPr>
          <a:xfrm>
            <a:off x="292608" y="4389120"/>
            <a:ext cx="2578608" cy="0"/>
          </a:xfrm>
          <a:prstGeom prst="line">
            <a:avLst/>
          </a:prstGeom>
          <a:noFill/>
          <a:ln w="6350">
            <a:solidFill>
              <a:srgbClr val="F43F5E"/>
            </a:solidFill>
            <a:prstDash val="solid"/>
          </a:ln>
        </p:spPr>
      </p:sp>
      <p:sp>
        <p:nvSpPr>
          <p:cNvPr id="54" name="Text 46"/>
          <p:cNvSpPr/>
          <p:nvPr/>
        </p:nvSpPr>
        <p:spPr>
          <a:xfrm>
            <a:off x="310896" y="4443984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spc="3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600" dirty="0"/>
          </a:p>
        </p:txBody>
      </p:sp>
      <p:sp>
        <p:nvSpPr>
          <p:cNvPr id="55" name="Text 47"/>
          <p:cNvSpPr/>
          <p:nvPr/>
        </p:nvSpPr>
        <p:spPr>
          <a:xfrm>
            <a:off x="310896" y="462686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proportion comparison</a:t>
            </a:r>
            <a:endParaRPr lang="en-US" sz="820" dirty="0"/>
          </a:p>
        </p:txBody>
      </p:sp>
      <p:sp>
        <p:nvSpPr>
          <p:cNvPr id="56" name="Text 48"/>
          <p:cNvSpPr/>
          <p:nvPr/>
        </p:nvSpPr>
        <p:spPr>
          <a:xfrm>
            <a:off x="310896" y="5102352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spc="3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</a:t>
            </a:r>
            <a:endParaRPr lang="en-US" sz="600" dirty="0"/>
          </a:p>
        </p:txBody>
      </p:sp>
      <p:sp>
        <p:nvSpPr>
          <p:cNvPr id="57" name="Text 49"/>
          <p:cNvSpPr/>
          <p:nvPr/>
        </p:nvSpPr>
        <p:spPr>
          <a:xfrm>
            <a:off x="310896" y="528523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Upskilling split, remote work types</a:t>
            </a:r>
            <a:endParaRPr lang="en-US" sz="820" dirty="0"/>
          </a:p>
        </p:txBody>
      </p:sp>
      <p:sp>
        <p:nvSpPr>
          <p:cNvPr id="58" name="Text 50"/>
          <p:cNvSpPr/>
          <p:nvPr/>
        </p:nvSpPr>
        <p:spPr>
          <a:xfrm>
            <a:off x="310896" y="5760720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spc="3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</a:t>
            </a:r>
            <a:endParaRPr lang="en-US" sz="600" dirty="0"/>
          </a:p>
        </p:txBody>
      </p:sp>
      <p:sp>
        <p:nvSpPr>
          <p:cNvPr id="59" name="Text 51"/>
          <p:cNvSpPr/>
          <p:nvPr/>
        </p:nvSpPr>
        <p:spPr>
          <a:xfrm>
            <a:off x="310896" y="594360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categories, simple ratios</a:t>
            </a:r>
            <a:endParaRPr lang="en-US" sz="820" dirty="0"/>
          </a:p>
        </p:txBody>
      </p:sp>
      <p:sp>
        <p:nvSpPr>
          <p:cNvPr id="60" name="Shape 52"/>
          <p:cNvSpPr/>
          <p:nvPr/>
        </p:nvSpPr>
        <p:spPr>
          <a:xfrm>
            <a:off x="3163824" y="3749040"/>
            <a:ext cx="2834640" cy="2798064"/>
          </a:xfrm>
          <a:prstGeom prst="roundRect">
            <a:avLst>
              <a:gd name="adj" fmla="val 3922"/>
            </a:avLst>
          </a:prstGeom>
          <a:solidFill>
            <a:srgbClr val="111827"/>
          </a:solidFill>
          <a:ln w="9525">
            <a:solidFill>
              <a:srgbClr val="06B6D4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pic>
        <p:nvPicPr>
          <p:cNvPr id="6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0128" y="3895344"/>
            <a:ext cx="402336" cy="402336"/>
          </a:xfrm>
          <a:prstGeom prst="rect">
            <a:avLst/>
          </a:prstGeom>
        </p:spPr>
      </p:pic>
      <p:sp>
        <p:nvSpPr>
          <p:cNvPr id="62" name="Text 53"/>
          <p:cNvSpPr/>
          <p:nvPr/>
        </p:nvSpPr>
        <p:spPr>
          <a:xfrm>
            <a:off x="3785616" y="3877056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</a:t>
            </a:r>
            <a:endParaRPr lang="en-US" sz="1050" dirty="0"/>
          </a:p>
        </p:txBody>
      </p:sp>
      <p:sp>
        <p:nvSpPr>
          <p:cNvPr id="63" name="Shape 54"/>
          <p:cNvSpPr/>
          <p:nvPr/>
        </p:nvSpPr>
        <p:spPr>
          <a:xfrm>
            <a:off x="3291840" y="4389120"/>
            <a:ext cx="2578608" cy="0"/>
          </a:xfrm>
          <a:prstGeom prst="line">
            <a:avLst/>
          </a:prstGeom>
          <a:noFill/>
          <a:ln w="6350">
            <a:solidFill>
              <a:srgbClr val="06B6D4"/>
            </a:solidFill>
            <a:prstDash val="solid"/>
          </a:ln>
        </p:spPr>
      </p:sp>
      <p:sp>
        <p:nvSpPr>
          <p:cNvPr id="64" name="Text 55"/>
          <p:cNvSpPr/>
          <p:nvPr/>
        </p:nvSpPr>
        <p:spPr>
          <a:xfrm>
            <a:off x="3310128" y="4443984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spc="3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600" dirty="0"/>
          </a:p>
        </p:txBody>
      </p:sp>
      <p:sp>
        <p:nvSpPr>
          <p:cNvPr id="65" name="Text 56"/>
          <p:cNvSpPr/>
          <p:nvPr/>
        </p:nvSpPr>
        <p:spPr>
          <a:xfrm>
            <a:off x="3310128" y="462686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multi-part composition</a:t>
            </a:r>
            <a:endParaRPr lang="en-US" sz="820" dirty="0"/>
          </a:p>
        </p:txBody>
      </p:sp>
      <p:sp>
        <p:nvSpPr>
          <p:cNvPr id="66" name="Text 57"/>
          <p:cNvSpPr/>
          <p:nvPr/>
        </p:nvSpPr>
        <p:spPr>
          <a:xfrm>
            <a:off x="3310128" y="5102352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spc="3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</a:t>
            </a:r>
            <a:endParaRPr lang="en-US" sz="600" dirty="0"/>
          </a:p>
        </p:txBody>
      </p:sp>
      <p:sp>
        <p:nvSpPr>
          <p:cNvPr id="67" name="Text 58"/>
          <p:cNvSpPr/>
          <p:nvPr/>
        </p:nvSpPr>
        <p:spPr>
          <a:xfrm>
            <a:off x="3310128" y="528523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Hiring: Growing/Stable/Declining by industry</a:t>
            </a:r>
            <a:endParaRPr lang="en-US" sz="820" dirty="0"/>
          </a:p>
        </p:txBody>
      </p:sp>
      <p:sp>
        <p:nvSpPr>
          <p:cNvPr id="68" name="Text 59"/>
          <p:cNvSpPr/>
          <p:nvPr/>
        </p:nvSpPr>
        <p:spPr>
          <a:xfrm>
            <a:off x="3310128" y="5760720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spc="3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</a:t>
            </a:r>
            <a:endParaRPr lang="en-US" sz="600" dirty="0"/>
          </a:p>
        </p:txBody>
      </p:sp>
      <p:sp>
        <p:nvSpPr>
          <p:cNvPr id="69" name="Text 60"/>
          <p:cNvSpPr/>
          <p:nvPr/>
        </p:nvSpPr>
        <p:spPr>
          <a:xfrm>
            <a:off x="3310128" y="594360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Multi-category with totals</a:t>
            </a:r>
            <a:endParaRPr lang="en-US" sz="820" dirty="0"/>
          </a:p>
        </p:txBody>
      </p:sp>
      <p:sp>
        <p:nvSpPr>
          <p:cNvPr id="70" name="Shape 61"/>
          <p:cNvSpPr/>
          <p:nvPr/>
        </p:nvSpPr>
        <p:spPr>
          <a:xfrm>
            <a:off x="6163056" y="3749040"/>
            <a:ext cx="2834640" cy="2798064"/>
          </a:xfrm>
          <a:prstGeom prst="roundRect">
            <a:avLst>
              <a:gd name="adj" fmla="val 3922"/>
            </a:avLst>
          </a:prstGeom>
          <a:solidFill>
            <a:srgbClr val="111827"/>
          </a:solidFill>
          <a:ln w="9525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pic>
        <p:nvPicPr>
          <p:cNvPr id="7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360" y="3895344"/>
            <a:ext cx="402336" cy="402336"/>
          </a:xfrm>
          <a:prstGeom prst="rect">
            <a:avLst/>
          </a:prstGeom>
        </p:spPr>
      </p:pic>
      <p:sp>
        <p:nvSpPr>
          <p:cNvPr id="72" name="Text 62"/>
          <p:cNvSpPr/>
          <p:nvPr/>
        </p:nvSpPr>
        <p:spPr>
          <a:xfrm>
            <a:off x="6784848" y="3877056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</a:t>
            </a:r>
            <a:endParaRPr lang="en-US" sz="1050" dirty="0"/>
          </a:p>
        </p:txBody>
      </p:sp>
      <p:sp>
        <p:nvSpPr>
          <p:cNvPr id="73" name="Shape 63"/>
          <p:cNvSpPr/>
          <p:nvPr/>
        </p:nvSpPr>
        <p:spPr>
          <a:xfrm>
            <a:off x="6291072" y="4389120"/>
            <a:ext cx="2578608" cy="0"/>
          </a:xfrm>
          <a:prstGeom prst="line">
            <a:avLst/>
          </a:prstGeom>
          <a:noFill/>
          <a:ln w="6350">
            <a:solidFill>
              <a:srgbClr val="F59E0B"/>
            </a:solidFill>
            <a:prstDash val="solid"/>
          </a:ln>
        </p:spPr>
      </p:sp>
      <p:sp>
        <p:nvSpPr>
          <p:cNvPr id="74" name="Text 64"/>
          <p:cNvSpPr/>
          <p:nvPr/>
        </p:nvSpPr>
        <p:spPr>
          <a:xfrm>
            <a:off x="6309360" y="4443984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spc="3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600" dirty="0"/>
          </a:p>
        </p:txBody>
      </p:sp>
      <p:sp>
        <p:nvSpPr>
          <p:cNvPr id="75" name="Text 65"/>
          <p:cNvSpPr/>
          <p:nvPr/>
        </p:nvSpPr>
        <p:spPr>
          <a:xfrm>
            <a:off x="6309360" y="462686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all variable relationships</a:t>
            </a:r>
            <a:endParaRPr lang="en-US" sz="820" dirty="0"/>
          </a:p>
        </p:txBody>
      </p:sp>
      <p:sp>
        <p:nvSpPr>
          <p:cNvPr id="76" name="Text 66"/>
          <p:cNvSpPr/>
          <p:nvPr/>
        </p:nvSpPr>
        <p:spPr>
          <a:xfrm>
            <a:off x="6309360" y="5102352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spc="3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</a:t>
            </a:r>
            <a:endParaRPr lang="en-US" sz="600" dirty="0"/>
          </a:p>
        </p:txBody>
      </p:sp>
      <p:sp>
        <p:nvSpPr>
          <p:cNvPr id="77" name="Text 67"/>
          <p:cNvSpPr/>
          <p:nvPr/>
        </p:nvSpPr>
        <p:spPr>
          <a:xfrm>
            <a:off x="6309360" y="528523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8×8 numeric correlation matrix</a:t>
            </a:r>
            <a:endParaRPr lang="en-US" sz="820" dirty="0"/>
          </a:p>
        </p:txBody>
      </p:sp>
      <p:sp>
        <p:nvSpPr>
          <p:cNvPr id="78" name="Text 68"/>
          <p:cNvSpPr/>
          <p:nvPr/>
        </p:nvSpPr>
        <p:spPr>
          <a:xfrm>
            <a:off x="6309360" y="5760720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spc="3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</a:t>
            </a:r>
            <a:endParaRPr lang="en-US" sz="600" dirty="0"/>
          </a:p>
        </p:txBody>
      </p:sp>
      <p:sp>
        <p:nvSpPr>
          <p:cNvPr id="79" name="Text 69"/>
          <p:cNvSpPr/>
          <p:nvPr/>
        </p:nvSpPr>
        <p:spPr>
          <a:xfrm>
            <a:off x="6309360" y="594360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relationship overview</a:t>
            </a:r>
            <a:endParaRPr lang="en-US" sz="820" dirty="0"/>
          </a:p>
        </p:txBody>
      </p:sp>
      <p:sp>
        <p:nvSpPr>
          <p:cNvPr id="80" name="Shape 70"/>
          <p:cNvSpPr/>
          <p:nvPr/>
        </p:nvSpPr>
        <p:spPr>
          <a:xfrm>
            <a:off x="9162288" y="3749040"/>
            <a:ext cx="2834640" cy="2798064"/>
          </a:xfrm>
          <a:prstGeom prst="roundRect">
            <a:avLst>
              <a:gd name="adj" fmla="val 3922"/>
            </a:avLst>
          </a:prstGeom>
          <a:solidFill>
            <a:srgbClr val="111827"/>
          </a:solidFill>
          <a:ln w="9525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pic>
        <p:nvPicPr>
          <p:cNvPr id="8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08592" y="3895344"/>
            <a:ext cx="402336" cy="402336"/>
          </a:xfrm>
          <a:prstGeom prst="rect">
            <a:avLst/>
          </a:prstGeom>
        </p:spPr>
      </p:pic>
      <p:sp>
        <p:nvSpPr>
          <p:cNvPr id="82" name="Text 71"/>
          <p:cNvSpPr/>
          <p:nvPr/>
        </p:nvSpPr>
        <p:spPr>
          <a:xfrm>
            <a:off x="9784080" y="3877056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</a:t>
            </a:r>
            <a:endParaRPr lang="en-US" sz="1050" dirty="0"/>
          </a:p>
        </p:txBody>
      </p:sp>
      <p:sp>
        <p:nvSpPr>
          <p:cNvPr id="83" name="Shape 72"/>
          <p:cNvSpPr/>
          <p:nvPr/>
        </p:nvSpPr>
        <p:spPr>
          <a:xfrm>
            <a:off x="9290304" y="4389120"/>
            <a:ext cx="2578608" cy="0"/>
          </a:xfrm>
          <a:prstGeom prst="line">
            <a:avLst/>
          </a:prstGeom>
          <a:noFill/>
          <a:ln w="6350">
            <a:solidFill>
              <a:srgbClr val="10B981"/>
            </a:solidFill>
            <a:prstDash val="solid"/>
          </a:ln>
        </p:spPr>
      </p:sp>
      <p:sp>
        <p:nvSpPr>
          <p:cNvPr id="84" name="Text 73"/>
          <p:cNvSpPr/>
          <p:nvPr/>
        </p:nvSpPr>
        <p:spPr>
          <a:xfrm>
            <a:off x="9308592" y="4443984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spc="3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600" dirty="0"/>
          </a:p>
        </p:txBody>
      </p:sp>
      <p:sp>
        <p:nvSpPr>
          <p:cNvPr id="85" name="Text 74"/>
          <p:cNvSpPr/>
          <p:nvPr/>
        </p:nvSpPr>
        <p:spPr>
          <a:xfrm>
            <a:off x="9308592" y="462686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headline metrics</a:t>
            </a:r>
            <a:endParaRPr lang="en-US" sz="820" dirty="0"/>
          </a:p>
        </p:txBody>
      </p:sp>
      <p:sp>
        <p:nvSpPr>
          <p:cNvPr id="86" name="Text 75"/>
          <p:cNvSpPr/>
          <p:nvPr/>
        </p:nvSpPr>
        <p:spPr>
          <a:xfrm>
            <a:off x="9308592" y="5102352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spc="3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</a:t>
            </a:r>
            <a:endParaRPr lang="en-US" sz="600" dirty="0"/>
          </a:p>
        </p:txBody>
      </p:sp>
      <p:sp>
        <p:nvSpPr>
          <p:cNvPr id="87" name="Text 76"/>
          <p:cNvSpPr/>
          <p:nvPr/>
        </p:nvSpPr>
        <p:spPr>
          <a:xfrm>
            <a:off x="9308592" y="528523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risk 50.3%, salary $126.6K</a:t>
            </a:r>
            <a:endParaRPr lang="en-US" sz="820" dirty="0"/>
          </a:p>
        </p:txBody>
      </p:sp>
      <p:sp>
        <p:nvSpPr>
          <p:cNvPr id="88" name="Text 77"/>
          <p:cNvSpPr/>
          <p:nvPr/>
        </p:nvSpPr>
        <p:spPr>
          <a:xfrm>
            <a:off x="9308592" y="5760720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spc="3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</a:t>
            </a:r>
            <a:endParaRPr lang="en-US" sz="600" dirty="0"/>
          </a:p>
        </p:txBody>
      </p:sp>
      <p:sp>
        <p:nvSpPr>
          <p:cNvPr id="89" name="Text 78"/>
          <p:cNvSpPr/>
          <p:nvPr/>
        </p:nvSpPr>
        <p:spPr>
          <a:xfrm>
            <a:off x="9308592" y="594360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dashboards</a:t>
            </a:r>
            <a:endParaRPr lang="en-US" sz="8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1216152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91440"/>
            <a:ext cx="457200" cy="457200"/>
          </a:xfrm>
          <a:prstGeom prst="ellipse">
            <a:avLst/>
          </a:prstGeom>
          <a:solidFill>
            <a:srgbClr val="22D3EE">
              <a:alpha val="20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459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8096" y="64008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1 — EXECUTIVE OVERVIEW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68096" y="393192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KPIs · Industry Risk · Hiring Trends · Automation Mix · Salary Benchmarks · Job Growth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11338560" y="128016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22D3EE">
              <a:alpha val="20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338560" y="12801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164592" y="768096"/>
            <a:ext cx="2231136" cy="932688"/>
          </a:xfrm>
          <a:prstGeom prst="roundRect">
            <a:avLst>
              <a:gd name="adj" fmla="val 9804"/>
            </a:avLst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85039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76656" y="804672"/>
            <a:ext cx="1627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292608" y="1261872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2542032" y="768096"/>
            <a:ext cx="2231136" cy="932688"/>
          </a:xfrm>
          <a:prstGeom prst="roundRect">
            <a:avLst>
              <a:gd name="adj" fmla="val 9804"/>
            </a:avLst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0048" y="850392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054096" y="804672"/>
            <a:ext cx="1627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50.3%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2670048" y="1261872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AI Risk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4919472" y="768096"/>
            <a:ext cx="2231136" cy="932688"/>
          </a:xfrm>
          <a:prstGeom prst="roundRect">
            <a:avLst>
              <a:gd name="adj" fmla="val 9804"/>
            </a:avLst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850392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31536" y="804672"/>
            <a:ext cx="1627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$126.6K</a:t>
            </a:r>
            <a:endParaRPr lang="en-US" sz="2200" dirty="0"/>
          </a:p>
        </p:txBody>
      </p:sp>
      <p:sp>
        <p:nvSpPr>
          <p:cNvPr id="21" name="Text 15"/>
          <p:cNvSpPr/>
          <p:nvPr/>
        </p:nvSpPr>
        <p:spPr>
          <a:xfrm>
            <a:off x="5047488" y="1261872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Salary</a:t>
            </a:r>
            <a:endParaRPr lang="en-US" sz="850" dirty="0"/>
          </a:p>
        </p:txBody>
      </p:sp>
      <p:sp>
        <p:nvSpPr>
          <p:cNvPr id="22" name="Shape 16"/>
          <p:cNvSpPr/>
          <p:nvPr/>
        </p:nvSpPr>
        <p:spPr>
          <a:xfrm>
            <a:off x="7296912" y="768096"/>
            <a:ext cx="2231136" cy="932688"/>
          </a:xfrm>
          <a:prstGeom prst="roundRect">
            <a:avLst>
              <a:gd name="adj" fmla="val 9804"/>
            </a:avLst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4928" y="850392"/>
            <a:ext cx="310896" cy="31089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808976" y="804672"/>
            <a:ext cx="1627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+17.2%</a:t>
            </a:r>
            <a:endParaRPr lang="en-US" sz="2200" dirty="0"/>
          </a:p>
        </p:txBody>
      </p:sp>
      <p:sp>
        <p:nvSpPr>
          <p:cNvPr id="25" name="Text 18"/>
          <p:cNvSpPr/>
          <p:nvPr/>
        </p:nvSpPr>
        <p:spPr>
          <a:xfrm>
            <a:off x="7424928" y="1261872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Growth 30</a:t>
            </a:r>
            <a:endParaRPr lang="en-US" sz="850" dirty="0"/>
          </a:p>
        </p:txBody>
      </p:sp>
      <p:sp>
        <p:nvSpPr>
          <p:cNvPr id="26" name="Shape 19"/>
          <p:cNvSpPr/>
          <p:nvPr/>
        </p:nvSpPr>
        <p:spPr>
          <a:xfrm>
            <a:off x="9674352" y="768096"/>
            <a:ext cx="2231136" cy="932688"/>
          </a:xfrm>
          <a:prstGeom prst="roundRect">
            <a:avLst>
              <a:gd name="adj" fmla="val 9804"/>
            </a:avLst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02368" y="850392"/>
            <a:ext cx="310896" cy="31089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0186416" y="804672"/>
            <a:ext cx="1627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49.6%</a:t>
            </a:r>
            <a:endParaRPr lang="en-US" sz="2200" dirty="0"/>
          </a:p>
        </p:txBody>
      </p:sp>
      <p:sp>
        <p:nvSpPr>
          <p:cNvPr id="29" name="Text 21"/>
          <p:cNvSpPr/>
          <p:nvPr/>
        </p:nvSpPr>
        <p:spPr>
          <a:xfrm>
            <a:off x="9802368" y="1261872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Upskilling</a:t>
            </a:r>
            <a:endParaRPr lang="en-US" sz="850" dirty="0"/>
          </a:p>
        </p:txBody>
      </p:sp>
      <p:sp>
        <p:nvSpPr>
          <p:cNvPr id="30" name="Shape 22"/>
          <p:cNvSpPr/>
          <p:nvPr/>
        </p:nvSpPr>
        <p:spPr>
          <a:xfrm>
            <a:off x="164592" y="1828800"/>
            <a:ext cx="5029200" cy="4901184"/>
          </a:xfrm>
          <a:prstGeom prst="roundRect">
            <a:avLst>
              <a:gd name="adj" fmla="val 2239"/>
            </a:avLst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sp>
        <p:nvSpPr>
          <p:cNvPr id="31" name="Text 23"/>
          <p:cNvSpPr/>
          <p:nvPr/>
        </p:nvSpPr>
        <p:spPr>
          <a:xfrm>
            <a:off x="347472" y="190195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Replacement Risk by Industry</a:t>
            </a:r>
            <a:endParaRPr lang="en-US" sz="1000" dirty="0"/>
          </a:p>
        </p:txBody>
      </p:sp>
      <p:sp>
        <p:nvSpPr>
          <p:cNvPr id="32" name="Text 24"/>
          <p:cNvSpPr/>
          <p:nvPr/>
        </p:nvSpPr>
        <p:spPr>
          <a:xfrm>
            <a:off x="347472" y="21396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risk score per sector  (colour = risk severity)</a:t>
            </a:r>
            <a:endParaRPr lang="en-US" sz="750" dirty="0"/>
          </a:p>
        </p:txBody>
      </p:sp>
      <p:sp>
        <p:nvSpPr>
          <p:cNvPr id="33" name="Shape 25"/>
          <p:cNvSpPr/>
          <p:nvPr/>
        </p:nvSpPr>
        <p:spPr>
          <a:xfrm>
            <a:off x="1591056" y="2459736"/>
            <a:ext cx="3200400" cy="201168"/>
          </a:xfrm>
          <a:prstGeom prst="roundRect">
            <a:avLst>
              <a:gd name="adj" fmla="val 18182"/>
            </a:avLst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1591056" y="2459736"/>
            <a:ext cx="2319251" cy="201168"/>
          </a:xfrm>
          <a:prstGeom prst="roundRect">
            <a:avLst>
              <a:gd name="adj" fmla="val 18182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237744" y="2395728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850" dirty="0"/>
          </a:p>
        </p:txBody>
      </p:sp>
      <p:sp>
        <p:nvSpPr>
          <p:cNvPr id="36" name="Text 28"/>
          <p:cNvSpPr/>
          <p:nvPr/>
        </p:nvSpPr>
        <p:spPr>
          <a:xfrm>
            <a:off x="4572000" y="2395728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53%</a:t>
            </a:r>
            <a:endParaRPr lang="en-US" sz="850" dirty="0"/>
          </a:p>
        </p:txBody>
      </p:sp>
      <p:sp>
        <p:nvSpPr>
          <p:cNvPr id="37" name="Shape 29"/>
          <p:cNvSpPr/>
          <p:nvPr/>
        </p:nvSpPr>
        <p:spPr>
          <a:xfrm>
            <a:off x="1591056" y="2871216"/>
            <a:ext cx="3200400" cy="201168"/>
          </a:xfrm>
          <a:prstGeom prst="roundRect">
            <a:avLst>
              <a:gd name="adj" fmla="val 18182"/>
            </a:avLst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1591056" y="2871216"/>
            <a:ext cx="2293481" cy="201168"/>
          </a:xfrm>
          <a:prstGeom prst="roundRect">
            <a:avLst>
              <a:gd name="adj" fmla="val 18182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237744" y="2807208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</a:t>
            </a:r>
            <a:endParaRPr lang="en-US" sz="850" dirty="0"/>
          </a:p>
        </p:txBody>
      </p:sp>
      <p:sp>
        <p:nvSpPr>
          <p:cNvPr id="40" name="Text 32"/>
          <p:cNvSpPr/>
          <p:nvPr/>
        </p:nvSpPr>
        <p:spPr>
          <a:xfrm>
            <a:off x="4572000" y="2807208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52.9%</a:t>
            </a:r>
            <a:endParaRPr lang="en-US" sz="850" dirty="0"/>
          </a:p>
        </p:txBody>
      </p:sp>
      <p:sp>
        <p:nvSpPr>
          <p:cNvPr id="41" name="Shape 33"/>
          <p:cNvSpPr/>
          <p:nvPr/>
        </p:nvSpPr>
        <p:spPr>
          <a:xfrm>
            <a:off x="1591056" y="3282696"/>
            <a:ext cx="3200400" cy="201168"/>
          </a:xfrm>
          <a:prstGeom prst="roundRect">
            <a:avLst>
              <a:gd name="adj" fmla="val 18182"/>
            </a:avLst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1591056" y="3282696"/>
            <a:ext cx="1984248" cy="201168"/>
          </a:xfrm>
          <a:prstGeom prst="roundRect">
            <a:avLst>
              <a:gd name="adj" fmla="val 18182"/>
            </a:avLst>
          </a:prstGeom>
          <a:solidFill>
            <a:srgbClr val="FB6A35"/>
          </a:solidFill>
          <a:ln w="12700">
            <a:solidFill>
              <a:srgbClr val="FB6A35"/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237744" y="3218688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50" dirty="0"/>
          </a:p>
        </p:txBody>
      </p:sp>
      <p:sp>
        <p:nvSpPr>
          <p:cNvPr id="44" name="Text 36"/>
          <p:cNvSpPr/>
          <p:nvPr/>
        </p:nvSpPr>
        <p:spPr>
          <a:xfrm>
            <a:off x="4572000" y="3218688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B6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51.7%</a:t>
            </a:r>
            <a:endParaRPr lang="en-US" sz="850" dirty="0"/>
          </a:p>
        </p:txBody>
      </p:sp>
      <p:sp>
        <p:nvSpPr>
          <p:cNvPr id="45" name="Shape 37"/>
          <p:cNvSpPr/>
          <p:nvPr/>
        </p:nvSpPr>
        <p:spPr>
          <a:xfrm>
            <a:off x="1591056" y="3694176"/>
            <a:ext cx="3200400" cy="201168"/>
          </a:xfrm>
          <a:prstGeom prst="roundRect">
            <a:avLst>
              <a:gd name="adj" fmla="val 18182"/>
            </a:avLst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46" name="Shape 38"/>
          <p:cNvSpPr/>
          <p:nvPr/>
        </p:nvSpPr>
        <p:spPr>
          <a:xfrm>
            <a:off x="1591056" y="3694176"/>
            <a:ext cx="1520398" cy="201168"/>
          </a:xfrm>
          <a:prstGeom prst="roundRect">
            <a:avLst>
              <a:gd name="adj" fmla="val 18182"/>
            </a:avLst>
          </a:prstGeom>
          <a:solidFill>
            <a:srgbClr val="FB8C42"/>
          </a:solidFill>
          <a:ln w="12700">
            <a:solidFill>
              <a:srgbClr val="FB8C42"/>
            </a:solidFill>
            <a:prstDash val="solid"/>
          </a:ln>
        </p:spPr>
      </p:sp>
      <p:sp>
        <p:nvSpPr>
          <p:cNvPr id="47" name="Text 39"/>
          <p:cNvSpPr/>
          <p:nvPr/>
        </p:nvSpPr>
        <p:spPr>
          <a:xfrm>
            <a:off x="237744" y="3630168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850" dirty="0"/>
          </a:p>
        </p:txBody>
      </p:sp>
      <p:sp>
        <p:nvSpPr>
          <p:cNvPr id="48" name="Text 40"/>
          <p:cNvSpPr/>
          <p:nvPr/>
        </p:nvSpPr>
        <p:spPr>
          <a:xfrm>
            <a:off x="4572000" y="3630168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B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49.9%</a:t>
            </a:r>
            <a:endParaRPr lang="en-US" sz="850" dirty="0"/>
          </a:p>
        </p:txBody>
      </p:sp>
      <p:sp>
        <p:nvSpPr>
          <p:cNvPr id="49" name="Shape 41"/>
          <p:cNvSpPr/>
          <p:nvPr/>
        </p:nvSpPr>
        <p:spPr>
          <a:xfrm>
            <a:off x="1591056" y="4105656"/>
            <a:ext cx="3200400" cy="201168"/>
          </a:xfrm>
          <a:prstGeom prst="roundRect">
            <a:avLst>
              <a:gd name="adj" fmla="val 18182"/>
            </a:avLst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50" name="Shape 42"/>
          <p:cNvSpPr/>
          <p:nvPr/>
        </p:nvSpPr>
        <p:spPr>
          <a:xfrm>
            <a:off x="1591056" y="4105656"/>
            <a:ext cx="1468859" cy="201168"/>
          </a:xfrm>
          <a:prstGeom prst="roundRect">
            <a:avLst>
              <a:gd name="adj" fmla="val 18182"/>
            </a:avLst>
          </a:prstGeom>
          <a:solidFill>
            <a:srgbClr val="FBA642"/>
          </a:solidFill>
          <a:ln w="12700">
            <a:solidFill>
              <a:srgbClr val="FBA642"/>
            </a:solidFill>
            <a:prstDash val="solid"/>
          </a:ln>
        </p:spPr>
      </p:sp>
      <p:sp>
        <p:nvSpPr>
          <p:cNvPr id="51" name="Text 43"/>
          <p:cNvSpPr/>
          <p:nvPr/>
        </p:nvSpPr>
        <p:spPr>
          <a:xfrm>
            <a:off x="237744" y="4041648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850" dirty="0"/>
          </a:p>
        </p:txBody>
      </p:sp>
      <p:sp>
        <p:nvSpPr>
          <p:cNvPr id="52" name="Text 44"/>
          <p:cNvSpPr/>
          <p:nvPr/>
        </p:nvSpPr>
        <p:spPr>
          <a:xfrm>
            <a:off x="4572000" y="4041648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BA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49.7%</a:t>
            </a:r>
            <a:endParaRPr lang="en-US" sz="850" dirty="0"/>
          </a:p>
        </p:txBody>
      </p:sp>
      <p:sp>
        <p:nvSpPr>
          <p:cNvPr id="53" name="Shape 45"/>
          <p:cNvSpPr/>
          <p:nvPr/>
        </p:nvSpPr>
        <p:spPr>
          <a:xfrm>
            <a:off x="1591056" y="4517136"/>
            <a:ext cx="3200400" cy="201168"/>
          </a:xfrm>
          <a:prstGeom prst="roundRect">
            <a:avLst>
              <a:gd name="adj" fmla="val 18182"/>
            </a:avLst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54" name="Shape 46"/>
          <p:cNvSpPr/>
          <p:nvPr/>
        </p:nvSpPr>
        <p:spPr>
          <a:xfrm>
            <a:off x="1591056" y="4517136"/>
            <a:ext cx="1443089" cy="201168"/>
          </a:xfrm>
          <a:prstGeom prst="roundRect">
            <a:avLst>
              <a:gd name="adj" fmla="val 1818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5" name="Text 47"/>
          <p:cNvSpPr/>
          <p:nvPr/>
        </p:nvSpPr>
        <p:spPr>
          <a:xfrm>
            <a:off x="237744" y="4453128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850" dirty="0"/>
          </a:p>
        </p:txBody>
      </p:sp>
      <p:sp>
        <p:nvSpPr>
          <p:cNvPr id="56" name="Text 48"/>
          <p:cNvSpPr/>
          <p:nvPr/>
        </p:nvSpPr>
        <p:spPr>
          <a:xfrm>
            <a:off x="4572000" y="4453128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49.6%</a:t>
            </a:r>
            <a:endParaRPr lang="en-US" sz="850" dirty="0"/>
          </a:p>
        </p:txBody>
      </p:sp>
      <p:sp>
        <p:nvSpPr>
          <p:cNvPr id="57" name="Shape 49"/>
          <p:cNvSpPr/>
          <p:nvPr/>
        </p:nvSpPr>
        <p:spPr>
          <a:xfrm>
            <a:off x="1591056" y="4928616"/>
            <a:ext cx="3200400" cy="201168"/>
          </a:xfrm>
          <a:prstGeom prst="roundRect">
            <a:avLst>
              <a:gd name="adj" fmla="val 18182"/>
            </a:avLst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58" name="Shape 50"/>
          <p:cNvSpPr/>
          <p:nvPr/>
        </p:nvSpPr>
        <p:spPr>
          <a:xfrm>
            <a:off x="1591056" y="4928616"/>
            <a:ext cx="1443089" cy="201168"/>
          </a:xfrm>
          <a:prstGeom prst="roundRect">
            <a:avLst>
              <a:gd name="adj" fmla="val 1818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9" name="Text 51"/>
          <p:cNvSpPr/>
          <p:nvPr/>
        </p:nvSpPr>
        <p:spPr>
          <a:xfrm>
            <a:off x="237744" y="4864608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850" dirty="0"/>
          </a:p>
        </p:txBody>
      </p:sp>
      <p:sp>
        <p:nvSpPr>
          <p:cNvPr id="60" name="Text 52"/>
          <p:cNvSpPr/>
          <p:nvPr/>
        </p:nvSpPr>
        <p:spPr>
          <a:xfrm>
            <a:off x="4572000" y="4864608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49.6%</a:t>
            </a:r>
            <a:endParaRPr lang="en-US" sz="850" dirty="0"/>
          </a:p>
        </p:txBody>
      </p:sp>
      <p:sp>
        <p:nvSpPr>
          <p:cNvPr id="61" name="Shape 53"/>
          <p:cNvSpPr/>
          <p:nvPr/>
        </p:nvSpPr>
        <p:spPr>
          <a:xfrm>
            <a:off x="1591056" y="5340096"/>
            <a:ext cx="3200400" cy="201168"/>
          </a:xfrm>
          <a:prstGeom prst="roundRect">
            <a:avLst>
              <a:gd name="adj" fmla="val 18182"/>
            </a:avLst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62" name="Shape 54"/>
          <p:cNvSpPr/>
          <p:nvPr/>
        </p:nvSpPr>
        <p:spPr>
          <a:xfrm>
            <a:off x="1591056" y="5340096"/>
            <a:ext cx="1391551" cy="201168"/>
          </a:xfrm>
          <a:prstGeom prst="roundRect">
            <a:avLst>
              <a:gd name="adj" fmla="val 18182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63" name="Text 55"/>
          <p:cNvSpPr/>
          <p:nvPr/>
        </p:nvSpPr>
        <p:spPr>
          <a:xfrm>
            <a:off x="237744" y="5276088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</a:t>
            </a:r>
            <a:endParaRPr lang="en-US" sz="850" dirty="0"/>
          </a:p>
        </p:txBody>
      </p:sp>
      <p:sp>
        <p:nvSpPr>
          <p:cNvPr id="64" name="Text 56"/>
          <p:cNvSpPr/>
          <p:nvPr/>
        </p:nvSpPr>
        <p:spPr>
          <a:xfrm>
            <a:off x="4572000" y="5276088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49.4%</a:t>
            </a:r>
            <a:endParaRPr lang="en-US" sz="850" dirty="0"/>
          </a:p>
        </p:txBody>
      </p:sp>
      <p:sp>
        <p:nvSpPr>
          <p:cNvPr id="65" name="Shape 57"/>
          <p:cNvSpPr/>
          <p:nvPr/>
        </p:nvSpPr>
        <p:spPr>
          <a:xfrm>
            <a:off x="1591056" y="5751576"/>
            <a:ext cx="3200400" cy="201168"/>
          </a:xfrm>
          <a:prstGeom prst="roundRect">
            <a:avLst>
              <a:gd name="adj" fmla="val 18182"/>
            </a:avLst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66" name="Shape 58"/>
          <p:cNvSpPr/>
          <p:nvPr/>
        </p:nvSpPr>
        <p:spPr>
          <a:xfrm>
            <a:off x="1591056" y="5751576"/>
            <a:ext cx="1288473" cy="201168"/>
          </a:xfrm>
          <a:prstGeom prst="roundRect">
            <a:avLst>
              <a:gd name="adj" fmla="val 18182"/>
            </a:avLst>
          </a:prstGeom>
          <a:solidFill>
            <a:srgbClr val="FFE580"/>
          </a:solidFill>
          <a:ln w="12700">
            <a:solidFill>
              <a:srgbClr val="FFE580"/>
            </a:solidFill>
            <a:prstDash val="solid"/>
          </a:ln>
        </p:spPr>
      </p:sp>
      <p:sp>
        <p:nvSpPr>
          <p:cNvPr id="67" name="Text 59"/>
          <p:cNvSpPr/>
          <p:nvPr/>
        </p:nvSpPr>
        <p:spPr>
          <a:xfrm>
            <a:off x="237744" y="5687568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850" dirty="0"/>
          </a:p>
        </p:txBody>
      </p:sp>
      <p:sp>
        <p:nvSpPr>
          <p:cNvPr id="68" name="Text 60"/>
          <p:cNvSpPr/>
          <p:nvPr/>
        </p:nvSpPr>
        <p:spPr>
          <a:xfrm>
            <a:off x="4572000" y="5687568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E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49%</a:t>
            </a:r>
            <a:endParaRPr lang="en-US" sz="850" dirty="0"/>
          </a:p>
        </p:txBody>
      </p:sp>
      <p:sp>
        <p:nvSpPr>
          <p:cNvPr id="69" name="Shape 61"/>
          <p:cNvSpPr/>
          <p:nvPr/>
        </p:nvSpPr>
        <p:spPr>
          <a:xfrm>
            <a:off x="1591056" y="6163056"/>
            <a:ext cx="3200400" cy="201168"/>
          </a:xfrm>
          <a:prstGeom prst="roundRect">
            <a:avLst>
              <a:gd name="adj" fmla="val 18182"/>
            </a:avLst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70" name="Shape 62"/>
          <p:cNvSpPr/>
          <p:nvPr/>
        </p:nvSpPr>
        <p:spPr>
          <a:xfrm>
            <a:off x="1591056" y="6163056"/>
            <a:ext cx="901931" cy="201168"/>
          </a:xfrm>
          <a:prstGeom prst="roundRect">
            <a:avLst>
              <a:gd name="adj" fmla="val 18182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1" name="Text 63"/>
          <p:cNvSpPr/>
          <p:nvPr/>
        </p:nvSpPr>
        <p:spPr>
          <a:xfrm>
            <a:off x="237744" y="6099048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850" dirty="0"/>
          </a:p>
        </p:txBody>
      </p:sp>
      <p:sp>
        <p:nvSpPr>
          <p:cNvPr id="72" name="Text 64"/>
          <p:cNvSpPr/>
          <p:nvPr/>
        </p:nvSpPr>
        <p:spPr>
          <a:xfrm>
            <a:off x="4572000" y="6099048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47.5%</a:t>
            </a:r>
            <a:endParaRPr lang="en-US" sz="850" dirty="0"/>
          </a:p>
        </p:txBody>
      </p:sp>
      <p:sp>
        <p:nvSpPr>
          <p:cNvPr id="73" name="Shape 65"/>
          <p:cNvSpPr/>
          <p:nvPr/>
        </p:nvSpPr>
        <p:spPr>
          <a:xfrm>
            <a:off x="5376672" y="1828800"/>
            <a:ext cx="3310128" cy="2395728"/>
          </a:xfrm>
          <a:prstGeom prst="roundRect">
            <a:avLst>
              <a:gd name="adj" fmla="val 4580"/>
            </a:avLst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sp>
        <p:nvSpPr>
          <p:cNvPr id="74" name="Text 66"/>
          <p:cNvSpPr/>
          <p:nvPr/>
        </p:nvSpPr>
        <p:spPr>
          <a:xfrm>
            <a:off x="5559552" y="1901952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Trend 2026</a:t>
            </a:r>
            <a:endParaRPr lang="en-US" sz="1000" dirty="0"/>
          </a:p>
        </p:txBody>
      </p:sp>
      <p:graphicFrame>
        <p:nvGraphicFramePr>
          <p:cNvPr id="75" name="Chart 0" descr=""/>
          <p:cNvGraphicFramePr/>
          <p:nvPr/>
        </p:nvGraphicFramePr>
        <p:xfrm>
          <a:off x="5376672" y="2121408"/>
          <a:ext cx="3310128" cy="20299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76" name="Shape 67"/>
          <p:cNvSpPr/>
          <p:nvPr/>
        </p:nvSpPr>
        <p:spPr>
          <a:xfrm>
            <a:off x="8869680" y="1828800"/>
            <a:ext cx="3127248" cy="2395728"/>
          </a:xfrm>
          <a:prstGeom prst="roundRect">
            <a:avLst>
              <a:gd name="adj" fmla="val 4580"/>
            </a:avLst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sp>
        <p:nvSpPr>
          <p:cNvPr id="77" name="Text 68"/>
          <p:cNvSpPr/>
          <p:nvPr/>
        </p:nvSpPr>
        <p:spPr>
          <a:xfrm>
            <a:off x="9052560" y="1901952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Level Mix</a:t>
            </a:r>
            <a:endParaRPr lang="en-US" sz="1000" dirty="0"/>
          </a:p>
        </p:txBody>
      </p:sp>
      <p:graphicFrame>
        <p:nvGraphicFramePr>
          <p:cNvPr id="78" name="Chart 1" descr=""/>
          <p:cNvGraphicFramePr/>
          <p:nvPr/>
        </p:nvGraphicFramePr>
        <p:xfrm>
          <a:off x="8869680" y="2121408"/>
          <a:ext cx="3127248" cy="20299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79" name="Shape 69"/>
          <p:cNvSpPr/>
          <p:nvPr/>
        </p:nvSpPr>
        <p:spPr>
          <a:xfrm>
            <a:off x="5376672" y="4370832"/>
            <a:ext cx="3310128" cy="2359152"/>
          </a:xfrm>
          <a:prstGeom prst="roundRect">
            <a:avLst>
              <a:gd name="adj" fmla="val 4651"/>
            </a:avLst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sp>
        <p:nvSpPr>
          <p:cNvPr id="80" name="Text 70"/>
          <p:cNvSpPr/>
          <p:nvPr/>
        </p:nvSpPr>
        <p:spPr>
          <a:xfrm>
            <a:off x="5559552" y="4443984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Growth 2030 (%)</a:t>
            </a:r>
            <a:endParaRPr lang="en-US" sz="1000" dirty="0"/>
          </a:p>
        </p:txBody>
      </p:sp>
      <p:graphicFrame>
        <p:nvGraphicFramePr>
          <p:cNvPr id="81" name="Chart 2" descr=""/>
          <p:cNvGraphicFramePr/>
          <p:nvPr/>
        </p:nvGraphicFramePr>
        <p:xfrm>
          <a:off x="5376672" y="4663440"/>
          <a:ext cx="3310128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9"/>
          </a:graphicData>
        </a:graphic>
      </p:graphicFrame>
      <p:sp>
        <p:nvSpPr>
          <p:cNvPr id="82" name="Shape 71"/>
          <p:cNvSpPr/>
          <p:nvPr/>
        </p:nvSpPr>
        <p:spPr>
          <a:xfrm>
            <a:off x="8869680" y="4370832"/>
            <a:ext cx="3127248" cy="2359152"/>
          </a:xfrm>
          <a:prstGeom prst="roundRect">
            <a:avLst>
              <a:gd name="adj" fmla="val 4651"/>
            </a:avLst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sp>
        <p:nvSpPr>
          <p:cNvPr id="83" name="Text 72"/>
          <p:cNvSpPr/>
          <p:nvPr/>
        </p:nvSpPr>
        <p:spPr>
          <a:xfrm>
            <a:off x="9052560" y="4443984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Salary by Industry</a:t>
            </a:r>
            <a:endParaRPr lang="en-US" sz="1000" dirty="0"/>
          </a:p>
        </p:txBody>
      </p:sp>
      <p:graphicFrame>
        <p:nvGraphicFramePr>
          <p:cNvPr id="84" name="Chart 3" descr=""/>
          <p:cNvGraphicFramePr/>
          <p:nvPr/>
        </p:nvGraphicFramePr>
        <p:xfrm>
          <a:off x="8869680" y="4663440"/>
          <a:ext cx="3127248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0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1216152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91440"/>
            <a:ext cx="457200" cy="45720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459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8096" y="64008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2 — DEEP DIVE ANALYTICS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68096" y="393192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Risk · Safe Roles · Country Salary · Education · Perf vs Upskilling · AI Adoption · Remote · Reskilling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11338560" y="128016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F59E0B">
              <a:alpha val="20000"/>
            </a:srgbClr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338560" y="12801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164592" y="768096"/>
            <a:ext cx="2834640" cy="749808"/>
          </a:xfrm>
          <a:prstGeom prst="roundRect">
            <a:avLst>
              <a:gd name="adj" fmla="val 12195"/>
            </a:avLst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56032" y="8046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56.9%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56032" y="117043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Role Risk (DevOps)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163824" y="768096"/>
            <a:ext cx="2834640" cy="749808"/>
          </a:xfrm>
          <a:prstGeom prst="roundRect">
            <a:avLst>
              <a:gd name="adj" fmla="val 12195"/>
            </a:avLst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255264" y="8046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46.0%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3255264" y="117043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Safest Role (UX Designer)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6163056" y="768096"/>
            <a:ext cx="2834640" cy="749808"/>
          </a:xfrm>
          <a:prstGeom prst="roundRect">
            <a:avLst>
              <a:gd name="adj" fmla="val 12195"/>
            </a:avLst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254496" y="8046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$133.2K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254496" y="117043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Country (UK)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9162288" y="768096"/>
            <a:ext cx="2834640" cy="749808"/>
          </a:xfrm>
          <a:prstGeom prst="roundRect">
            <a:avLst>
              <a:gd name="adj" fmla="val 12195"/>
            </a:avLst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9253728" y="8046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3.54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9253728" y="117043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 Score (Upskillers)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164592" y="1645920"/>
            <a:ext cx="5029200" cy="2798064"/>
          </a:xfrm>
          <a:prstGeom prst="roundRect">
            <a:avLst>
              <a:gd name="adj" fmla="val 3922"/>
            </a:avLst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347472" y="1719072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Highest AI Replacement Risk Roles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1901952" y="2029968"/>
            <a:ext cx="3108960" cy="164592"/>
          </a:xfrm>
          <a:prstGeom prst="roundRect">
            <a:avLst>
              <a:gd name="adj" fmla="val 16667"/>
            </a:avLst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901952" y="2029968"/>
            <a:ext cx="2696174" cy="164592"/>
          </a:xfrm>
          <a:prstGeom prst="roundRect">
            <a:avLst>
              <a:gd name="adj" fmla="val 16667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37744" y="1993392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Engineer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4882896" y="19933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56.9%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1901952" y="2276856"/>
            <a:ext cx="3108960" cy="164592"/>
          </a:xfrm>
          <a:prstGeom prst="roundRect">
            <a:avLst>
              <a:gd name="adj" fmla="val 16667"/>
            </a:avLst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901952" y="2276856"/>
            <a:ext cx="2591671" cy="164592"/>
          </a:xfrm>
          <a:prstGeom prst="roundRect">
            <a:avLst>
              <a:gd name="adj" fmla="val 16667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37744" y="2240280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Architect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4882896" y="22402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56.4%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1901952" y="2523744"/>
            <a:ext cx="3108960" cy="164592"/>
          </a:xfrm>
          <a:prstGeom prst="roundRect">
            <a:avLst>
              <a:gd name="adj" fmla="val 16667"/>
            </a:avLst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901952" y="2523744"/>
            <a:ext cx="1818350" cy="164592"/>
          </a:xfrm>
          <a:prstGeom prst="roundRect">
            <a:avLst>
              <a:gd name="adj" fmla="val 16667"/>
            </a:avLst>
          </a:prstGeom>
          <a:solidFill>
            <a:srgbClr val="FB6A35"/>
          </a:solidFill>
          <a:ln w="12700">
            <a:solidFill>
              <a:srgbClr val="FB6A35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37744" y="2487168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Specialist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4882896" y="24871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B6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52.7%</a:t>
            </a:r>
            <a:endParaRPr lang="en-US" sz="750" dirty="0"/>
          </a:p>
        </p:txBody>
      </p:sp>
      <p:sp>
        <p:nvSpPr>
          <p:cNvPr id="36" name="Shape 33"/>
          <p:cNvSpPr/>
          <p:nvPr/>
        </p:nvSpPr>
        <p:spPr>
          <a:xfrm>
            <a:off x="1901952" y="2770632"/>
            <a:ext cx="3108960" cy="164592"/>
          </a:xfrm>
          <a:prstGeom prst="roundRect">
            <a:avLst>
              <a:gd name="adj" fmla="val 16667"/>
            </a:avLst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901952" y="2770632"/>
            <a:ext cx="1713847" cy="164592"/>
          </a:xfrm>
          <a:prstGeom prst="roundRect">
            <a:avLst>
              <a:gd name="adj" fmla="val 16667"/>
            </a:avLst>
          </a:prstGeom>
          <a:solidFill>
            <a:srgbClr val="FB8C42"/>
          </a:solidFill>
          <a:ln w="12700">
            <a:solidFill>
              <a:srgbClr val="FB8C42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37744" y="2734056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4882896" y="27340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B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52.2%</a:t>
            </a:r>
            <a:endParaRPr lang="en-US" sz="750" dirty="0"/>
          </a:p>
        </p:txBody>
      </p:sp>
      <p:sp>
        <p:nvSpPr>
          <p:cNvPr id="40" name="Shape 37"/>
          <p:cNvSpPr/>
          <p:nvPr/>
        </p:nvSpPr>
        <p:spPr>
          <a:xfrm>
            <a:off x="1901952" y="3017520"/>
            <a:ext cx="3108960" cy="164592"/>
          </a:xfrm>
          <a:prstGeom prst="roundRect">
            <a:avLst>
              <a:gd name="adj" fmla="val 16667"/>
            </a:avLst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901952" y="3017520"/>
            <a:ext cx="1672046" cy="164592"/>
          </a:xfrm>
          <a:prstGeom prst="roundRect">
            <a:avLst>
              <a:gd name="adj" fmla="val 16667"/>
            </a:avLst>
          </a:prstGeom>
          <a:solidFill>
            <a:srgbClr val="FBA642"/>
          </a:solidFill>
          <a:ln w="12700">
            <a:solidFill>
              <a:srgbClr val="FBA64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237744" y="2980944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750" dirty="0"/>
          </a:p>
        </p:txBody>
      </p:sp>
      <p:sp>
        <p:nvSpPr>
          <p:cNvPr id="43" name="Text 40"/>
          <p:cNvSpPr/>
          <p:nvPr/>
        </p:nvSpPr>
        <p:spPr>
          <a:xfrm>
            <a:off x="4882896" y="29809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BA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</a:t>
            </a:r>
            <a:endParaRPr lang="en-US" sz="750" dirty="0"/>
          </a:p>
        </p:txBody>
      </p:sp>
      <p:sp>
        <p:nvSpPr>
          <p:cNvPr id="44" name="Shape 41"/>
          <p:cNvSpPr/>
          <p:nvPr/>
        </p:nvSpPr>
        <p:spPr>
          <a:xfrm>
            <a:off x="1901952" y="3264408"/>
            <a:ext cx="3108960" cy="164592"/>
          </a:xfrm>
          <a:prstGeom prst="roundRect">
            <a:avLst>
              <a:gd name="adj" fmla="val 16667"/>
            </a:avLst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1901952" y="3264408"/>
            <a:ext cx="1630245" cy="164592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237744" y="3227832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Analyst</a:t>
            </a:r>
            <a:endParaRPr lang="en-US" sz="750" dirty="0"/>
          </a:p>
        </p:txBody>
      </p:sp>
      <p:sp>
        <p:nvSpPr>
          <p:cNvPr id="47" name="Text 44"/>
          <p:cNvSpPr/>
          <p:nvPr/>
        </p:nvSpPr>
        <p:spPr>
          <a:xfrm>
            <a:off x="4882896" y="32278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51.8%</a:t>
            </a:r>
            <a:endParaRPr lang="en-US" sz="750" dirty="0"/>
          </a:p>
        </p:txBody>
      </p:sp>
      <p:sp>
        <p:nvSpPr>
          <p:cNvPr id="48" name="Shape 45"/>
          <p:cNvSpPr/>
          <p:nvPr/>
        </p:nvSpPr>
        <p:spPr>
          <a:xfrm>
            <a:off x="1901952" y="3511296"/>
            <a:ext cx="3108960" cy="164592"/>
          </a:xfrm>
          <a:prstGeom prst="roundRect">
            <a:avLst>
              <a:gd name="adj" fmla="val 16667"/>
            </a:avLst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1901952" y="3511296"/>
            <a:ext cx="1609344" cy="164592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237744" y="3474720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</a:t>
            </a:r>
            <a:endParaRPr lang="en-US" sz="750" dirty="0"/>
          </a:p>
        </p:txBody>
      </p:sp>
      <p:sp>
        <p:nvSpPr>
          <p:cNvPr id="51" name="Text 48"/>
          <p:cNvSpPr/>
          <p:nvPr/>
        </p:nvSpPr>
        <p:spPr>
          <a:xfrm>
            <a:off x="4882896" y="34747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51.7%</a:t>
            </a:r>
            <a:endParaRPr lang="en-US" sz="750" dirty="0"/>
          </a:p>
        </p:txBody>
      </p:sp>
      <p:sp>
        <p:nvSpPr>
          <p:cNvPr id="52" name="Shape 49"/>
          <p:cNvSpPr/>
          <p:nvPr/>
        </p:nvSpPr>
        <p:spPr>
          <a:xfrm>
            <a:off x="1901952" y="3758184"/>
            <a:ext cx="3108960" cy="164592"/>
          </a:xfrm>
          <a:prstGeom prst="roundRect">
            <a:avLst>
              <a:gd name="adj" fmla="val 16667"/>
            </a:avLst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1901952" y="3758184"/>
            <a:ext cx="1463040" cy="164592"/>
          </a:xfrm>
          <a:prstGeom prst="roundRect">
            <a:avLst>
              <a:gd name="adj" fmla="val 16667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237744" y="3721608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Analyst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4882896" y="37216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51%</a:t>
            </a:r>
            <a:endParaRPr lang="en-US" sz="750" dirty="0"/>
          </a:p>
        </p:txBody>
      </p:sp>
      <p:sp>
        <p:nvSpPr>
          <p:cNvPr id="56" name="Shape 53"/>
          <p:cNvSpPr/>
          <p:nvPr/>
        </p:nvSpPr>
        <p:spPr>
          <a:xfrm>
            <a:off x="1901952" y="4005072"/>
            <a:ext cx="3108960" cy="164592"/>
          </a:xfrm>
          <a:prstGeom prst="roundRect">
            <a:avLst>
              <a:gd name="adj" fmla="val 16667"/>
            </a:avLst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1901952" y="4005072"/>
            <a:ext cx="1400338" cy="164592"/>
          </a:xfrm>
          <a:prstGeom prst="roundRect">
            <a:avLst>
              <a:gd name="adj" fmla="val 16667"/>
            </a:avLst>
          </a:prstGeom>
          <a:solidFill>
            <a:srgbClr val="FFE580"/>
          </a:solidFill>
          <a:ln w="12700">
            <a:solidFill>
              <a:srgbClr val="FFE580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237744" y="3968496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 Engineer</a:t>
            </a:r>
            <a:endParaRPr lang="en-US" sz="750" dirty="0"/>
          </a:p>
        </p:txBody>
      </p:sp>
      <p:sp>
        <p:nvSpPr>
          <p:cNvPr id="59" name="Text 56"/>
          <p:cNvSpPr/>
          <p:nvPr/>
        </p:nvSpPr>
        <p:spPr>
          <a:xfrm>
            <a:off x="4882896" y="39684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E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50.7%</a:t>
            </a:r>
            <a:endParaRPr lang="en-US" sz="750" dirty="0"/>
          </a:p>
        </p:txBody>
      </p:sp>
      <p:sp>
        <p:nvSpPr>
          <p:cNvPr id="60" name="Shape 57"/>
          <p:cNvSpPr/>
          <p:nvPr/>
        </p:nvSpPr>
        <p:spPr>
          <a:xfrm>
            <a:off x="1901952" y="4251960"/>
            <a:ext cx="3108960" cy="164592"/>
          </a:xfrm>
          <a:prstGeom prst="roundRect">
            <a:avLst>
              <a:gd name="adj" fmla="val 16667"/>
            </a:avLst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1901952" y="4251960"/>
            <a:ext cx="1379438" cy="164592"/>
          </a:xfrm>
          <a:prstGeom prst="roundRect">
            <a:avLst>
              <a:gd name="adj" fmla="val 16667"/>
            </a:avLst>
          </a:prstGeom>
          <a:solidFill>
            <a:srgbClr val="FFF0A0"/>
          </a:solidFill>
          <a:ln w="12700">
            <a:solidFill>
              <a:srgbClr val="FFF0A0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237744" y="4215384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Developer</a:t>
            </a:r>
            <a:endParaRPr lang="en-US" sz="750" dirty="0"/>
          </a:p>
        </p:txBody>
      </p:sp>
      <p:sp>
        <p:nvSpPr>
          <p:cNvPr id="63" name="Text 60"/>
          <p:cNvSpPr/>
          <p:nvPr/>
        </p:nvSpPr>
        <p:spPr>
          <a:xfrm>
            <a:off x="4882896" y="42153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50.6%</a:t>
            </a:r>
            <a:endParaRPr lang="en-US" sz="750" dirty="0"/>
          </a:p>
        </p:txBody>
      </p:sp>
      <p:sp>
        <p:nvSpPr>
          <p:cNvPr id="64" name="Shape 61"/>
          <p:cNvSpPr/>
          <p:nvPr/>
        </p:nvSpPr>
        <p:spPr>
          <a:xfrm>
            <a:off x="5376672" y="1645920"/>
            <a:ext cx="3657600" cy="2798064"/>
          </a:xfrm>
          <a:prstGeom prst="roundRect">
            <a:avLst>
              <a:gd name="adj" fmla="val 3922"/>
            </a:avLst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sp>
        <p:nvSpPr>
          <p:cNvPr id="65" name="Text 62"/>
          <p:cNvSpPr/>
          <p:nvPr/>
        </p:nvSpPr>
        <p:spPr>
          <a:xfrm>
            <a:off x="5559552" y="171907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AI-Safe Roles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5431536" y="2011680"/>
            <a:ext cx="3547872" cy="365760"/>
          </a:xfrm>
          <a:prstGeom prst="roundRect">
            <a:avLst>
              <a:gd name="adj" fmla="val 15000"/>
            </a:avLst>
          </a:prstGeom>
          <a:solidFill>
            <a:srgbClr val="060E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5504688" y="202996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UX Designer</a:t>
            </a:r>
            <a:endParaRPr lang="en-US" sz="900" dirty="0"/>
          </a:p>
        </p:txBody>
      </p:sp>
      <p:sp>
        <p:nvSpPr>
          <p:cNvPr id="68" name="Text 65"/>
          <p:cNvSpPr/>
          <p:nvPr/>
        </p:nvSpPr>
        <p:spPr>
          <a:xfrm>
            <a:off x="7516368" y="2029968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46.0%</a:t>
            </a:r>
            <a:endParaRPr lang="en-US" sz="800" dirty="0"/>
          </a:p>
        </p:txBody>
      </p:sp>
      <p:sp>
        <p:nvSpPr>
          <p:cNvPr id="69" name="Shape 66"/>
          <p:cNvSpPr/>
          <p:nvPr/>
        </p:nvSpPr>
        <p:spPr>
          <a:xfrm>
            <a:off x="8284464" y="2075688"/>
            <a:ext cx="658368" cy="219456"/>
          </a:xfrm>
          <a:prstGeom prst="roundRect">
            <a:avLst>
              <a:gd name="adj" fmla="val 16667"/>
            </a:avLst>
          </a:prstGeom>
          <a:solidFill>
            <a:srgbClr val="060E1A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8284464" y="207568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650" dirty="0"/>
          </a:p>
        </p:txBody>
      </p:sp>
      <p:sp>
        <p:nvSpPr>
          <p:cNvPr id="71" name="Shape 68"/>
          <p:cNvSpPr/>
          <p:nvPr/>
        </p:nvSpPr>
        <p:spPr>
          <a:xfrm>
            <a:off x="5431536" y="2468880"/>
            <a:ext cx="3547872" cy="365760"/>
          </a:xfrm>
          <a:prstGeom prst="roundRect">
            <a:avLst>
              <a:gd name="adj" fmla="val 15000"/>
            </a:avLst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5504688" y="248716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Data Scientist</a:t>
            </a:r>
            <a:endParaRPr lang="en-US" sz="900" dirty="0"/>
          </a:p>
        </p:txBody>
      </p:sp>
      <p:sp>
        <p:nvSpPr>
          <p:cNvPr id="73" name="Text 70"/>
          <p:cNvSpPr/>
          <p:nvPr/>
        </p:nvSpPr>
        <p:spPr>
          <a:xfrm>
            <a:off x="7516368" y="2487168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47.0%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8284464" y="2532888"/>
            <a:ext cx="658368" cy="219456"/>
          </a:xfrm>
          <a:prstGeom prst="roundRect">
            <a:avLst>
              <a:gd name="adj" fmla="val 16667"/>
            </a:avLst>
          </a:prstGeom>
          <a:solidFill>
            <a:srgbClr val="060E1A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8284464" y="253288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650" dirty="0"/>
          </a:p>
        </p:txBody>
      </p:sp>
      <p:sp>
        <p:nvSpPr>
          <p:cNvPr id="76" name="Shape 73"/>
          <p:cNvSpPr/>
          <p:nvPr/>
        </p:nvSpPr>
        <p:spPr>
          <a:xfrm>
            <a:off x="5431536" y="2926080"/>
            <a:ext cx="3547872" cy="365760"/>
          </a:xfrm>
          <a:prstGeom prst="roundRect">
            <a:avLst>
              <a:gd name="adj" fmla="val 15000"/>
            </a:avLst>
          </a:prstGeom>
          <a:solidFill>
            <a:srgbClr val="060E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5504688" y="294436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ML Engineer</a:t>
            </a:r>
            <a:endParaRPr lang="en-US" sz="900" dirty="0"/>
          </a:p>
        </p:txBody>
      </p:sp>
      <p:sp>
        <p:nvSpPr>
          <p:cNvPr id="78" name="Text 75"/>
          <p:cNvSpPr/>
          <p:nvPr/>
        </p:nvSpPr>
        <p:spPr>
          <a:xfrm>
            <a:off x="7516368" y="2944368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47.2%</a:t>
            </a:r>
            <a:endParaRPr lang="en-US" sz="800" dirty="0"/>
          </a:p>
        </p:txBody>
      </p:sp>
      <p:sp>
        <p:nvSpPr>
          <p:cNvPr id="79" name="Shape 76"/>
          <p:cNvSpPr/>
          <p:nvPr/>
        </p:nvSpPr>
        <p:spPr>
          <a:xfrm>
            <a:off x="8284464" y="2990088"/>
            <a:ext cx="658368" cy="219456"/>
          </a:xfrm>
          <a:prstGeom prst="roundRect">
            <a:avLst>
              <a:gd name="adj" fmla="val 16667"/>
            </a:avLst>
          </a:prstGeom>
          <a:solidFill>
            <a:srgbClr val="060E1A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8284464" y="299008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650" dirty="0"/>
          </a:p>
        </p:txBody>
      </p:sp>
      <p:sp>
        <p:nvSpPr>
          <p:cNvPr id="81" name="Shape 78"/>
          <p:cNvSpPr/>
          <p:nvPr/>
        </p:nvSpPr>
        <p:spPr>
          <a:xfrm>
            <a:off x="5431536" y="3383280"/>
            <a:ext cx="3547872" cy="365760"/>
          </a:xfrm>
          <a:prstGeom prst="roundRect">
            <a:avLst>
              <a:gd name="adj" fmla="val 15000"/>
            </a:avLst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5504688" y="340156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Business Analyst</a:t>
            </a:r>
            <a:endParaRPr lang="en-US" sz="900" dirty="0"/>
          </a:p>
        </p:txBody>
      </p:sp>
      <p:sp>
        <p:nvSpPr>
          <p:cNvPr id="83" name="Text 80"/>
          <p:cNvSpPr/>
          <p:nvPr/>
        </p:nvSpPr>
        <p:spPr>
          <a:xfrm>
            <a:off x="7516368" y="3401568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47.3%</a:t>
            </a:r>
            <a:endParaRPr lang="en-US" sz="800" dirty="0"/>
          </a:p>
        </p:txBody>
      </p:sp>
      <p:sp>
        <p:nvSpPr>
          <p:cNvPr id="84" name="Shape 81"/>
          <p:cNvSpPr/>
          <p:nvPr/>
        </p:nvSpPr>
        <p:spPr>
          <a:xfrm>
            <a:off x="8284464" y="3447288"/>
            <a:ext cx="658368" cy="219456"/>
          </a:xfrm>
          <a:prstGeom prst="roundRect">
            <a:avLst>
              <a:gd name="adj" fmla="val 16667"/>
            </a:avLst>
          </a:prstGeom>
          <a:solidFill>
            <a:srgbClr val="060E1A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8284464" y="344728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650" dirty="0"/>
          </a:p>
        </p:txBody>
      </p:sp>
      <p:sp>
        <p:nvSpPr>
          <p:cNvPr id="86" name="Shape 83"/>
          <p:cNvSpPr/>
          <p:nvPr/>
        </p:nvSpPr>
        <p:spPr>
          <a:xfrm>
            <a:off x="5431536" y="3840480"/>
            <a:ext cx="3547872" cy="365760"/>
          </a:xfrm>
          <a:prstGeom prst="roundRect">
            <a:avLst>
              <a:gd name="adj" fmla="val 15000"/>
            </a:avLst>
          </a:prstGeom>
          <a:solidFill>
            <a:srgbClr val="060E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5504688" y="385876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AI Engineer</a:t>
            </a:r>
            <a:endParaRPr lang="en-US" sz="900" dirty="0"/>
          </a:p>
        </p:txBody>
      </p:sp>
      <p:sp>
        <p:nvSpPr>
          <p:cNvPr id="88" name="Text 85"/>
          <p:cNvSpPr/>
          <p:nvPr/>
        </p:nvSpPr>
        <p:spPr>
          <a:xfrm>
            <a:off x="7516368" y="3858768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47.6%</a:t>
            </a:r>
            <a:endParaRPr lang="en-US" sz="800" dirty="0"/>
          </a:p>
        </p:txBody>
      </p:sp>
      <p:sp>
        <p:nvSpPr>
          <p:cNvPr id="89" name="Shape 86"/>
          <p:cNvSpPr/>
          <p:nvPr/>
        </p:nvSpPr>
        <p:spPr>
          <a:xfrm>
            <a:off x="8284464" y="3904488"/>
            <a:ext cx="658368" cy="219456"/>
          </a:xfrm>
          <a:prstGeom prst="roundRect">
            <a:avLst>
              <a:gd name="adj" fmla="val 16667"/>
            </a:avLst>
          </a:prstGeom>
          <a:solidFill>
            <a:srgbClr val="060E1A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8284464" y="390448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650" dirty="0"/>
          </a:p>
        </p:txBody>
      </p:sp>
      <p:sp>
        <p:nvSpPr>
          <p:cNvPr id="91" name="Shape 88"/>
          <p:cNvSpPr/>
          <p:nvPr/>
        </p:nvSpPr>
        <p:spPr>
          <a:xfrm>
            <a:off x="9217152" y="1645920"/>
            <a:ext cx="2779776" cy="2798064"/>
          </a:xfrm>
          <a:prstGeom prst="roundRect">
            <a:avLst>
              <a:gd name="adj" fmla="val 3947"/>
            </a:avLst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sp>
        <p:nvSpPr>
          <p:cNvPr id="92" name="Text 89"/>
          <p:cNvSpPr/>
          <p:nvPr/>
        </p:nvSpPr>
        <p:spPr>
          <a:xfrm>
            <a:off x="9381744" y="1719072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by Country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10387584" y="2048256"/>
            <a:ext cx="1737360" cy="146304"/>
          </a:xfrm>
          <a:prstGeom prst="roundRect">
            <a:avLst>
              <a:gd name="adj" fmla="val 18750"/>
            </a:avLst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10387584" y="2048256"/>
            <a:ext cx="1737360" cy="146304"/>
          </a:xfrm>
          <a:prstGeom prst="roundRect">
            <a:avLst>
              <a:gd name="adj" fmla="val 1875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9253728" y="2011680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</a:t>
            </a:r>
            <a:endParaRPr lang="en-US" sz="750" dirty="0"/>
          </a:p>
        </p:txBody>
      </p:sp>
      <p:sp>
        <p:nvSpPr>
          <p:cNvPr id="96" name="Text 93"/>
          <p:cNvSpPr/>
          <p:nvPr/>
        </p:nvSpPr>
        <p:spPr>
          <a:xfrm>
            <a:off x="12015216" y="2011680"/>
            <a:ext cx="54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$133.2K</a:t>
            </a:r>
            <a:endParaRPr lang="en-US" sz="650" dirty="0"/>
          </a:p>
        </p:txBody>
      </p:sp>
      <p:sp>
        <p:nvSpPr>
          <p:cNvPr id="97" name="Shape 94"/>
          <p:cNvSpPr/>
          <p:nvPr/>
        </p:nvSpPr>
        <p:spPr>
          <a:xfrm>
            <a:off x="10387584" y="2290572"/>
            <a:ext cx="1737360" cy="146304"/>
          </a:xfrm>
          <a:prstGeom prst="roundRect">
            <a:avLst>
              <a:gd name="adj" fmla="val 18750"/>
            </a:avLst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10387584" y="2290572"/>
            <a:ext cx="1417446" cy="146304"/>
          </a:xfrm>
          <a:prstGeom prst="roundRect">
            <a:avLst>
              <a:gd name="adj" fmla="val 18750"/>
            </a:avLst>
          </a:prstGeom>
          <a:solidFill>
            <a:srgbClr val="20CAF5"/>
          </a:solidFill>
          <a:ln w="12700">
            <a:solidFill>
              <a:srgbClr val="20CAF5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9253728" y="2253996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</a:t>
            </a:r>
            <a:endParaRPr lang="en-US" sz="750" dirty="0"/>
          </a:p>
        </p:txBody>
      </p:sp>
      <p:sp>
        <p:nvSpPr>
          <p:cNvPr id="100" name="Text 97"/>
          <p:cNvSpPr/>
          <p:nvPr/>
        </p:nvSpPr>
        <p:spPr>
          <a:xfrm>
            <a:off x="12015216" y="2253996"/>
            <a:ext cx="54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$131.0K</a:t>
            </a:r>
            <a:endParaRPr lang="en-US" sz="650" dirty="0"/>
          </a:p>
        </p:txBody>
      </p:sp>
      <p:sp>
        <p:nvSpPr>
          <p:cNvPr id="101" name="Shape 98"/>
          <p:cNvSpPr/>
          <p:nvPr/>
        </p:nvSpPr>
        <p:spPr>
          <a:xfrm>
            <a:off x="10387584" y="2532888"/>
            <a:ext cx="1737360" cy="146304"/>
          </a:xfrm>
          <a:prstGeom prst="roundRect">
            <a:avLst>
              <a:gd name="adj" fmla="val 18750"/>
            </a:avLst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10387584" y="2532888"/>
            <a:ext cx="1139615" cy="146304"/>
          </a:xfrm>
          <a:prstGeom prst="roundRect">
            <a:avLst>
              <a:gd name="adj" fmla="val 18750"/>
            </a:avLst>
          </a:prstGeom>
          <a:solidFill>
            <a:srgbClr val="1EBFE8"/>
          </a:solidFill>
          <a:ln w="12700">
            <a:solidFill>
              <a:srgbClr val="1EBFE8"/>
            </a:solidFill>
            <a:prstDash val="solid"/>
          </a:ln>
        </p:spPr>
      </p:sp>
      <p:sp>
        <p:nvSpPr>
          <p:cNvPr id="103" name="Text 100"/>
          <p:cNvSpPr/>
          <p:nvPr/>
        </p:nvSpPr>
        <p:spPr>
          <a:xfrm>
            <a:off x="9253728" y="249631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</a:t>
            </a:r>
            <a:endParaRPr lang="en-US" sz="750" dirty="0"/>
          </a:p>
        </p:txBody>
      </p:sp>
      <p:sp>
        <p:nvSpPr>
          <p:cNvPr id="104" name="Text 101"/>
          <p:cNvSpPr/>
          <p:nvPr/>
        </p:nvSpPr>
        <p:spPr>
          <a:xfrm>
            <a:off x="12015216" y="2496312"/>
            <a:ext cx="54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EB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$129.0K</a:t>
            </a:r>
            <a:endParaRPr lang="en-US" sz="650" dirty="0"/>
          </a:p>
        </p:txBody>
      </p:sp>
      <p:sp>
        <p:nvSpPr>
          <p:cNvPr id="105" name="Shape 102"/>
          <p:cNvSpPr/>
          <p:nvPr/>
        </p:nvSpPr>
        <p:spPr>
          <a:xfrm>
            <a:off x="10387584" y="2775204"/>
            <a:ext cx="1737360" cy="146304"/>
          </a:xfrm>
          <a:prstGeom prst="roundRect">
            <a:avLst>
              <a:gd name="adj" fmla="val 18750"/>
            </a:avLst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10387584" y="2775204"/>
            <a:ext cx="1054019" cy="146304"/>
          </a:xfrm>
          <a:prstGeom prst="roundRect">
            <a:avLst>
              <a:gd name="adj" fmla="val 18750"/>
            </a:avLst>
          </a:prstGeom>
          <a:solidFill>
            <a:srgbClr val="1CB4DA"/>
          </a:solidFill>
          <a:ln w="12700">
            <a:solidFill>
              <a:srgbClr val="1CB4DA"/>
            </a:solidFill>
            <a:prstDash val="solid"/>
          </a:ln>
        </p:spPr>
      </p:sp>
      <p:sp>
        <p:nvSpPr>
          <p:cNvPr id="107" name="Text 104"/>
          <p:cNvSpPr/>
          <p:nvPr/>
        </p:nvSpPr>
        <p:spPr>
          <a:xfrm>
            <a:off x="9253728" y="2738628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</a:t>
            </a:r>
            <a:endParaRPr lang="en-US" sz="750" dirty="0"/>
          </a:p>
        </p:txBody>
      </p:sp>
      <p:sp>
        <p:nvSpPr>
          <p:cNvPr id="108" name="Text 105"/>
          <p:cNvSpPr/>
          <p:nvPr/>
        </p:nvSpPr>
        <p:spPr>
          <a:xfrm>
            <a:off x="12015216" y="2738628"/>
            <a:ext cx="54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C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$128.4K</a:t>
            </a:r>
            <a:endParaRPr lang="en-US" sz="650" dirty="0"/>
          </a:p>
        </p:txBody>
      </p:sp>
      <p:sp>
        <p:nvSpPr>
          <p:cNvPr id="109" name="Shape 106"/>
          <p:cNvSpPr/>
          <p:nvPr/>
        </p:nvSpPr>
        <p:spPr>
          <a:xfrm>
            <a:off x="10387584" y="3017520"/>
            <a:ext cx="1737360" cy="146304"/>
          </a:xfrm>
          <a:prstGeom prst="roundRect">
            <a:avLst>
              <a:gd name="adj" fmla="val 18750"/>
            </a:avLst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10387584" y="3017520"/>
            <a:ext cx="720221" cy="146304"/>
          </a:xfrm>
          <a:prstGeom prst="roundRect">
            <a:avLst>
              <a:gd name="adj" fmla="val 18750"/>
            </a:avLst>
          </a:prstGeom>
          <a:solidFill>
            <a:srgbClr val="1AA8CC"/>
          </a:solidFill>
          <a:ln w="12700">
            <a:solidFill>
              <a:srgbClr val="1AA8CC"/>
            </a:solidFill>
            <a:prstDash val="solid"/>
          </a:ln>
        </p:spPr>
      </p:sp>
      <p:sp>
        <p:nvSpPr>
          <p:cNvPr id="111" name="Text 108"/>
          <p:cNvSpPr/>
          <p:nvPr/>
        </p:nvSpPr>
        <p:spPr>
          <a:xfrm>
            <a:off x="9253728" y="2980944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</a:t>
            </a:r>
            <a:endParaRPr lang="en-US" sz="750" dirty="0"/>
          </a:p>
        </p:txBody>
      </p:sp>
      <p:sp>
        <p:nvSpPr>
          <p:cNvPr id="112" name="Text 109"/>
          <p:cNvSpPr/>
          <p:nvPr/>
        </p:nvSpPr>
        <p:spPr>
          <a:xfrm>
            <a:off x="12015216" y="2980944"/>
            <a:ext cx="54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A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$126.1K</a:t>
            </a:r>
            <a:endParaRPr lang="en-US" sz="650" dirty="0"/>
          </a:p>
        </p:txBody>
      </p:sp>
      <p:sp>
        <p:nvSpPr>
          <p:cNvPr id="113" name="Shape 110"/>
          <p:cNvSpPr/>
          <p:nvPr/>
        </p:nvSpPr>
        <p:spPr>
          <a:xfrm>
            <a:off x="10387584" y="3259836"/>
            <a:ext cx="1737360" cy="146304"/>
          </a:xfrm>
          <a:prstGeom prst="roundRect">
            <a:avLst>
              <a:gd name="adj" fmla="val 18750"/>
            </a:avLst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10387584" y="3259836"/>
            <a:ext cx="677565" cy="146304"/>
          </a:xfrm>
          <a:prstGeom prst="roundRect">
            <a:avLst>
              <a:gd name="adj" fmla="val 18750"/>
            </a:avLst>
          </a:prstGeom>
          <a:solidFill>
            <a:srgbClr val="18A0BE"/>
          </a:solidFill>
          <a:ln w="12700">
            <a:solidFill>
              <a:srgbClr val="18A0BE"/>
            </a:solidFill>
            <a:prstDash val="solid"/>
          </a:ln>
        </p:spPr>
      </p:sp>
      <p:sp>
        <p:nvSpPr>
          <p:cNvPr id="115" name="Text 112"/>
          <p:cNvSpPr/>
          <p:nvPr/>
        </p:nvSpPr>
        <p:spPr>
          <a:xfrm>
            <a:off x="9253728" y="3223260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</a:t>
            </a:r>
            <a:endParaRPr lang="en-US" sz="750" dirty="0"/>
          </a:p>
        </p:txBody>
      </p:sp>
      <p:sp>
        <p:nvSpPr>
          <p:cNvPr id="116" name="Text 113"/>
          <p:cNvSpPr/>
          <p:nvPr/>
        </p:nvSpPr>
        <p:spPr>
          <a:xfrm>
            <a:off x="12015216" y="3223260"/>
            <a:ext cx="54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8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$125.8K</a:t>
            </a:r>
            <a:endParaRPr lang="en-US" sz="650" dirty="0"/>
          </a:p>
        </p:txBody>
      </p:sp>
      <p:sp>
        <p:nvSpPr>
          <p:cNvPr id="117" name="Shape 114"/>
          <p:cNvSpPr/>
          <p:nvPr/>
        </p:nvSpPr>
        <p:spPr>
          <a:xfrm>
            <a:off x="10387584" y="3502152"/>
            <a:ext cx="1737360" cy="146304"/>
          </a:xfrm>
          <a:prstGeom prst="roundRect">
            <a:avLst>
              <a:gd name="adj" fmla="val 18750"/>
            </a:avLst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10387584" y="3502152"/>
            <a:ext cx="420346" cy="146304"/>
          </a:xfrm>
          <a:prstGeom prst="roundRect">
            <a:avLst>
              <a:gd name="adj" fmla="val 18750"/>
            </a:avLst>
          </a:prstGeom>
          <a:solidFill>
            <a:srgbClr val="168FAE"/>
          </a:solidFill>
          <a:ln w="12700">
            <a:solidFill>
              <a:srgbClr val="168FAE"/>
            </a:solidFill>
            <a:prstDash val="solid"/>
          </a:ln>
        </p:spPr>
      </p:sp>
      <p:sp>
        <p:nvSpPr>
          <p:cNvPr id="119" name="Text 116"/>
          <p:cNvSpPr/>
          <p:nvPr/>
        </p:nvSpPr>
        <p:spPr>
          <a:xfrm>
            <a:off x="9253728" y="3465576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</a:t>
            </a:r>
            <a:endParaRPr lang="en-US" sz="750" dirty="0"/>
          </a:p>
        </p:txBody>
      </p:sp>
      <p:sp>
        <p:nvSpPr>
          <p:cNvPr id="120" name="Text 117"/>
          <p:cNvSpPr/>
          <p:nvPr/>
        </p:nvSpPr>
        <p:spPr>
          <a:xfrm>
            <a:off x="12015216" y="3465576"/>
            <a:ext cx="54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6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$124.0K</a:t>
            </a:r>
            <a:endParaRPr lang="en-US" sz="650" dirty="0"/>
          </a:p>
        </p:txBody>
      </p:sp>
      <p:sp>
        <p:nvSpPr>
          <p:cNvPr id="121" name="Shape 118"/>
          <p:cNvSpPr/>
          <p:nvPr/>
        </p:nvSpPr>
        <p:spPr>
          <a:xfrm>
            <a:off x="10387584" y="3744468"/>
            <a:ext cx="1737360" cy="146304"/>
          </a:xfrm>
          <a:prstGeom prst="roundRect">
            <a:avLst>
              <a:gd name="adj" fmla="val 18750"/>
            </a:avLst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10387584" y="3744468"/>
            <a:ext cx="379122" cy="146304"/>
          </a:xfrm>
          <a:prstGeom prst="roundRect">
            <a:avLst>
              <a:gd name="adj" fmla="val 18750"/>
            </a:avLst>
          </a:prstGeom>
          <a:solidFill>
            <a:srgbClr val="148298"/>
          </a:solidFill>
          <a:ln w="12700">
            <a:solidFill>
              <a:srgbClr val="148298"/>
            </a:solidFill>
            <a:prstDash val="solid"/>
          </a:ln>
        </p:spPr>
      </p:sp>
      <p:sp>
        <p:nvSpPr>
          <p:cNvPr id="123" name="Text 120"/>
          <p:cNvSpPr/>
          <p:nvPr/>
        </p:nvSpPr>
        <p:spPr>
          <a:xfrm>
            <a:off x="9253728" y="370789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</a:t>
            </a:r>
            <a:endParaRPr lang="en-US" sz="750" dirty="0"/>
          </a:p>
        </p:txBody>
      </p:sp>
      <p:sp>
        <p:nvSpPr>
          <p:cNvPr id="124" name="Text 121"/>
          <p:cNvSpPr/>
          <p:nvPr/>
        </p:nvSpPr>
        <p:spPr>
          <a:xfrm>
            <a:off x="12015216" y="3707892"/>
            <a:ext cx="54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48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$123.7K</a:t>
            </a:r>
            <a:endParaRPr lang="en-US" sz="650" dirty="0"/>
          </a:p>
        </p:txBody>
      </p:sp>
      <p:sp>
        <p:nvSpPr>
          <p:cNvPr id="125" name="Shape 122"/>
          <p:cNvSpPr/>
          <p:nvPr/>
        </p:nvSpPr>
        <p:spPr>
          <a:xfrm>
            <a:off x="10387584" y="3986784"/>
            <a:ext cx="1737360" cy="146304"/>
          </a:xfrm>
          <a:prstGeom prst="roundRect">
            <a:avLst>
              <a:gd name="adj" fmla="val 18750"/>
            </a:avLst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10387584" y="3986784"/>
            <a:ext cx="256024" cy="146304"/>
          </a:xfrm>
          <a:prstGeom prst="roundRect">
            <a:avLst>
              <a:gd name="adj" fmla="val 18750"/>
            </a:avLst>
          </a:prstGeom>
          <a:solidFill>
            <a:srgbClr val="127388"/>
          </a:solidFill>
          <a:ln w="12700">
            <a:solidFill>
              <a:srgbClr val="127388"/>
            </a:solidFill>
            <a:prstDash val="solid"/>
          </a:ln>
        </p:spPr>
      </p:sp>
      <p:sp>
        <p:nvSpPr>
          <p:cNvPr id="127" name="Text 124"/>
          <p:cNvSpPr/>
          <p:nvPr/>
        </p:nvSpPr>
        <p:spPr>
          <a:xfrm>
            <a:off x="9253728" y="3950208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</a:t>
            </a:r>
            <a:endParaRPr lang="en-US" sz="750" dirty="0"/>
          </a:p>
        </p:txBody>
      </p:sp>
      <p:sp>
        <p:nvSpPr>
          <p:cNvPr id="128" name="Text 125"/>
          <p:cNvSpPr/>
          <p:nvPr/>
        </p:nvSpPr>
        <p:spPr>
          <a:xfrm>
            <a:off x="12015216" y="3950208"/>
            <a:ext cx="54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2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$122.9K</a:t>
            </a:r>
            <a:endParaRPr lang="en-US" sz="650" dirty="0"/>
          </a:p>
        </p:txBody>
      </p:sp>
      <p:sp>
        <p:nvSpPr>
          <p:cNvPr id="129" name="Shape 126"/>
          <p:cNvSpPr/>
          <p:nvPr/>
        </p:nvSpPr>
        <p:spPr>
          <a:xfrm>
            <a:off x="10387584" y="4229100"/>
            <a:ext cx="1737360" cy="146304"/>
          </a:xfrm>
          <a:prstGeom prst="roundRect">
            <a:avLst>
              <a:gd name="adj" fmla="val 18750"/>
            </a:avLst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10387584" y="4229100"/>
            <a:ext cx="182880" cy="146304"/>
          </a:xfrm>
          <a:prstGeom prst="roundRect">
            <a:avLst>
              <a:gd name="adj" fmla="val 18750"/>
            </a:avLst>
          </a:prstGeom>
          <a:solidFill>
            <a:srgbClr val="106282"/>
          </a:solidFill>
          <a:ln w="12700">
            <a:solidFill>
              <a:srgbClr val="106282"/>
            </a:solidFill>
            <a:prstDash val="solid"/>
          </a:ln>
        </p:spPr>
      </p:sp>
      <p:sp>
        <p:nvSpPr>
          <p:cNvPr id="131" name="Text 128"/>
          <p:cNvSpPr/>
          <p:nvPr/>
        </p:nvSpPr>
        <p:spPr>
          <a:xfrm>
            <a:off x="9253728" y="4192524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</a:t>
            </a:r>
            <a:endParaRPr lang="en-US" sz="750" dirty="0"/>
          </a:p>
        </p:txBody>
      </p:sp>
      <p:sp>
        <p:nvSpPr>
          <p:cNvPr id="132" name="Text 129"/>
          <p:cNvSpPr/>
          <p:nvPr/>
        </p:nvSpPr>
        <p:spPr>
          <a:xfrm>
            <a:off x="12015216" y="4192524"/>
            <a:ext cx="54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06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$122.4K</a:t>
            </a:r>
            <a:endParaRPr lang="en-US" sz="650" dirty="0"/>
          </a:p>
        </p:txBody>
      </p:sp>
      <p:sp>
        <p:nvSpPr>
          <p:cNvPr id="133" name="Shape 130"/>
          <p:cNvSpPr/>
          <p:nvPr/>
        </p:nvSpPr>
        <p:spPr>
          <a:xfrm>
            <a:off x="164592" y="4590288"/>
            <a:ext cx="2249424" cy="2139696"/>
          </a:xfrm>
          <a:prstGeom prst="roundRect">
            <a:avLst>
              <a:gd name="adj" fmla="val 5128"/>
            </a:avLst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sp>
        <p:nvSpPr>
          <p:cNvPr id="134" name="Text 131"/>
          <p:cNvSpPr/>
          <p:nvPr/>
        </p:nvSpPr>
        <p:spPr>
          <a:xfrm>
            <a:off x="274320" y="4663440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by Education</a:t>
            </a:r>
            <a:endParaRPr lang="en-US" sz="850" dirty="0"/>
          </a:p>
        </p:txBody>
      </p:sp>
      <p:graphicFrame>
        <p:nvGraphicFramePr>
          <p:cNvPr id="135" name="Chart 0" descr=""/>
          <p:cNvGraphicFramePr/>
          <p:nvPr/>
        </p:nvGraphicFramePr>
        <p:xfrm>
          <a:off x="164592" y="4901184"/>
          <a:ext cx="2249424" cy="177393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6" name="Shape 132"/>
          <p:cNvSpPr/>
          <p:nvPr/>
        </p:nvSpPr>
        <p:spPr>
          <a:xfrm>
            <a:off x="2560320" y="4590288"/>
            <a:ext cx="2249424" cy="2139696"/>
          </a:xfrm>
          <a:prstGeom prst="roundRect">
            <a:avLst>
              <a:gd name="adj" fmla="val 5128"/>
            </a:avLst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sp>
        <p:nvSpPr>
          <p:cNvPr id="137" name="Text 133"/>
          <p:cNvSpPr/>
          <p:nvPr/>
        </p:nvSpPr>
        <p:spPr>
          <a:xfrm>
            <a:off x="2670048" y="4663440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Perf: Upskill vs None</a:t>
            </a:r>
            <a:endParaRPr lang="en-US" sz="850" dirty="0"/>
          </a:p>
        </p:txBody>
      </p:sp>
      <p:graphicFrame>
        <p:nvGraphicFramePr>
          <p:cNvPr id="138" name="Chart 1" descr=""/>
          <p:cNvGraphicFramePr/>
          <p:nvPr/>
        </p:nvGraphicFramePr>
        <p:xfrm>
          <a:off x="2560320" y="4901184"/>
          <a:ext cx="2249424" cy="177393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9" name="Shape 134"/>
          <p:cNvSpPr/>
          <p:nvPr/>
        </p:nvSpPr>
        <p:spPr>
          <a:xfrm>
            <a:off x="4956048" y="4590288"/>
            <a:ext cx="2249424" cy="2139696"/>
          </a:xfrm>
          <a:prstGeom prst="roundRect">
            <a:avLst>
              <a:gd name="adj" fmla="val 5128"/>
            </a:avLst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sp>
        <p:nvSpPr>
          <p:cNvPr id="140" name="Text 135"/>
          <p:cNvSpPr/>
          <p:nvPr/>
        </p:nvSpPr>
        <p:spPr>
          <a:xfrm>
            <a:off x="5065776" y="4663440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by AI Tool</a:t>
            </a:r>
            <a:endParaRPr lang="en-US" sz="850" dirty="0"/>
          </a:p>
        </p:txBody>
      </p:sp>
      <p:graphicFrame>
        <p:nvGraphicFramePr>
          <p:cNvPr id="141" name="Chart 2" descr=""/>
          <p:cNvGraphicFramePr/>
          <p:nvPr/>
        </p:nvGraphicFramePr>
        <p:xfrm>
          <a:off x="4956048" y="4901184"/>
          <a:ext cx="2249424" cy="177393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2" name="Shape 136"/>
          <p:cNvSpPr/>
          <p:nvPr/>
        </p:nvSpPr>
        <p:spPr>
          <a:xfrm>
            <a:off x="7351776" y="4590288"/>
            <a:ext cx="2249424" cy="2139696"/>
          </a:xfrm>
          <a:prstGeom prst="roundRect">
            <a:avLst>
              <a:gd name="adj" fmla="val 5128"/>
            </a:avLst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sp>
        <p:nvSpPr>
          <p:cNvPr id="143" name="Text 137"/>
          <p:cNvSpPr/>
          <p:nvPr/>
        </p:nvSpPr>
        <p:spPr>
          <a:xfrm>
            <a:off x="7461504" y="4663440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Work Split</a:t>
            </a:r>
            <a:endParaRPr lang="en-US" sz="850" dirty="0"/>
          </a:p>
        </p:txBody>
      </p:sp>
      <p:graphicFrame>
        <p:nvGraphicFramePr>
          <p:cNvPr id="144" name="Chart 3" descr=""/>
          <p:cNvGraphicFramePr/>
          <p:nvPr/>
        </p:nvGraphicFramePr>
        <p:xfrm>
          <a:off x="7351776" y="4901184"/>
          <a:ext cx="2249424" cy="177393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45" name="Shape 138"/>
          <p:cNvSpPr/>
          <p:nvPr/>
        </p:nvSpPr>
        <p:spPr>
          <a:xfrm>
            <a:off x="9747504" y="4590288"/>
            <a:ext cx="2249424" cy="2139696"/>
          </a:xfrm>
          <a:prstGeom prst="roundRect">
            <a:avLst>
              <a:gd name="adj" fmla="val 5128"/>
            </a:avLst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sp>
        <p:nvSpPr>
          <p:cNvPr id="146" name="Text 139"/>
          <p:cNvSpPr/>
          <p:nvPr/>
        </p:nvSpPr>
        <p:spPr>
          <a:xfrm>
            <a:off x="9857232" y="4663440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Upskilling Need</a:t>
            </a:r>
            <a:endParaRPr lang="en-US" sz="850" dirty="0"/>
          </a:p>
        </p:txBody>
      </p:sp>
      <p:graphicFrame>
        <p:nvGraphicFramePr>
          <p:cNvPr id="147" name="Chart 4" descr=""/>
          <p:cNvGraphicFramePr/>
          <p:nvPr/>
        </p:nvGraphicFramePr>
        <p:xfrm>
          <a:off x="9747504" y="4901184"/>
          <a:ext cx="2249424" cy="177393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1216152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91440"/>
            <a:ext cx="457200" cy="45720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459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8096" y="64008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FINDINGS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68096" y="393192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Evidence-Based Discoveries from 3,000 Records across 10 Industries &amp; 10 Countries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11338560" y="128016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F59E0B">
              <a:alpha val="20000"/>
            </a:srgbClr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338560" y="12801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164592" y="768096"/>
            <a:ext cx="2834640" cy="18288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9525">
            <a:solidFill>
              <a:srgbClr val="F43F5E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92608" y="896112"/>
            <a:ext cx="420624" cy="420624"/>
          </a:xfrm>
          <a:prstGeom prst="ellipse">
            <a:avLst/>
          </a:prstGeom>
          <a:solidFill>
            <a:srgbClr val="F43F5E">
              <a:alpha val="20000"/>
            </a:srgbClr>
          </a:solidFill>
          <a:ln w="9525">
            <a:solidFill>
              <a:srgbClr val="F43F5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92608" y="896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86384" y="896112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Leads Risk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74320" y="1389888"/>
            <a:ext cx="2615184" cy="201168"/>
          </a:xfrm>
          <a:prstGeom prst="roundRect">
            <a:avLst>
              <a:gd name="adj" fmla="val 18182"/>
            </a:avLst>
          </a:prstGeom>
          <a:solidFill>
            <a:srgbClr val="F43F5E">
              <a:alpha val="20000"/>
            </a:srgbClr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7472" y="1389888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STAT:  53.0%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274320" y="1655064"/>
            <a:ext cx="261518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sector has highest AI replacement risk at 53.0% — repetitive auditing and compliance tasks are prime automation targets. Yet it also pays the most ($132K avg).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3163824" y="768096"/>
            <a:ext cx="2834640" cy="18288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9525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291840" y="896112"/>
            <a:ext cx="420624" cy="420624"/>
          </a:xfrm>
          <a:prstGeom prst="ellipse">
            <a:avLst/>
          </a:prstGeom>
          <a:solidFill>
            <a:srgbClr val="10B981">
              <a:alpha val="20000"/>
            </a:srgbClr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91840" y="896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785616" y="896112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is Safest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273552" y="1389888"/>
            <a:ext cx="2615184" cy="201168"/>
          </a:xfrm>
          <a:prstGeom prst="roundRect">
            <a:avLst>
              <a:gd name="adj" fmla="val 18182"/>
            </a:avLst>
          </a:prstGeom>
          <a:solidFill>
            <a:srgbClr val="10B981">
              <a:alpha val="2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346704" y="1389888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STAT:  47.5%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3273552" y="1655064"/>
            <a:ext cx="261518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shows lowest AI risk (47.5%) — clinical judgment, empathy and dexterity create natural automation barriers. Also has highest Future Demand Score (0.613).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6163056" y="768096"/>
            <a:ext cx="2834640" cy="18288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9525">
            <a:solidFill>
              <a:srgbClr val="F43F5E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291072" y="896112"/>
            <a:ext cx="420624" cy="420624"/>
          </a:xfrm>
          <a:prstGeom prst="ellipse">
            <a:avLst/>
          </a:prstGeom>
          <a:solidFill>
            <a:srgbClr val="F43F5E">
              <a:alpha val="20000"/>
            </a:srgbClr>
          </a:solidFill>
          <a:ln w="9525">
            <a:solidFill>
              <a:srgbClr val="F43F5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291072" y="896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784848" y="896112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at Peak Risk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272784" y="1389888"/>
            <a:ext cx="2615184" cy="201168"/>
          </a:xfrm>
          <a:prstGeom prst="roundRect">
            <a:avLst>
              <a:gd name="adj" fmla="val 18182"/>
            </a:avLst>
          </a:prstGeom>
          <a:solidFill>
            <a:srgbClr val="F43F5E">
              <a:alpha val="20000"/>
            </a:srgbClr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345936" y="1389888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STAT:  56.9%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6272784" y="1655064"/>
            <a:ext cx="261518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Engineers face the highest individual role risk at 56.9%. Infrastructure automation (Terraform AI, GitHub Copilot) is already replacing core DevOps tasks.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9162288" y="768096"/>
            <a:ext cx="2834640" cy="18288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9525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9290304" y="896112"/>
            <a:ext cx="420624" cy="420624"/>
          </a:xfrm>
          <a:prstGeom prst="ellipse">
            <a:avLst/>
          </a:prstGeom>
          <a:solidFill>
            <a:srgbClr val="10B981">
              <a:alpha val="20000"/>
            </a:srgbClr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896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9784080" y="896112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Designers Safest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9272016" y="1389888"/>
            <a:ext cx="2615184" cy="201168"/>
          </a:xfrm>
          <a:prstGeom prst="roundRect">
            <a:avLst>
              <a:gd name="adj" fmla="val 18182"/>
            </a:avLst>
          </a:prstGeom>
          <a:solidFill>
            <a:srgbClr val="10B981">
              <a:alpha val="2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345168" y="1389888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STAT:  46.0%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272016" y="1655064"/>
            <a:ext cx="261518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Designers have the lowest replacement risk (46.0%) — creative empathy and user research require human understanding that AI cannot replicate at quality scale.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164592" y="2761488"/>
            <a:ext cx="2834640" cy="18288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9525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292608" y="2889504"/>
            <a:ext cx="420624" cy="420624"/>
          </a:xfrm>
          <a:prstGeom prst="ellipse">
            <a:avLst/>
          </a:prstGeom>
          <a:solidFill>
            <a:srgbClr val="F59E0B">
              <a:alpha val="20000"/>
            </a:srgbClr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292608" y="2889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786384" y="2889504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Pays Most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274320" y="3383280"/>
            <a:ext cx="2615184" cy="201168"/>
          </a:xfrm>
          <a:prstGeom prst="roundRect">
            <a:avLst>
              <a:gd name="adj" fmla="val 18182"/>
            </a:avLst>
          </a:prstGeom>
          <a:solidFill>
            <a:srgbClr val="F59E0B">
              <a:alpha val="2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347472" y="3383280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STAT:  $133.2K</a:t>
            </a:r>
            <a:endParaRPr lang="en-US" sz="750" dirty="0"/>
          </a:p>
        </p:txBody>
      </p:sp>
      <p:sp>
        <p:nvSpPr>
          <p:cNvPr id="44" name="Text 41"/>
          <p:cNvSpPr/>
          <p:nvPr/>
        </p:nvSpPr>
        <p:spPr>
          <a:xfrm>
            <a:off x="274320" y="3648456"/>
            <a:ext cx="261518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Kingdom offers the highest average salary ($133,215) across all 10 countries. Singapore ($131K) and Australia ($129K) follow. Japan offers the lowest at $122.4K.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3163824" y="2761488"/>
            <a:ext cx="2834640" cy="18288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9525">
            <a:solidFill>
              <a:srgbClr val="8B5CF6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3291840" y="2889504"/>
            <a:ext cx="420624" cy="420624"/>
          </a:xfrm>
          <a:prstGeom prst="ellipse">
            <a:avLst/>
          </a:prstGeom>
          <a:solidFill>
            <a:srgbClr val="8B5CF6">
              <a:alpha val="20000"/>
            </a:srgbClr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291840" y="2889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3785616" y="2889504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 Earns More than PhDs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3273552" y="3383280"/>
            <a:ext cx="2615184" cy="201168"/>
          </a:xfrm>
          <a:prstGeom prst="roundRect">
            <a:avLst>
              <a:gd name="adj" fmla="val 18182"/>
            </a:avLst>
          </a:prstGeom>
          <a:solidFill>
            <a:srgbClr val="8B5CF6">
              <a:alpha val="20000"/>
            </a:srgbClr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3346704" y="3383280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STAT:  +$3.7K</a:t>
            </a:r>
            <a:endParaRPr lang="en-US" sz="750" dirty="0"/>
          </a:p>
        </p:txBody>
      </p:sp>
      <p:sp>
        <p:nvSpPr>
          <p:cNvPr id="51" name="Text 48"/>
          <p:cNvSpPr/>
          <p:nvPr/>
        </p:nvSpPr>
        <p:spPr>
          <a:xfrm>
            <a:off x="3273552" y="3648456"/>
            <a:ext cx="261518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Counterintuitively, High School graduates earn $128,510 vs PhDs at $125,193. Practical AI skills and experience outweigh academic credentials in this market.</a:t>
            </a:r>
            <a:endParaRPr lang="en-US" sz="800" dirty="0"/>
          </a:p>
        </p:txBody>
      </p:sp>
      <p:sp>
        <p:nvSpPr>
          <p:cNvPr id="52" name="Shape 49"/>
          <p:cNvSpPr/>
          <p:nvPr/>
        </p:nvSpPr>
        <p:spPr>
          <a:xfrm>
            <a:off x="6163056" y="2761488"/>
            <a:ext cx="2834640" cy="18288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9525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sp>
        <p:nvSpPr>
          <p:cNvPr id="53" name="Shape 50"/>
          <p:cNvSpPr/>
          <p:nvPr/>
        </p:nvSpPr>
        <p:spPr>
          <a:xfrm>
            <a:off x="6291072" y="2889504"/>
            <a:ext cx="420624" cy="420624"/>
          </a:xfrm>
          <a:prstGeom prst="ellipse">
            <a:avLst/>
          </a:prstGeom>
          <a:solidFill>
            <a:srgbClr val="10B981">
              <a:alpha val="20000"/>
            </a:srgbClr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291072" y="2889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6784848" y="2889504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Upskillers Perform Better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6272784" y="3383280"/>
            <a:ext cx="2615184" cy="201168"/>
          </a:xfrm>
          <a:prstGeom prst="roundRect">
            <a:avLst>
              <a:gd name="adj" fmla="val 18182"/>
            </a:avLst>
          </a:prstGeom>
          <a:solidFill>
            <a:srgbClr val="10B981">
              <a:alpha val="2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345936" y="3383280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STAT:  +1.2%</a:t>
            </a:r>
            <a:endParaRPr lang="en-US" sz="750" dirty="0"/>
          </a:p>
        </p:txBody>
      </p:sp>
      <p:sp>
        <p:nvSpPr>
          <p:cNvPr id="58" name="Text 55"/>
          <p:cNvSpPr/>
          <p:nvPr/>
        </p:nvSpPr>
        <p:spPr>
          <a:xfrm>
            <a:off x="6272784" y="3648456"/>
            <a:ext cx="261518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needing upskilling score 1.2% higher on performance (3.536 vs 3.493). Reskilling is optimization, not remediation — continuous learners deliver better results.</a:t>
            </a:r>
            <a:endParaRPr lang="en-US" sz="800" dirty="0"/>
          </a:p>
        </p:txBody>
      </p:sp>
      <p:sp>
        <p:nvSpPr>
          <p:cNvPr id="59" name="Shape 56"/>
          <p:cNvSpPr/>
          <p:nvPr/>
        </p:nvSpPr>
        <p:spPr>
          <a:xfrm>
            <a:off x="9162288" y="2761488"/>
            <a:ext cx="2834640" cy="18288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9525">
            <a:solidFill>
              <a:srgbClr val="22D3EE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sp>
        <p:nvSpPr>
          <p:cNvPr id="60" name="Shape 57"/>
          <p:cNvSpPr/>
          <p:nvPr/>
        </p:nvSpPr>
        <p:spPr>
          <a:xfrm>
            <a:off x="9290304" y="2889504"/>
            <a:ext cx="420624" cy="420624"/>
          </a:xfrm>
          <a:prstGeom prst="ellipse">
            <a:avLst/>
          </a:prstGeom>
          <a:solidFill>
            <a:srgbClr val="22D3EE">
              <a:alpha val="20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9290304" y="2889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62" name="Text 59"/>
          <p:cNvSpPr/>
          <p:nvPr/>
        </p:nvSpPr>
        <p:spPr>
          <a:xfrm>
            <a:off x="9784080" y="2889504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→ Satisfaction</a:t>
            </a:r>
            <a:endParaRPr lang="en-US" sz="950" dirty="0"/>
          </a:p>
        </p:txBody>
      </p:sp>
      <p:sp>
        <p:nvSpPr>
          <p:cNvPr id="63" name="Shape 60"/>
          <p:cNvSpPr/>
          <p:nvPr/>
        </p:nvSpPr>
        <p:spPr>
          <a:xfrm>
            <a:off x="9272016" y="3383280"/>
            <a:ext cx="2615184" cy="201168"/>
          </a:xfrm>
          <a:prstGeom prst="roundRect">
            <a:avLst>
              <a:gd name="adj" fmla="val 18182"/>
            </a:avLst>
          </a:prstGeom>
          <a:solidFill>
            <a:srgbClr val="22D3EE">
              <a:alpha val="20000"/>
            </a:srgbClr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9345168" y="3383280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STAT:  4.02 vs 3.95</a:t>
            </a:r>
            <a:endParaRPr lang="en-US" sz="750" dirty="0"/>
          </a:p>
        </p:txBody>
      </p:sp>
      <p:sp>
        <p:nvSpPr>
          <p:cNvPr id="65" name="Text 62"/>
          <p:cNvSpPr/>
          <p:nvPr/>
        </p:nvSpPr>
        <p:spPr>
          <a:xfrm>
            <a:off x="9272016" y="3648456"/>
            <a:ext cx="261518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AI tool adoption correlates with greater job satisfaction (4.02 vs 3.95). Properly integrated AI reduces burden, elevates quality, and improves worker wellbeing.</a:t>
            </a:r>
            <a:endParaRPr lang="en-US" sz="800" dirty="0"/>
          </a:p>
        </p:txBody>
      </p:sp>
      <p:sp>
        <p:nvSpPr>
          <p:cNvPr id="66" name="Shape 63"/>
          <p:cNvSpPr/>
          <p:nvPr/>
        </p:nvSpPr>
        <p:spPr>
          <a:xfrm>
            <a:off x="164592" y="4754880"/>
            <a:ext cx="2834640" cy="18288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9525">
            <a:solidFill>
              <a:srgbClr val="06B6D4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sp>
        <p:nvSpPr>
          <p:cNvPr id="67" name="Shape 64"/>
          <p:cNvSpPr/>
          <p:nvPr/>
        </p:nvSpPr>
        <p:spPr>
          <a:xfrm>
            <a:off x="292608" y="4882896"/>
            <a:ext cx="420624" cy="420624"/>
          </a:xfrm>
          <a:prstGeom prst="ellipse">
            <a:avLst/>
          </a:prstGeom>
          <a:solidFill>
            <a:srgbClr val="06B6D4">
              <a:alpha val="20000"/>
            </a:srgbClr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292608" y="48828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69" name="Text 66"/>
          <p:cNvSpPr/>
          <p:nvPr/>
        </p:nvSpPr>
        <p:spPr>
          <a:xfrm>
            <a:off x="786384" y="4882896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Variable Dominates</a:t>
            </a:r>
            <a:endParaRPr lang="en-US" sz="950" dirty="0"/>
          </a:p>
        </p:txBody>
      </p:sp>
      <p:sp>
        <p:nvSpPr>
          <p:cNvPr id="70" name="Shape 67"/>
          <p:cNvSpPr/>
          <p:nvPr/>
        </p:nvSpPr>
        <p:spPr>
          <a:xfrm>
            <a:off x="274320" y="5376672"/>
            <a:ext cx="2615184" cy="201168"/>
          </a:xfrm>
          <a:prstGeom prst="roundRect">
            <a:avLst>
              <a:gd name="adj" fmla="val 18182"/>
            </a:avLst>
          </a:prstGeom>
          <a:solidFill>
            <a:srgbClr val="06B6D4">
              <a:alpha val="20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347472" y="5376672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STAT:  r &lt; 0.06</a:t>
            </a:r>
            <a:endParaRPr lang="en-US" sz="750" dirty="0"/>
          </a:p>
        </p:txBody>
      </p:sp>
      <p:sp>
        <p:nvSpPr>
          <p:cNvPr id="72" name="Text 69"/>
          <p:cNvSpPr/>
          <p:nvPr/>
        </p:nvSpPr>
        <p:spPr>
          <a:xfrm>
            <a:off x="274320" y="5641848"/>
            <a:ext cx="261518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Pearson correlations are near zero (max |r| = 0.054 between Demand &amp; Growth). Variables are independent — no single factor drives AI risk or salary outcomes.</a:t>
            </a:r>
            <a:endParaRPr lang="en-US" sz="800" dirty="0"/>
          </a:p>
        </p:txBody>
      </p:sp>
      <p:sp>
        <p:nvSpPr>
          <p:cNvPr id="73" name="Shape 70"/>
          <p:cNvSpPr/>
          <p:nvPr/>
        </p:nvSpPr>
        <p:spPr>
          <a:xfrm>
            <a:off x="3163824" y="4754880"/>
            <a:ext cx="2834640" cy="18288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9525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sp>
        <p:nvSpPr>
          <p:cNvPr id="74" name="Shape 71"/>
          <p:cNvSpPr/>
          <p:nvPr/>
        </p:nvSpPr>
        <p:spPr>
          <a:xfrm>
            <a:off x="3291840" y="4882896"/>
            <a:ext cx="420624" cy="420624"/>
          </a:xfrm>
          <a:prstGeom prst="ellipse">
            <a:avLst/>
          </a:prstGeom>
          <a:solidFill>
            <a:srgbClr val="F59E0B">
              <a:alpha val="20000"/>
            </a:srgbClr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3291840" y="48828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6" name="Text 73"/>
          <p:cNvSpPr/>
          <p:nvPr/>
        </p:nvSpPr>
        <p:spPr>
          <a:xfrm>
            <a:off x="3785616" y="4882896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Automation Pays</a:t>
            </a:r>
            <a:endParaRPr lang="en-US" sz="950" dirty="0"/>
          </a:p>
        </p:txBody>
      </p:sp>
      <p:sp>
        <p:nvSpPr>
          <p:cNvPr id="77" name="Shape 74"/>
          <p:cNvSpPr/>
          <p:nvPr/>
        </p:nvSpPr>
        <p:spPr>
          <a:xfrm>
            <a:off x="3273552" y="5376672"/>
            <a:ext cx="2615184" cy="201168"/>
          </a:xfrm>
          <a:prstGeom prst="roundRect">
            <a:avLst>
              <a:gd name="adj" fmla="val 18182"/>
            </a:avLst>
          </a:prstGeom>
          <a:solidFill>
            <a:srgbClr val="F59E0B">
              <a:alpha val="2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3346704" y="5376672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STAT:  $127,608</a:t>
            </a:r>
            <a:endParaRPr lang="en-US" sz="750" dirty="0"/>
          </a:p>
        </p:txBody>
      </p:sp>
      <p:sp>
        <p:nvSpPr>
          <p:cNvPr id="79" name="Text 76"/>
          <p:cNvSpPr/>
          <p:nvPr/>
        </p:nvSpPr>
        <p:spPr>
          <a:xfrm>
            <a:off x="3273552" y="5641848"/>
            <a:ext cx="261518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automation level pays the highest salary ($127,608) vs Low ($126,164) or High ($126,135) — the augmentation zone where humans and AI collaborate commands a premium.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6163056" y="4754880"/>
            <a:ext cx="2834640" cy="18288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9525">
            <a:solidFill>
              <a:srgbClr val="3B82F6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sp>
        <p:nvSpPr>
          <p:cNvPr id="81" name="Shape 78"/>
          <p:cNvSpPr/>
          <p:nvPr/>
        </p:nvSpPr>
        <p:spPr>
          <a:xfrm>
            <a:off x="6291072" y="4882896"/>
            <a:ext cx="420624" cy="420624"/>
          </a:xfrm>
          <a:prstGeom prst="ellipse">
            <a:avLst/>
          </a:prstGeom>
          <a:solidFill>
            <a:srgbClr val="3B82F6">
              <a:alpha val="20000"/>
            </a:srgbClr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6291072" y="48828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83" name="Text 80"/>
          <p:cNvSpPr/>
          <p:nvPr/>
        </p:nvSpPr>
        <p:spPr>
          <a:xfrm>
            <a:off x="6784848" y="4882896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Govt Lead Growth</a:t>
            </a:r>
            <a:endParaRPr lang="en-US" sz="950" dirty="0"/>
          </a:p>
        </p:txBody>
      </p:sp>
      <p:sp>
        <p:nvSpPr>
          <p:cNvPr id="84" name="Shape 81"/>
          <p:cNvSpPr/>
          <p:nvPr/>
        </p:nvSpPr>
        <p:spPr>
          <a:xfrm>
            <a:off x="6272784" y="5376672"/>
            <a:ext cx="2615184" cy="201168"/>
          </a:xfrm>
          <a:prstGeom prst="roundRect">
            <a:avLst>
              <a:gd name="adj" fmla="val 18182"/>
            </a:avLst>
          </a:prstGeom>
          <a:solidFill>
            <a:srgbClr val="3B82F6">
              <a:alpha val="20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6345936" y="5376672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STAT:  18.6% / 18.3%</a:t>
            </a:r>
            <a:endParaRPr lang="en-US" sz="750" dirty="0"/>
          </a:p>
        </p:txBody>
      </p:sp>
      <p:sp>
        <p:nvSpPr>
          <p:cNvPr id="86" name="Text 83"/>
          <p:cNvSpPr/>
          <p:nvPr/>
        </p:nvSpPr>
        <p:spPr>
          <a:xfrm>
            <a:off x="6272784" y="5641848"/>
            <a:ext cx="261518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Highest-risk sectors also project highest growth — Finance (18.6%) and Government (18.3%). AI displaces roles but simultaneously creates new AI-adjacent positions faster.</a:t>
            </a:r>
            <a:endParaRPr lang="en-US" sz="800" dirty="0"/>
          </a:p>
        </p:txBody>
      </p:sp>
      <p:sp>
        <p:nvSpPr>
          <p:cNvPr id="87" name="Shape 84"/>
          <p:cNvSpPr/>
          <p:nvPr/>
        </p:nvSpPr>
        <p:spPr>
          <a:xfrm>
            <a:off x="9162288" y="4754880"/>
            <a:ext cx="2834640" cy="18288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9525">
            <a:solidFill>
              <a:srgbClr val="8B5CF6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sp>
        <p:nvSpPr>
          <p:cNvPr id="88" name="Shape 85"/>
          <p:cNvSpPr/>
          <p:nvPr/>
        </p:nvSpPr>
        <p:spPr>
          <a:xfrm>
            <a:off x="9290304" y="4882896"/>
            <a:ext cx="420624" cy="420624"/>
          </a:xfrm>
          <a:prstGeom prst="ellipse">
            <a:avLst/>
          </a:prstGeom>
          <a:solidFill>
            <a:srgbClr val="8B5CF6">
              <a:alpha val="20000"/>
            </a:srgbClr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9290304" y="48828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90" name="Text 87"/>
          <p:cNvSpPr/>
          <p:nvPr/>
        </p:nvSpPr>
        <p:spPr>
          <a:xfrm>
            <a:off x="9784080" y="4882896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Drives Growth</a:t>
            </a:r>
            <a:endParaRPr lang="en-US" sz="950" dirty="0"/>
          </a:p>
        </p:txBody>
      </p:sp>
      <p:sp>
        <p:nvSpPr>
          <p:cNvPr id="91" name="Shape 88"/>
          <p:cNvSpPr/>
          <p:nvPr/>
        </p:nvSpPr>
        <p:spPr>
          <a:xfrm>
            <a:off x="9272016" y="5376672"/>
            <a:ext cx="2615184" cy="201168"/>
          </a:xfrm>
          <a:prstGeom prst="roundRect">
            <a:avLst>
              <a:gd name="adj" fmla="val 18182"/>
            </a:avLst>
          </a:prstGeom>
          <a:solidFill>
            <a:srgbClr val="8B5CF6">
              <a:alpha val="20000"/>
            </a:srgbClr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9345168" y="5376672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STAT:  17.54%</a:t>
            </a:r>
            <a:endParaRPr lang="en-US" sz="750" dirty="0"/>
          </a:p>
        </p:txBody>
      </p:sp>
      <p:sp>
        <p:nvSpPr>
          <p:cNvPr id="93" name="Text 90"/>
          <p:cNvSpPr/>
          <p:nvPr/>
        </p:nvSpPr>
        <p:spPr>
          <a:xfrm>
            <a:off x="9272016" y="5641848"/>
            <a:ext cx="261518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companies project highest job growth (17.54%) vs Startup (16.96%) — large organizations have capital to retrain workers and absorb automation disruption.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12161520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91440"/>
            <a:ext cx="457200" cy="457200"/>
          </a:xfrm>
          <a:prstGeom prst="ellipse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459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8096" y="64008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RESKILLING PRIORITY MATRIX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68096" y="393192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49.6% of 3,000 Employees Need Upskilling · Role-Level Action Plans · Timeline · Priority Tags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11338560" y="128016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8B5CF6">
              <a:alpha val="20000"/>
            </a:srgbClr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338560" y="12801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RESKILLING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164592" y="768096"/>
            <a:ext cx="2834640" cy="786384"/>
          </a:xfrm>
          <a:prstGeom prst="roundRect">
            <a:avLst>
              <a:gd name="adj" fmla="val 11628"/>
            </a:avLst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56032" y="80467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1,489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256032" y="12070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Upskilling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163824" y="768096"/>
            <a:ext cx="2834640" cy="786384"/>
          </a:xfrm>
          <a:prstGeom prst="roundRect">
            <a:avLst>
              <a:gd name="adj" fmla="val 11628"/>
            </a:avLst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255264" y="80467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1,511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3255264" y="12070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Upskilling Ready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163056" y="768096"/>
            <a:ext cx="2834640" cy="786384"/>
          </a:xfrm>
          <a:prstGeom prst="roundRect">
            <a:avLst>
              <a:gd name="adj" fmla="val 11628"/>
            </a:avLst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254496" y="80467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49.6%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6254496" y="12070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Rate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9162288" y="768096"/>
            <a:ext cx="2834640" cy="786384"/>
          </a:xfrm>
          <a:prstGeom prst="roundRect">
            <a:avLst>
              <a:gd name="adj" fmla="val 11628"/>
            </a:avLst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9253728" y="80467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3.54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9253728" y="12070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Perf (Upskillers)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164592" y="1700784"/>
            <a:ext cx="11832336" cy="5029200"/>
          </a:xfrm>
          <a:prstGeom prst="roundRect">
            <a:avLst>
              <a:gd name="adj" fmla="val 2182"/>
            </a:avLst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347472" y="177393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RESKILLING PRIORITY MATRIX — Role × Risk × Demand × Action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347472" y="2029968"/>
            <a:ext cx="1143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AI replacement risk, future demand score, automation exposure, and 2030 job growth projections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402336" y="22677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ROLE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3054096" y="22677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4645152" y="22677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2030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6291072" y="22677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8156448" y="22677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9765792" y="22677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256032" y="2468880"/>
            <a:ext cx="11649456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256032" y="2505456"/>
            <a:ext cx="11649456" cy="320040"/>
          </a:xfrm>
          <a:prstGeom prst="roundRect">
            <a:avLst>
              <a:gd name="adj" fmla="val 11429"/>
            </a:avLst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02336" y="25420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Engineer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3054096" y="2569464"/>
            <a:ext cx="1243584" cy="182880"/>
          </a:xfrm>
          <a:prstGeom prst="roundRect">
            <a:avLst>
              <a:gd name="adj" fmla="val 20000"/>
            </a:avLst>
          </a:prstGeom>
          <a:solidFill>
            <a:srgbClr val="060E1A"/>
          </a:solidFill>
          <a:ln w="9525">
            <a:solidFill>
              <a:srgbClr val="F43F5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054096" y="2569464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4645152" y="25420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6291072" y="2542032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Reskill to Platform Eng / SRE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8156448" y="2542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 months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9765792" y="2569464"/>
            <a:ext cx="1243584" cy="182880"/>
          </a:xfrm>
          <a:prstGeom prst="roundRect">
            <a:avLst>
              <a:gd name="adj" fmla="val 20000"/>
            </a:avLst>
          </a:prstGeom>
          <a:solidFill>
            <a:srgbClr val="060E1A"/>
          </a:solidFill>
          <a:ln w="9525">
            <a:solidFill>
              <a:srgbClr val="F43F5E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765792" y="2569464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50" dirty="0"/>
          </a:p>
        </p:txBody>
      </p:sp>
      <p:sp>
        <p:nvSpPr>
          <p:cNvPr id="41" name="Shape 38"/>
          <p:cNvSpPr/>
          <p:nvPr/>
        </p:nvSpPr>
        <p:spPr>
          <a:xfrm>
            <a:off x="256032" y="2857500"/>
            <a:ext cx="11649456" cy="320040"/>
          </a:xfrm>
          <a:prstGeom prst="roundRect">
            <a:avLst>
              <a:gd name="adj" fmla="val 11429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02336" y="289407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Architect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3054096" y="2921508"/>
            <a:ext cx="1243584" cy="182880"/>
          </a:xfrm>
          <a:prstGeom prst="roundRect">
            <a:avLst>
              <a:gd name="adj" fmla="val 20000"/>
            </a:avLst>
          </a:prstGeom>
          <a:solidFill>
            <a:srgbClr val="060E1A"/>
          </a:solidFill>
          <a:ln w="9525">
            <a:solidFill>
              <a:srgbClr val="F43F5E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054096" y="2921508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4645152" y="289407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  <p:sp>
        <p:nvSpPr>
          <p:cNvPr id="46" name="Text 43"/>
          <p:cNvSpPr/>
          <p:nvPr/>
        </p:nvSpPr>
        <p:spPr>
          <a:xfrm>
            <a:off x="6291072" y="2894076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to Multi-Cloud &amp; FinOps</a:t>
            </a:r>
            <a:endParaRPr lang="en-US" sz="750" dirty="0"/>
          </a:p>
        </p:txBody>
      </p:sp>
      <p:sp>
        <p:nvSpPr>
          <p:cNvPr id="47" name="Text 44"/>
          <p:cNvSpPr/>
          <p:nvPr/>
        </p:nvSpPr>
        <p:spPr>
          <a:xfrm>
            <a:off x="8156448" y="289407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0–6 months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9765792" y="2921508"/>
            <a:ext cx="1243584" cy="182880"/>
          </a:xfrm>
          <a:prstGeom prst="roundRect">
            <a:avLst>
              <a:gd name="adj" fmla="val 20000"/>
            </a:avLst>
          </a:prstGeom>
          <a:solidFill>
            <a:srgbClr val="060E1A"/>
          </a:solidFill>
          <a:ln w="9525">
            <a:solidFill>
              <a:srgbClr val="F43F5E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9765792" y="2921508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50" dirty="0"/>
          </a:p>
        </p:txBody>
      </p:sp>
      <p:sp>
        <p:nvSpPr>
          <p:cNvPr id="50" name="Shape 47"/>
          <p:cNvSpPr/>
          <p:nvPr/>
        </p:nvSpPr>
        <p:spPr>
          <a:xfrm>
            <a:off x="256032" y="3209544"/>
            <a:ext cx="11649456" cy="320040"/>
          </a:xfrm>
          <a:prstGeom prst="roundRect">
            <a:avLst>
              <a:gd name="adj" fmla="val 11429"/>
            </a:avLst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402336" y="3246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3054096" y="3273552"/>
            <a:ext cx="1243584" cy="182880"/>
          </a:xfrm>
          <a:prstGeom prst="roundRect">
            <a:avLst>
              <a:gd name="adj" fmla="val 20000"/>
            </a:avLst>
          </a:prstGeom>
          <a:solidFill>
            <a:srgbClr val="060E1A"/>
          </a:solidFill>
          <a:ln w="9525">
            <a:solidFill>
              <a:srgbClr val="F43F5E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3054096" y="3273552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4645152" y="32461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6291072" y="3246120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LLM Ops &amp; Foundation Models</a:t>
            </a:r>
            <a:endParaRPr lang="en-US" sz="750" dirty="0"/>
          </a:p>
        </p:txBody>
      </p:sp>
      <p:sp>
        <p:nvSpPr>
          <p:cNvPr id="56" name="Text 53"/>
          <p:cNvSpPr/>
          <p:nvPr/>
        </p:nvSpPr>
        <p:spPr>
          <a:xfrm>
            <a:off x="8156448" y="32461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 months</a:t>
            </a:r>
            <a:endParaRPr lang="en-US" sz="800" dirty="0"/>
          </a:p>
        </p:txBody>
      </p:sp>
      <p:sp>
        <p:nvSpPr>
          <p:cNvPr id="57" name="Shape 54"/>
          <p:cNvSpPr/>
          <p:nvPr/>
        </p:nvSpPr>
        <p:spPr>
          <a:xfrm>
            <a:off x="9765792" y="3273552"/>
            <a:ext cx="1243584" cy="182880"/>
          </a:xfrm>
          <a:prstGeom prst="roundRect">
            <a:avLst>
              <a:gd name="adj" fmla="val 20000"/>
            </a:avLst>
          </a:prstGeom>
          <a:solidFill>
            <a:srgbClr val="060E1A"/>
          </a:solidFill>
          <a:ln w="9525">
            <a:solidFill>
              <a:srgbClr val="F43F5E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9765792" y="3273552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50" dirty="0"/>
          </a:p>
        </p:txBody>
      </p:sp>
      <p:sp>
        <p:nvSpPr>
          <p:cNvPr id="59" name="Shape 56"/>
          <p:cNvSpPr/>
          <p:nvPr/>
        </p:nvSpPr>
        <p:spPr>
          <a:xfrm>
            <a:off x="256032" y="3561588"/>
            <a:ext cx="11649456" cy="320040"/>
          </a:xfrm>
          <a:prstGeom prst="roundRect">
            <a:avLst>
              <a:gd name="adj" fmla="val 11429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402336" y="35981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3054096" y="3625596"/>
            <a:ext cx="1243584" cy="182880"/>
          </a:xfrm>
          <a:prstGeom prst="roundRect">
            <a:avLst>
              <a:gd name="adj" fmla="val 20000"/>
            </a:avLst>
          </a:prstGeom>
          <a:solidFill>
            <a:srgbClr val="060E1A"/>
          </a:solidFill>
          <a:ln w="9525">
            <a:solidFill>
              <a:srgbClr val="F43F5E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3054096" y="3625596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63" name="Text 60"/>
          <p:cNvSpPr/>
          <p:nvPr/>
        </p:nvSpPr>
        <p:spPr>
          <a:xfrm>
            <a:off x="4645152" y="359816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850" dirty="0"/>
          </a:p>
        </p:txBody>
      </p:sp>
      <p:sp>
        <p:nvSpPr>
          <p:cNvPr id="64" name="Text 61"/>
          <p:cNvSpPr/>
          <p:nvPr/>
        </p:nvSpPr>
        <p:spPr>
          <a:xfrm>
            <a:off x="6291072" y="3598164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to EdTech / AI Curriculum</a:t>
            </a:r>
            <a:endParaRPr lang="en-US" sz="750" dirty="0"/>
          </a:p>
        </p:txBody>
      </p:sp>
      <p:sp>
        <p:nvSpPr>
          <p:cNvPr id="65" name="Text 62"/>
          <p:cNvSpPr/>
          <p:nvPr/>
        </p:nvSpPr>
        <p:spPr>
          <a:xfrm>
            <a:off x="8156448" y="359816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3–9 months</a:t>
            </a:r>
            <a:endParaRPr lang="en-US" sz="800" dirty="0"/>
          </a:p>
        </p:txBody>
      </p:sp>
      <p:sp>
        <p:nvSpPr>
          <p:cNvPr id="66" name="Shape 63"/>
          <p:cNvSpPr/>
          <p:nvPr/>
        </p:nvSpPr>
        <p:spPr>
          <a:xfrm>
            <a:off x="9765792" y="3625596"/>
            <a:ext cx="1243584" cy="182880"/>
          </a:xfrm>
          <a:prstGeom prst="roundRect">
            <a:avLst>
              <a:gd name="adj" fmla="val 20000"/>
            </a:avLst>
          </a:prstGeom>
          <a:solidFill>
            <a:srgbClr val="060E1A"/>
          </a:solidFill>
          <a:ln w="9525">
            <a:solidFill>
              <a:srgbClr val="FB8C42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9765792" y="3625596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B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68" name="Shape 65"/>
          <p:cNvSpPr/>
          <p:nvPr/>
        </p:nvSpPr>
        <p:spPr>
          <a:xfrm>
            <a:off x="256032" y="3913632"/>
            <a:ext cx="11649456" cy="320040"/>
          </a:xfrm>
          <a:prstGeom prst="roundRect">
            <a:avLst>
              <a:gd name="adj" fmla="val 11429"/>
            </a:avLst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402336" y="39502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Analyst</a:t>
            </a:r>
            <a:endParaRPr lang="en-US" sz="900" dirty="0"/>
          </a:p>
        </p:txBody>
      </p:sp>
      <p:sp>
        <p:nvSpPr>
          <p:cNvPr id="70" name="Shape 67"/>
          <p:cNvSpPr/>
          <p:nvPr/>
        </p:nvSpPr>
        <p:spPr>
          <a:xfrm>
            <a:off x="3054096" y="3977640"/>
            <a:ext cx="1243584" cy="182880"/>
          </a:xfrm>
          <a:prstGeom prst="roundRect">
            <a:avLst>
              <a:gd name="adj" fmla="val 20000"/>
            </a:avLst>
          </a:prstGeom>
          <a:solidFill>
            <a:srgbClr val="060E1A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3054096" y="3977640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72" name="Text 69"/>
          <p:cNvSpPr/>
          <p:nvPr/>
        </p:nvSpPr>
        <p:spPr>
          <a:xfrm>
            <a:off x="4645152" y="39502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73" name="Text 70"/>
          <p:cNvSpPr/>
          <p:nvPr/>
        </p:nvSpPr>
        <p:spPr>
          <a:xfrm>
            <a:off x="6291072" y="3950208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 with Clinical AI Tools</a:t>
            </a:r>
            <a:endParaRPr lang="en-US" sz="750" dirty="0"/>
          </a:p>
        </p:txBody>
      </p:sp>
      <p:sp>
        <p:nvSpPr>
          <p:cNvPr id="74" name="Text 71"/>
          <p:cNvSpPr/>
          <p:nvPr/>
        </p:nvSpPr>
        <p:spPr>
          <a:xfrm>
            <a:off x="8156448" y="39502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6–12 months</a:t>
            </a:r>
            <a:endParaRPr lang="en-US" sz="800" dirty="0"/>
          </a:p>
        </p:txBody>
      </p:sp>
      <p:sp>
        <p:nvSpPr>
          <p:cNvPr id="75" name="Shape 72"/>
          <p:cNvSpPr/>
          <p:nvPr/>
        </p:nvSpPr>
        <p:spPr>
          <a:xfrm>
            <a:off x="9765792" y="3977640"/>
            <a:ext cx="1243584" cy="182880"/>
          </a:xfrm>
          <a:prstGeom prst="roundRect">
            <a:avLst>
              <a:gd name="adj" fmla="val 20000"/>
            </a:avLst>
          </a:prstGeom>
          <a:solidFill>
            <a:srgbClr val="060E1A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9765792" y="3977640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77" name="Shape 74"/>
          <p:cNvSpPr/>
          <p:nvPr/>
        </p:nvSpPr>
        <p:spPr>
          <a:xfrm>
            <a:off x="256032" y="4265676"/>
            <a:ext cx="11649456" cy="320040"/>
          </a:xfrm>
          <a:prstGeom prst="roundRect">
            <a:avLst>
              <a:gd name="adj" fmla="val 11429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402336" y="43022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Analyst</a:t>
            </a:r>
            <a:endParaRPr lang="en-US" sz="900" dirty="0"/>
          </a:p>
        </p:txBody>
      </p:sp>
      <p:sp>
        <p:nvSpPr>
          <p:cNvPr id="79" name="Shape 76"/>
          <p:cNvSpPr/>
          <p:nvPr/>
        </p:nvSpPr>
        <p:spPr>
          <a:xfrm>
            <a:off x="3054096" y="4329684"/>
            <a:ext cx="1243584" cy="182880"/>
          </a:xfrm>
          <a:prstGeom prst="roundRect">
            <a:avLst>
              <a:gd name="adj" fmla="val 20000"/>
            </a:avLst>
          </a:prstGeom>
          <a:solidFill>
            <a:srgbClr val="060E1A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3054096" y="4329684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81" name="Text 78"/>
          <p:cNvSpPr/>
          <p:nvPr/>
        </p:nvSpPr>
        <p:spPr>
          <a:xfrm>
            <a:off x="4645152" y="43022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  <p:sp>
        <p:nvSpPr>
          <p:cNvPr id="82" name="Text 79"/>
          <p:cNvSpPr/>
          <p:nvPr/>
        </p:nvSpPr>
        <p:spPr>
          <a:xfrm>
            <a:off x="6291072" y="4302252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AI-Threat Detection Certs</a:t>
            </a:r>
            <a:endParaRPr lang="en-US" sz="750" dirty="0"/>
          </a:p>
        </p:txBody>
      </p:sp>
      <p:sp>
        <p:nvSpPr>
          <p:cNvPr id="83" name="Text 80"/>
          <p:cNvSpPr/>
          <p:nvPr/>
        </p:nvSpPr>
        <p:spPr>
          <a:xfrm>
            <a:off x="8156448" y="43022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800" dirty="0"/>
          </a:p>
        </p:txBody>
      </p:sp>
      <p:sp>
        <p:nvSpPr>
          <p:cNvPr id="84" name="Shape 81"/>
          <p:cNvSpPr/>
          <p:nvPr/>
        </p:nvSpPr>
        <p:spPr>
          <a:xfrm>
            <a:off x="9765792" y="4329684"/>
            <a:ext cx="1243584" cy="182880"/>
          </a:xfrm>
          <a:prstGeom prst="roundRect">
            <a:avLst>
              <a:gd name="adj" fmla="val 20000"/>
            </a:avLst>
          </a:prstGeom>
          <a:solidFill>
            <a:srgbClr val="060E1A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9765792" y="4329684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</a:t>
            </a:r>
            <a:endParaRPr lang="en-US" sz="750" dirty="0"/>
          </a:p>
        </p:txBody>
      </p:sp>
      <p:sp>
        <p:nvSpPr>
          <p:cNvPr id="86" name="Shape 83"/>
          <p:cNvSpPr/>
          <p:nvPr/>
        </p:nvSpPr>
        <p:spPr>
          <a:xfrm>
            <a:off x="256032" y="4617720"/>
            <a:ext cx="11649456" cy="320040"/>
          </a:xfrm>
          <a:prstGeom prst="roundRect">
            <a:avLst>
              <a:gd name="adj" fmla="val 11429"/>
            </a:avLst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402336" y="46542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</a:t>
            </a:r>
            <a:endParaRPr lang="en-US" sz="900" dirty="0"/>
          </a:p>
        </p:txBody>
      </p:sp>
      <p:sp>
        <p:nvSpPr>
          <p:cNvPr id="88" name="Shape 85"/>
          <p:cNvSpPr/>
          <p:nvPr/>
        </p:nvSpPr>
        <p:spPr>
          <a:xfrm>
            <a:off x="3054096" y="4681728"/>
            <a:ext cx="1243584" cy="182880"/>
          </a:xfrm>
          <a:prstGeom prst="roundRect">
            <a:avLst>
              <a:gd name="adj" fmla="val 20000"/>
            </a:avLst>
          </a:prstGeom>
          <a:solidFill>
            <a:srgbClr val="060E1A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3054096" y="4681728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90" name="Text 87"/>
          <p:cNvSpPr/>
          <p:nvPr/>
        </p:nvSpPr>
        <p:spPr>
          <a:xfrm>
            <a:off x="4645152" y="465429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850" dirty="0"/>
          </a:p>
        </p:txBody>
      </p:sp>
      <p:sp>
        <p:nvSpPr>
          <p:cNvPr id="91" name="Text 88"/>
          <p:cNvSpPr/>
          <p:nvPr/>
        </p:nvSpPr>
        <p:spPr>
          <a:xfrm>
            <a:off x="6291072" y="4654296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Upskill to DataOps &amp; MLOps Pipelines</a:t>
            </a:r>
            <a:endParaRPr lang="en-US" sz="750" dirty="0"/>
          </a:p>
        </p:txBody>
      </p:sp>
      <p:sp>
        <p:nvSpPr>
          <p:cNvPr id="92" name="Text 89"/>
          <p:cNvSpPr/>
          <p:nvPr/>
        </p:nvSpPr>
        <p:spPr>
          <a:xfrm>
            <a:off x="8156448" y="465429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months</a:t>
            </a:r>
            <a:endParaRPr lang="en-US" sz="800" dirty="0"/>
          </a:p>
        </p:txBody>
      </p:sp>
      <p:sp>
        <p:nvSpPr>
          <p:cNvPr id="93" name="Shape 90"/>
          <p:cNvSpPr/>
          <p:nvPr/>
        </p:nvSpPr>
        <p:spPr>
          <a:xfrm>
            <a:off x="9765792" y="4681728"/>
            <a:ext cx="1243584" cy="182880"/>
          </a:xfrm>
          <a:prstGeom prst="roundRect">
            <a:avLst>
              <a:gd name="adj" fmla="val 20000"/>
            </a:avLst>
          </a:prstGeom>
          <a:solidFill>
            <a:srgbClr val="060E1A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94" name="Text 91"/>
          <p:cNvSpPr/>
          <p:nvPr/>
        </p:nvSpPr>
        <p:spPr>
          <a:xfrm>
            <a:off x="9765792" y="4681728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95" name="Shape 92"/>
          <p:cNvSpPr/>
          <p:nvPr/>
        </p:nvSpPr>
        <p:spPr>
          <a:xfrm>
            <a:off x="256032" y="4969764"/>
            <a:ext cx="11649456" cy="320040"/>
          </a:xfrm>
          <a:prstGeom prst="roundRect">
            <a:avLst>
              <a:gd name="adj" fmla="val 11429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6" name="Text 93"/>
          <p:cNvSpPr/>
          <p:nvPr/>
        </p:nvSpPr>
        <p:spPr>
          <a:xfrm>
            <a:off x="402336" y="50063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 Engineer</a:t>
            </a:r>
            <a:endParaRPr lang="en-US" sz="900" dirty="0"/>
          </a:p>
        </p:txBody>
      </p:sp>
      <p:sp>
        <p:nvSpPr>
          <p:cNvPr id="97" name="Shape 94"/>
          <p:cNvSpPr/>
          <p:nvPr/>
        </p:nvSpPr>
        <p:spPr>
          <a:xfrm>
            <a:off x="3054096" y="5033772"/>
            <a:ext cx="1243584" cy="182880"/>
          </a:xfrm>
          <a:prstGeom prst="roundRect">
            <a:avLst>
              <a:gd name="adj" fmla="val 20000"/>
            </a:avLst>
          </a:prstGeom>
          <a:solidFill>
            <a:srgbClr val="060E1A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98" name="Text 95"/>
          <p:cNvSpPr/>
          <p:nvPr/>
        </p:nvSpPr>
        <p:spPr>
          <a:xfrm>
            <a:off x="3054096" y="5033772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99" name="Text 96"/>
          <p:cNvSpPr/>
          <p:nvPr/>
        </p:nvSpPr>
        <p:spPr>
          <a:xfrm>
            <a:off x="4645152" y="50063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00" name="Text 97"/>
          <p:cNvSpPr/>
          <p:nvPr/>
        </p:nvSpPr>
        <p:spPr>
          <a:xfrm>
            <a:off x="6291072" y="5006340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AI Cobots &amp; Human-Robot UX</a:t>
            </a:r>
            <a:endParaRPr lang="en-US" sz="750" dirty="0"/>
          </a:p>
        </p:txBody>
      </p:sp>
      <p:sp>
        <p:nvSpPr>
          <p:cNvPr id="101" name="Text 98"/>
          <p:cNvSpPr/>
          <p:nvPr/>
        </p:nvSpPr>
        <p:spPr>
          <a:xfrm>
            <a:off x="8156448" y="50063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6–12 months</a:t>
            </a:r>
            <a:endParaRPr lang="en-US" sz="800" dirty="0"/>
          </a:p>
        </p:txBody>
      </p:sp>
      <p:sp>
        <p:nvSpPr>
          <p:cNvPr id="102" name="Shape 99"/>
          <p:cNvSpPr/>
          <p:nvPr/>
        </p:nvSpPr>
        <p:spPr>
          <a:xfrm>
            <a:off x="9765792" y="5033772"/>
            <a:ext cx="1243584" cy="182880"/>
          </a:xfrm>
          <a:prstGeom prst="roundRect">
            <a:avLst>
              <a:gd name="adj" fmla="val 20000"/>
            </a:avLst>
          </a:prstGeom>
          <a:solidFill>
            <a:srgbClr val="060E1A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03" name="Text 100"/>
          <p:cNvSpPr/>
          <p:nvPr/>
        </p:nvSpPr>
        <p:spPr>
          <a:xfrm>
            <a:off x="9765792" y="5033772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104" name="Shape 101"/>
          <p:cNvSpPr/>
          <p:nvPr/>
        </p:nvSpPr>
        <p:spPr>
          <a:xfrm>
            <a:off x="256032" y="5321808"/>
            <a:ext cx="11649456" cy="320040"/>
          </a:xfrm>
          <a:prstGeom prst="roundRect">
            <a:avLst>
              <a:gd name="adj" fmla="val 11429"/>
            </a:avLst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105" name="Text 102"/>
          <p:cNvSpPr/>
          <p:nvPr/>
        </p:nvSpPr>
        <p:spPr>
          <a:xfrm>
            <a:off x="402336" y="535838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</a:t>
            </a:r>
            <a:endParaRPr lang="en-US" sz="900" dirty="0"/>
          </a:p>
        </p:txBody>
      </p:sp>
      <p:sp>
        <p:nvSpPr>
          <p:cNvPr id="106" name="Shape 103"/>
          <p:cNvSpPr/>
          <p:nvPr/>
        </p:nvSpPr>
        <p:spPr>
          <a:xfrm>
            <a:off x="3054096" y="5385816"/>
            <a:ext cx="1243584" cy="182880"/>
          </a:xfrm>
          <a:prstGeom prst="roundRect">
            <a:avLst>
              <a:gd name="adj" fmla="val 20000"/>
            </a:avLst>
          </a:prstGeom>
          <a:solidFill>
            <a:srgbClr val="060E1A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07" name="Text 104"/>
          <p:cNvSpPr/>
          <p:nvPr/>
        </p:nvSpPr>
        <p:spPr>
          <a:xfrm>
            <a:off x="3054096" y="5385816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50" dirty="0"/>
          </a:p>
        </p:txBody>
      </p:sp>
      <p:sp>
        <p:nvSpPr>
          <p:cNvPr id="108" name="Text 105"/>
          <p:cNvSpPr/>
          <p:nvPr/>
        </p:nvSpPr>
        <p:spPr>
          <a:xfrm>
            <a:off x="4645152" y="535838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850" dirty="0"/>
          </a:p>
        </p:txBody>
      </p:sp>
      <p:sp>
        <p:nvSpPr>
          <p:cNvPr id="109" name="Text 106"/>
          <p:cNvSpPr/>
          <p:nvPr/>
        </p:nvSpPr>
        <p:spPr>
          <a:xfrm>
            <a:off x="6291072" y="5358384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Upskill MLOps + LLM Fine-Tuning</a:t>
            </a:r>
            <a:endParaRPr lang="en-US" sz="750" dirty="0"/>
          </a:p>
        </p:txBody>
      </p:sp>
      <p:sp>
        <p:nvSpPr>
          <p:cNvPr id="110" name="Text 107"/>
          <p:cNvSpPr/>
          <p:nvPr/>
        </p:nvSpPr>
        <p:spPr>
          <a:xfrm>
            <a:off x="8156448" y="53583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800" dirty="0"/>
          </a:p>
        </p:txBody>
      </p:sp>
      <p:sp>
        <p:nvSpPr>
          <p:cNvPr id="111" name="Shape 108"/>
          <p:cNvSpPr/>
          <p:nvPr/>
        </p:nvSpPr>
        <p:spPr>
          <a:xfrm>
            <a:off x="9765792" y="5385816"/>
            <a:ext cx="1243584" cy="182880"/>
          </a:xfrm>
          <a:prstGeom prst="roundRect">
            <a:avLst>
              <a:gd name="adj" fmla="val 20000"/>
            </a:avLst>
          </a:prstGeom>
          <a:solidFill>
            <a:srgbClr val="060E1A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12" name="Text 109"/>
          <p:cNvSpPr/>
          <p:nvPr/>
        </p:nvSpPr>
        <p:spPr>
          <a:xfrm>
            <a:off x="9765792" y="5385816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</a:t>
            </a:r>
            <a:endParaRPr lang="en-US" sz="750" dirty="0"/>
          </a:p>
        </p:txBody>
      </p:sp>
      <p:sp>
        <p:nvSpPr>
          <p:cNvPr id="113" name="Shape 110"/>
          <p:cNvSpPr/>
          <p:nvPr/>
        </p:nvSpPr>
        <p:spPr>
          <a:xfrm>
            <a:off x="256032" y="5673852"/>
            <a:ext cx="11649456" cy="320040"/>
          </a:xfrm>
          <a:prstGeom prst="roundRect">
            <a:avLst>
              <a:gd name="adj" fmla="val 11429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402336" y="57104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Eng</a:t>
            </a:r>
            <a:endParaRPr lang="en-US" sz="900" dirty="0"/>
          </a:p>
        </p:txBody>
      </p:sp>
      <p:sp>
        <p:nvSpPr>
          <p:cNvPr id="115" name="Shape 112"/>
          <p:cNvSpPr/>
          <p:nvPr/>
        </p:nvSpPr>
        <p:spPr>
          <a:xfrm>
            <a:off x="3054096" y="5737860"/>
            <a:ext cx="1243584" cy="182880"/>
          </a:xfrm>
          <a:prstGeom prst="roundRect">
            <a:avLst>
              <a:gd name="adj" fmla="val 20000"/>
            </a:avLst>
          </a:prstGeom>
          <a:solidFill>
            <a:srgbClr val="060E1A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16" name="Text 113"/>
          <p:cNvSpPr/>
          <p:nvPr/>
        </p:nvSpPr>
        <p:spPr>
          <a:xfrm>
            <a:off x="3054096" y="5737860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50" dirty="0"/>
          </a:p>
        </p:txBody>
      </p:sp>
      <p:sp>
        <p:nvSpPr>
          <p:cNvPr id="117" name="Text 114"/>
          <p:cNvSpPr/>
          <p:nvPr/>
        </p:nvSpPr>
        <p:spPr>
          <a:xfrm>
            <a:off x="4645152" y="57104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850" dirty="0"/>
          </a:p>
        </p:txBody>
      </p:sp>
      <p:sp>
        <p:nvSpPr>
          <p:cNvPr id="118" name="Text 115"/>
          <p:cNvSpPr/>
          <p:nvPr/>
        </p:nvSpPr>
        <p:spPr>
          <a:xfrm>
            <a:off x="6291072" y="5710428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Foundation Model Architecture</a:t>
            </a:r>
            <a:endParaRPr lang="en-US" sz="750" dirty="0"/>
          </a:p>
        </p:txBody>
      </p:sp>
      <p:sp>
        <p:nvSpPr>
          <p:cNvPr id="119" name="Text 116"/>
          <p:cNvSpPr/>
          <p:nvPr/>
        </p:nvSpPr>
        <p:spPr>
          <a:xfrm>
            <a:off x="8156448" y="57104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800" dirty="0"/>
          </a:p>
        </p:txBody>
      </p:sp>
      <p:sp>
        <p:nvSpPr>
          <p:cNvPr id="120" name="Shape 117"/>
          <p:cNvSpPr/>
          <p:nvPr/>
        </p:nvSpPr>
        <p:spPr>
          <a:xfrm>
            <a:off x="9765792" y="5737860"/>
            <a:ext cx="1243584" cy="182880"/>
          </a:xfrm>
          <a:prstGeom prst="roundRect">
            <a:avLst>
              <a:gd name="adj" fmla="val 20000"/>
            </a:avLst>
          </a:prstGeom>
          <a:solidFill>
            <a:srgbClr val="060E1A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21" name="Text 118"/>
          <p:cNvSpPr/>
          <p:nvPr/>
        </p:nvSpPr>
        <p:spPr>
          <a:xfrm>
            <a:off x="9765792" y="5737860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</a:t>
            </a:r>
            <a:endParaRPr lang="en-US" sz="750" dirty="0"/>
          </a:p>
        </p:txBody>
      </p:sp>
      <p:sp>
        <p:nvSpPr>
          <p:cNvPr id="122" name="Shape 119"/>
          <p:cNvSpPr/>
          <p:nvPr/>
        </p:nvSpPr>
        <p:spPr>
          <a:xfrm>
            <a:off x="256032" y="6025896"/>
            <a:ext cx="11649456" cy="320040"/>
          </a:xfrm>
          <a:prstGeom prst="roundRect">
            <a:avLst>
              <a:gd name="adj" fmla="val 11429"/>
            </a:avLst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123" name="Text 120"/>
          <p:cNvSpPr/>
          <p:nvPr/>
        </p:nvSpPr>
        <p:spPr>
          <a:xfrm>
            <a:off x="402336" y="60624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</a:t>
            </a:r>
            <a:endParaRPr lang="en-US" sz="900" dirty="0"/>
          </a:p>
        </p:txBody>
      </p:sp>
      <p:sp>
        <p:nvSpPr>
          <p:cNvPr id="124" name="Shape 121"/>
          <p:cNvSpPr/>
          <p:nvPr/>
        </p:nvSpPr>
        <p:spPr>
          <a:xfrm>
            <a:off x="3054096" y="6089904"/>
            <a:ext cx="1243584" cy="182880"/>
          </a:xfrm>
          <a:prstGeom prst="roundRect">
            <a:avLst>
              <a:gd name="adj" fmla="val 20000"/>
            </a:avLst>
          </a:prstGeom>
          <a:solidFill>
            <a:srgbClr val="060E1A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125" name="Text 122"/>
          <p:cNvSpPr/>
          <p:nvPr/>
        </p:nvSpPr>
        <p:spPr>
          <a:xfrm>
            <a:off x="3054096" y="6089904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50" dirty="0"/>
          </a:p>
        </p:txBody>
      </p:sp>
      <p:sp>
        <p:nvSpPr>
          <p:cNvPr id="126" name="Text 123"/>
          <p:cNvSpPr/>
          <p:nvPr/>
        </p:nvSpPr>
        <p:spPr>
          <a:xfrm>
            <a:off x="4645152" y="60624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  <p:sp>
        <p:nvSpPr>
          <p:cNvPr id="127" name="Text 124"/>
          <p:cNvSpPr/>
          <p:nvPr/>
        </p:nvSpPr>
        <p:spPr>
          <a:xfrm>
            <a:off x="6291072" y="6062472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Headcount — Highest Demand</a:t>
            </a:r>
            <a:endParaRPr lang="en-US" sz="750" dirty="0"/>
          </a:p>
        </p:txBody>
      </p:sp>
      <p:sp>
        <p:nvSpPr>
          <p:cNvPr id="128" name="Text 125"/>
          <p:cNvSpPr/>
          <p:nvPr/>
        </p:nvSpPr>
        <p:spPr>
          <a:xfrm>
            <a:off x="8156448" y="60624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800" dirty="0"/>
          </a:p>
        </p:txBody>
      </p:sp>
      <p:sp>
        <p:nvSpPr>
          <p:cNvPr id="129" name="Shape 126"/>
          <p:cNvSpPr/>
          <p:nvPr/>
        </p:nvSpPr>
        <p:spPr>
          <a:xfrm>
            <a:off x="9765792" y="6089904"/>
            <a:ext cx="1243584" cy="182880"/>
          </a:xfrm>
          <a:prstGeom prst="roundRect">
            <a:avLst>
              <a:gd name="adj" fmla="val 20000"/>
            </a:avLst>
          </a:prstGeom>
          <a:solidFill>
            <a:srgbClr val="060E1A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130" name="Text 127"/>
          <p:cNvSpPr/>
          <p:nvPr/>
        </p:nvSpPr>
        <p:spPr>
          <a:xfrm>
            <a:off x="9765792" y="6089904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750" dirty="0"/>
          </a:p>
        </p:txBody>
      </p:sp>
      <p:sp>
        <p:nvSpPr>
          <p:cNvPr id="131" name="Shape 128"/>
          <p:cNvSpPr/>
          <p:nvPr/>
        </p:nvSpPr>
        <p:spPr>
          <a:xfrm>
            <a:off x="256032" y="6377940"/>
            <a:ext cx="11649456" cy="320040"/>
          </a:xfrm>
          <a:prstGeom prst="roundRect">
            <a:avLst>
              <a:gd name="adj" fmla="val 11429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32" name="Text 129"/>
          <p:cNvSpPr/>
          <p:nvPr/>
        </p:nvSpPr>
        <p:spPr>
          <a:xfrm>
            <a:off x="402336" y="641451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Designer</a:t>
            </a:r>
            <a:endParaRPr lang="en-US" sz="900" dirty="0"/>
          </a:p>
        </p:txBody>
      </p:sp>
      <p:sp>
        <p:nvSpPr>
          <p:cNvPr id="133" name="Shape 130"/>
          <p:cNvSpPr/>
          <p:nvPr/>
        </p:nvSpPr>
        <p:spPr>
          <a:xfrm>
            <a:off x="3054096" y="6441948"/>
            <a:ext cx="1243584" cy="182880"/>
          </a:xfrm>
          <a:prstGeom prst="roundRect">
            <a:avLst>
              <a:gd name="adj" fmla="val 20000"/>
            </a:avLst>
          </a:prstGeom>
          <a:solidFill>
            <a:srgbClr val="060E1A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134" name="Text 131"/>
          <p:cNvSpPr/>
          <p:nvPr/>
        </p:nvSpPr>
        <p:spPr>
          <a:xfrm>
            <a:off x="3054096" y="6441948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50" dirty="0"/>
          </a:p>
        </p:txBody>
      </p:sp>
      <p:sp>
        <p:nvSpPr>
          <p:cNvPr id="135" name="Text 132"/>
          <p:cNvSpPr/>
          <p:nvPr/>
        </p:nvSpPr>
        <p:spPr>
          <a:xfrm>
            <a:off x="4645152" y="641451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36" name="Text 133"/>
          <p:cNvSpPr/>
          <p:nvPr/>
        </p:nvSpPr>
        <p:spPr>
          <a:xfrm>
            <a:off x="6291072" y="6414516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Prototyping (Figma AI)</a:t>
            </a:r>
            <a:endParaRPr lang="en-US" sz="750" dirty="0"/>
          </a:p>
        </p:txBody>
      </p:sp>
      <p:sp>
        <p:nvSpPr>
          <p:cNvPr id="137" name="Text 134"/>
          <p:cNvSpPr/>
          <p:nvPr/>
        </p:nvSpPr>
        <p:spPr>
          <a:xfrm>
            <a:off x="8156448" y="641451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months</a:t>
            </a:r>
            <a:endParaRPr lang="en-US" sz="800" dirty="0"/>
          </a:p>
        </p:txBody>
      </p:sp>
      <p:sp>
        <p:nvSpPr>
          <p:cNvPr id="138" name="Shape 135"/>
          <p:cNvSpPr/>
          <p:nvPr/>
        </p:nvSpPr>
        <p:spPr>
          <a:xfrm>
            <a:off x="9765792" y="6441948"/>
            <a:ext cx="1243584" cy="182880"/>
          </a:xfrm>
          <a:prstGeom prst="roundRect">
            <a:avLst>
              <a:gd name="adj" fmla="val 20000"/>
            </a:avLst>
          </a:prstGeom>
          <a:solidFill>
            <a:srgbClr val="060E1A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39" name="Text 136"/>
          <p:cNvSpPr/>
          <p:nvPr/>
        </p:nvSpPr>
        <p:spPr>
          <a:xfrm>
            <a:off x="9765792" y="6441948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1216152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91440"/>
            <a:ext cx="457200" cy="45720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459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8096" y="64008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ROADMAP &amp; CONCLUSION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68096" y="393192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5-Pillar Action Framework · Implementation Timeline · Project Summary · Learnings · Acknowledgements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11338560" y="128016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F59E0B">
              <a:alpha val="20000"/>
            </a:srgbClr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338560" y="12801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164592" y="768096"/>
            <a:ext cx="2231136" cy="3328416"/>
          </a:xfrm>
          <a:prstGeom prst="roundRect">
            <a:avLst>
              <a:gd name="adj" fmla="val 4918"/>
            </a:avLst>
          </a:prstGeom>
          <a:solidFill>
            <a:srgbClr val="111827"/>
          </a:solidFill>
          <a:ln w="9525">
            <a:solidFill>
              <a:srgbClr val="F43F5E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32688" y="859536"/>
            <a:ext cx="694944" cy="694944"/>
          </a:xfrm>
          <a:prstGeom prst="ellipse">
            <a:avLst/>
          </a:prstGeom>
          <a:solidFill>
            <a:srgbClr val="060E1A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32688" y="85953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1664208"/>
            <a:ext cx="493776" cy="49377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56032" y="2249424"/>
            <a:ext cx="20482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Roles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12064" y="2779776"/>
            <a:ext cx="1554480" cy="0"/>
          </a:xfrm>
          <a:prstGeom prst="line">
            <a:avLst/>
          </a:prstGeom>
          <a:noFill/>
          <a:ln w="6350">
            <a:solidFill>
              <a:srgbClr val="F43F5E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74320" y="2852928"/>
            <a:ext cx="20116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Finance, Govt &amp; Tech sectors (&gt;50% risk). Identify displacement timelines. Run role-level risk scores across all departments now.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2532888" y="768096"/>
            <a:ext cx="2231136" cy="3328416"/>
          </a:xfrm>
          <a:prstGeom prst="roundRect">
            <a:avLst>
              <a:gd name="adj" fmla="val 4918"/>
            </a:avLst>
          </a:prstGeom>
          <a:solidFill>
            <a:srgbClr val="111827"/>
          </a:solidFill>
          <a:ln w="9525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300984" y="859536"/>
            <a:ext cx="694944" cy="694944"/>
          </a:xfrm>
          <a:prstGeom prst="ellipse">
            <a:avLst/>
          </a:prstGeom>
          <a:solidFill>
            <a:srgbClr val="060E1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300984" y="85953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568" y="1664208"/>
            <a:ext cx="493776" cy="49377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624328" y="2249424"/>
            <a:ext cx="20482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Reskilling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2880360" y="2779776"/>
            <a:ext cx="1554480" cy="0"/>
          </a:xfrm>
          <a:prstGeom prst="line">
            <a:avLst/>
          </a:prstGeom>
          <a:noFill/>
          <a:ln w="6350">
            <a:solidFill>
              <a:srgbClr val="F59E0B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2642616" y="2852928"/>
            <a:ext cx="20116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49.6% need upskilling. Build AI literacy, data interpretation, and human-AI collaboration curricula. Start with highest-risk sectors first.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4901184" y="768096"/>
            <a:ext cx="2231136" cy="3328416"/>
          </a:xfrm>
          <a:prstGeom prst="roundRect">
            <a:avLst>
              <a:gd name="adj" fmla="val 4918"/>
            </a:avLst>
          </a:prstGeom>
          <a:solidFill>
            <a:srgbClr val="111827"/>
          </a:solidFill>
          <a:ln w="9525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5669280" y="859536"/>
            <a:ext cx="694944" cy="694944"/>
          </a:xfrm>
          <a:prstGeom prst="ellipse">
            <a:avLst/>
          </a:prstGeom>
          <a:solidFill>
            <a:srgbClr val="060E1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5669280" y="85953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9864" y="1664208"/>
            <a:ext cx="493776" cy="49377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4992624" y="2249424"/>
            <a:ext cx="20482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Pipelines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5248656" y="2779776"/>
            <a:ext cx="1554480" cy="0"/>
          </a:xfrm>
          <a:prstGeom prst="line">
            <a:avLst/>
          </a:prstGeom>
          <a:noFill/>
          <a:ln w="6350">
            <a:solidFill>
              <a:srgbClr val="10B981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5010912" y="2852928"/>
            <a:ext cx="20116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Fast-track UX, Data Science, ML &amp; AI Engineering pipelines. These roles have &lt;47.6% risk with Critical/Very High demand through 2030.</a:t>
            </a:r>
            <a:endParaRPr lang="en-US" sz="850" dirty="0"/>
          </a:p>
        </p:txBody>
      </p:sp>
      <p:sp>
        <p:nvSpPr>
          <p:cNvPr id="31" name="Shape 25"/>
          <p:cNvSpPr/>
          <p:nvPr/>
        </p:nvSpPr>
        <p:spPr>
          <a:xfrm>
            <a:off x="7269480" y="768096"/>
            <a:ext cx="2231136" cy="3328416"/>
          </a:xfrm>
          <a:prstGeom prst="roundRect">
            <a:avLst>
              <a:gd name="adj" fmla="val 4918"/>
            </a:avLst>
          </a:prstGeom>
          <a:solidFill>
            <a:srgbClr val="111827"/>
          </a:solidFill>
          <a:ln w="9525">
            <a:solidFill>
              <a:srgbClr val="22D3EE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8037576" y="859536"/>
            <a:ext cx="694944" cy="694944"/>
          </a:xfrm>
          <a:prstGeom prst="ellipse">
            <a:avLst/>
          </a:prstGeom>
          <a:solidFill>
            <a:srgbClr val="060E1A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8037576" y="85953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1664208"/>
            <a:ext cx="493776" cy="493776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360920" y="2249424"/>
            <a:ext cx="20482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Strategically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7616952" y="2779776"/>
            <a:ext cx="1554480" cy="0"/>
          </a:xfrm>
          <a:prstGeom prst="line">
            <a:avLst/>
          </a:prstGeom>
          <a:noFill/>
          <a:ln w="6350">
            <a:solidFill>
              <a:srgbClr val="22D3EE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7379208" y="2852928"/>
            <a:ext cx="20116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AI adoption → satisfaction 4.02 vs 3.95. Roll out enterprise AI tools with ethical guardrails, training programs, and adoption KPIs.</a:t>
            </a:r>
            <a:endParaRPr lang="en-US" sz="850" dirty="0"/>
          </a:p>
        </p:txBody>
      </p:sp>
      <p:sp>
        <p:nvSpPr>
          <p:cNvPr id="38" name="Shape 31"/>
          <p:cNvSpPr/>
          <p:nvPr/>
        </p:nvSpPr>
        <p:spPr>
          <a:xfrm>
            <a:off x="9637776" y="768096"/>
            <a:ext cx="2231136" cy="3328416"/>
          </a:xfrm>
          <a:prstGeom prst="roundRect">
            <a:avLst>
              <a:gd name="adj" fmla="val 4918"/>
            </a:avLst>
          </a:prstGeom>
          <a:solidFill>
            <a:srgbClr val="111827"/>
          </a:solidFill>
          <a:ln w="9525">
            <a:solidFill>
              <a:srgbClr val="8B5CF6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10405872" y="859536"/>
            <a:ext cx="694944" cy="694944"/>
          </a:xfrm>
          <a:prstGeom prst="ellipse">
            <a:avLst/>
          </a:prstGeom>
          <a:solidFill>
            <a:srgbClr val="060E1A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10405872" y="85953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06456" y="1664208"/>
            <a:ext cx="493776" cy="493776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9729216" y="2249424"/>
            <a:ext cx="20482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Global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9985248" y="2779776"/>
            <a:ext cx="1554480" cy="0"/>
          </a:xfrm>
          <a:prstGeom prst="line">
            <a:avLst/>
          </a:prstGeom>
          <a:noFill/>
          <a:ln w="6350">
            <a:solidFill>
              <a:srgbClr val="8B5CF6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9747504" y="2852928"/>
            <a:ext cx="20116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($133K), Singapore ($131K) &amp; Australia ($129K) lead salaries. Finance &amp; Govt lead growth. Prioritize these as sourcing &amp; expansion targets.</a:t>
            </a:r>
            <a:endParaRPr lang="en-US" sz="850" dirty="0"/>
          </a:p>
        </p:txBody>
      </p:sp>
      <p:sp>
        <p:nvSpPr>
          <p:cNvPr id="45" name="Shape 37"/>
          <p:cNvSpPr/>
          <p:nvPr/>
        </p:nvSpPr>
        <p:spPr>
          <a:xfrm>
            <a:off x="164592" y="4224528"/>
            <a:ext cx="11832336" cy="9144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sp>
        <p:nvSpPr>
          <p:cNvPr id="46" name="Text 38"/>
          <p:cNvSpPr/>
          <p:nvPr/>
        </p:nvSpPr>
        <p:spPr>
          <a:xfrm>
            <a:off x="347472" y="42976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TIMELINE</a:t>
            </a:r>
            <a:endParaRPr lang="en-US" sz="850" dirty="0"/>
          </a:p>
        </p:txBody>
      </p:sp>
      <p:sp>
        <p:nvSpPr>
          <p:cNvPr id="47" name="Shape 39"/>
          <p:cNvSpPr/>
          <p:nvPr/>
        </p:nvSpPr>
        <p:spPr>
          <a:xfrm>
            <a:off x="256032" y="4553712"/>
            <a:ext cx="2816352" cy="512064"/>
          </a:xfrm>
          <a:prstGeom prst="roundRect">
            <a:avLst>
              <a:gd name="adj" fmla="val 12500"/>
            </a:avLst>
          </a:prstGeom>
          <a:solidFill>
            <a:srgbClr val="060E1A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8" name="Text 40"/>
          <p:cNvSpPr/>
          <p:nvPr/>
        </p:nvSpPr>
        <p:spPr>
          <a:xfrm>
            <a:off x="347472" y="4572000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Q3 2026</a:t>
            </a:r>
            <a:endParaRPr lang="en-US" sz="750" dirty="0"/>
          </a:p>
        </p:txBody>
      </p:sp>
      <p:sp>
        <p:nvSpPr>
          <p:cNvPr id="49" name="Text 41"/>
          <p:cNvSpPr/>
          <p:nvPr/>
        </p:nvSpPr>
        <p:spPr>
          <a:xfrm>
            <a:off x="347472" y="477316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Risk Audit + Role Identification</a:t>
            </a:r>
            <a:endParaRPr lang="en-US" sz="750" dirty="0"/>
          </a:p>
        </p:txBody>
      </p:sp>
      <p:sp>
        <p:nvSpPr>
          <p:cNvPr id="50" name="Shape 42"/>
          <p:cNvSpPr/>
          <p:nvPr/>
        </p:nvSpPr>
        <p:spPr>
          <a:xfrm>
            <a:off x="3200400" y="4553712"/>
            <a:ext cx="2816352" cy="512064"/>
          </a:xfrm>
          <a:prstGeom prst="roundRect">
            <a:avLst>
              <a:gd name="adj" fmla="val 12500"/>
            </a:avLst>
          </a:prstGeom>
          <a:solidFill>
            <a:srgbClr val="060E1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Text 43"/>
          <p:cNvSpPr/>
          <p:nvPr/>
        </p:nvSpPr>
        <p:spPr>
          <a:xfrm>
            <a:off x="3291840" y="4572000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Q4 2026</a:t>
            </a:r>
            <a:endParaRPr lang="en-US" sz="750" dirty="0"/>
          </a:p>
        </p:txBody>
      </p:sp>
      <p:sp>
        <p:nvSpPr>
          <p:cNvPr id="52" name="Text 44"/>
          <p:cNvSpPr/>
          <p:nvPr/>
        </p:nvSpPr>
        <p:spPr>
          <a:xfrm>
            <a:off x="3291840" y="477316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Reskilling Program Launch + AI Tool Deploy</a:t>
            </a:r>
            <a:endParaRPr lang="en-US" sz="750" dirty="0"/>
          </a:p>
        </p:txBody>
      </p:sp>
      <p:sp>
        <p:nvSpPr>
          <p:cNvPr id="53" name="Shape 45"/>
          <p:cNvSpPr/>
          <p:nvPr/>
        </p:nvSpPr>
        <p:spPr>
          <a:xfrm>
            <a:off x="6144768" y="4553712"/>
            <a:ext cx="2816352" cy="512064"/>
          </a:xfrm>
          <a:prstGeom prst="roundRect">
            <a:avLst>
              <a:gd name="adj" fmla="val 12500"/>
            </a:avLst>
          </a:prstGeom>
          <a:solidFill>
            <a:srgbClr val="060E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4" name="Text 46"/>
          <p:cNvSpPr/>
          <p:nvPr/>
        </p:nvSpPr>
        <p:spPr>
          <a:xfrm>
            <a:off x="6236208" y="4572000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Q1 2027</a:t>
            </a:r>
            <a:endParaRPr lang="en-US" sz="750" dirty="0"/>
          </a:p>
        </p:txBody>
      </p:sp>
      <p:sp>
        <p:nvSpPr>
          <p:cNvPr id="55" name="Text 47"/>
          <p:cNvSpPr/>
          <p:nvPr/>
        </p:nvSpPr>
        <p:spPr>
          <a:xfrm>
            <a:off x="6236208" y="477316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Safe-Role Pipeline + Talent Retention</a:t>
            </a:r>
            <a:endParaRPr lang="en-US" sz="750" dirty="0"/>
          </a:p>
        </p:txBody>
      </p:sp>
      <p:sp>
        <p:nvSpPr>
          <p:cNvPr id="56" name="Shape 48"/>
          <p:cNvSpPr/>
          <p:nvPr/>
        </p:nvSpPr>
        <p:spPr>
          <a:xfrm>
            <a:off x="9089136" y="4553712"/>
            <a:ext cx="2816352" cy="512064"/>
          </a:xfrm>
          <a:prstGeom prst="roundRect">
            <a:avLst>
              <a:gd name="adj" fmla="val 12500"/>
            </a:avLst>
          </a:prstGeom>
          <a:solidFill>
            <a:srgbClr val="060E1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7" name="Text 49"/>
          <p:cNvSpPr/>
          <p:nvPr/>
        </p:nvSpPr>
        <p:spPr>
          <a:xfrm>
            <a:off x="9180576" y="4572000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 2027–30</a:t>
            </a:r>
            <a:endParaRPr lang="en-US" sz="750" dirty="0"/>
          </a:p>
        </p:txBody>
      </p:sp>
      <p:sp>
        <p:nvSpPr>
          <p:cNvPr id="58" name="Text 50"/>
          <p:cNvSpPr/>
          <p:nvPr/>
        </p:nvSpPr>
        <p:spPr>
          <a:xfrm>
            <a:off x="9180576" y="477316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AI-Augmented Workforce Globally</a:t>
            </a:r>
            <a:endParaRPr lang="en-US" sz="750" dirty="0"/>
          </a:p>
        </p:txBody>
      </p:sp>
      <p:sp>
        <p:nvSpPr>
          <p:cNvPr id="59" name="Shape 51"/>
          <p:cNvSpPr/>
          <p:nvPr/>
        </p:nvSpPr>
        <p:spPr>
          <a:xfrm>
            <a:off x="164592" y="5285232"/>
            <a:ext cx="7589520" cy="1444752"/>
          </a:xfrm>
          <a:prstGeom prst="roundRect">
            <a:avLst>
              <a:gd name="adj" fmla="val 7595"/>
            </a:avLst>
          </a:prstGeom>
          <a:solidFill>
            <a:srgbClr val="111827"/>
          </a:solidFill>
          <a:ln w="9525">
            <a:solidFill>
              <a:srgbClr val="22D3EE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sp>
        <p:nvSpPr>
          <p:cNvPr id="60" name="Text 52"/>
          <p:cNvSpPr/>
          <p:nvPr/>
        </p:nvSpPr>
        <p:spPr>
          <a:xfrm>
            <a:off x="347472" y="535838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900" dirty="0"/>
          </a:p>
        </p:txBody>
      </p:sp>
      <p:sp>
        <p:nvSpPr>
          <p:cNvPr id="61" name="Text 53"/>
          <p:cNvSpPr/>
          <p:nvPr/>
        </p:nvSpPr>
        <p:spPr>
          <a:xfrm>
            <a:off x="347472" y="5614416"/>
            <a:ext cx="73152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Analysed 3,000 employee records across 10 industries &amp; 10 countries using Python, Power BI and statistical methods. Identified critical AI displacement risks, salary dynamics, and delivered actionable reskilling recommendations. Built 2 interactive dashboards with 20+ visual charts for executive decision-making.</a:t>
            </a:r>
            <a:endParaRPr lang="en-US" sz="900" dirty="0"/>
          </a:p>
        </p:txBody>
      </p:sp>
      <p:sp>
        <p:nvSpPr>
          <p:cNvPr id="62" name="Shape 54"/>
          <p:cNvSpPr/>
          <p:nvPr/>
        </p:nvSpPr>
        <p:spPr>
          <a:xfrm>
            <a:off x="7936992" y="5285232"/>
            <a:ext cx="4059936" cy="1444752"/>
          </a:xfrm>
          <a:prstGeom prst="roundRect">
            <a:avLst>
              <a:gd name="adj" fmla="val 7595"/>
            </a:avLst>
          </a:prstGeom>
          <a:solidFill>
            <a:srgbClr val="0F172A"/>
          </a:solidFill>
          <a:ln w="9525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16000"/>
              </a:srgbClr>
            </a:outerShdw>
          </a:effectLst>
        </p:spPr>
      </p:sp>
      <p:sp>
        <p:nvSpPr>
          <p:cNvPr id="63" name="Text 55"/>
          <p:cNvSpPr/>
          <p:nvPr/>
        </p:nvSpPr>
        <p:spPr>
          <a:xfrm>
            <a:off x="8119872" y="5358384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AT A GLANCE</a:t>
            </a:r>
            <a:endParaRPr lang="en-US" sz="850" dirty="0"/>
          </a:p>
        </p:txBody>
      </p:sp>
      <p:sp>
        <p:nvSpPr>
          <p:cNvPr id="64" name="Text 56"/>
          <p:cNvSpPr/>
          <p:nvPr/>
        </p:nvSpPr>
        <p:spPr>
          <a:xfrm>
            <a:off x="8028432" y="561441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</a:t>
            </a:r>
            <a:endParaRPr lang="en-US" sz="1800" dirty="0"/>
          </a:p>
        </p:txBody>
      </p:sp>
      <p:sp>
        <p:nvSpPr>
          <p:cNvPr id="65" name="Text 57"/>
          <p:cNvSpPr/>
          <p:nvPr/>
        </p:nvSpPr>
        <p:spPr>
          <a:xfrm>
            <a:off x="8028432" y="599846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700" dirty="0"/>
          </a:p>
        </p:txBody>
      </p:sp>
      <p:sp>
        <p:nvSpPr>
          <p:cNvPr id="66" name="Text 58"/>
          <p:cNvSpPr/>
          <p:nvPr/>
        </p:nvSpPr>
        <p:spPr>
          <a:xfrm>
            <a:off x="8705088" y="561441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800" dirty="0"/>
          </a:p>
        </p:txBody>
      </p:sp>
      <p:sp>
        <p:nvSpPr>
          <p:cNvPr id="67" name="Text 59"/>
          <p:cNvSpPr/>
          <p:nvPr/>
        </p:nvSpPr>
        <p:spPr>
          <a:xfrm>
            <a:off x="8705088" y="599846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700" dirty="0"/>
          </a:p>
        </p:txBody>
      </p:sp>
      <p:sp>
        <p:nvSpPr>
          <p:cNvPr id="68" name="Text 60"/>
          <p:cNvSpPr/>
          <p:nvPr/>
        </p:nvSpPr>
        <p:spPr>
          <a:xfrm>
            <a:off x="9381744" y="561441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69" name="Text 61"/>
          <p:cNvSpPr/>
          <p:nvPr/>
        </p:nvSpPr>
        <p:spPr>
          <a:xfrm>
            <a:off x="9381744" y="599846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Industries</a:t>
            </a:r>
            <a:endParaRPr lang="en-US" sz="700" dirty="0"/>
          </a:p>
        </p:txBody>
      </p:sp>
      <p:sp>
        <p:nvSpPr>
          <p:cNvPr id="70" name="Text 62"/>
          <p:cNvSpPr/>
          <p:nvPr/>
        </p:nvSpPr>
        <p:spPr>
          <a:xfrm>
            <a:off x="10058400" y="561441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71" name="Text 63"/>
          <p:cNvSpPr/>
          <p:nvPr/>
        </p:nvSpPr>
        <p:spPr>
          <a:xfrm>
            <a:off x="10058400" y="599846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700" dirty="0"/>
          </a:p>
        </p:txBody>
      </p:sp>
      <p:sp>
        <p:nvSpPr>
          <p:cNvPr id="72" name="Text 64"/>
          <p:cNvSpPr/>
          <p:nvPr/>
        </p:nvSpPr>
        <p:spPr>
          <a:xfrm>
            <a:off x="10735056" y="561441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800" dirty="0"/>
          </a:p>
        </p:txBody>
      </p:sp>
      <p:sp>
        <p:nvSpPr>
          <p:cNvPr id="73" name="Text 65"/>
          <p:cNvSpPr/>
          <p:nvPr/>
        </p:nvSpPr>
        <p:spPr>
          <a:xfrm>
            <a:off x="10735056" y="599846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</a:t>
            </a:r>
            <a:endParaRPr lang="en-US" sz="700" dirty="0"/>
          </a:p>
        </p:txBody>
      </p:sp>
      <p:sp>
        <p:nvSpPr>
          <p:cNvPr id="74" name="Text 66"/>
          <p:cNvSpPr/>
          <p:nvPr/>
        </p:nvSpPr>
        <p:spPr>
          <a:xfrm>
            <a:off x="11411712" y="561441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75" name="Text 67"/>
          <p:cNvSpPr/>
          <p:nvPr/>
        </p:nvSpPr>
        <p:spPr>
          <a:xfrm>
            <a:off x="11411712" y="599846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Impact on Jobs 2030 — Internship Final Report</dc:title>
  <dc:subject>PptxGenJS Presentation</dc:subject>
  <dc:creator>PptxGenJS</dc:creator>
  <cp:lastModifiedBy>PptxGenJS</cp:lastModifiedBy>
  <cp:revision>1</cp:revision>
  <dcterms:created xsi:type="dcterms:W3CDTF">2026-06-12T02:24:04Z</dcterms:created>
  <dcterms:modified xsi:type="dcterms:W3CDTF">2026-06-12T02:24:04Z</dcterms:modified>
</cp:coreProperties>
</file>